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23D6F"/>
    <a:srgbClr val="22D3EE"/>
    <a:srgbClr val="23D8F3"/>
    <a:srgbClr val="187A90"/>
    <a:srgbClr val="2DD4BF"/>
    <a:srgbClr val="3B82F6"/>
    <a:srgbClr val="3B83F8"/>
    <a:srgbClr val="346DC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4" d="100"/>
          <a:sy n="74" d="100"/>
        </p:scale>
        <p:origin x="352"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17520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C1D840-9471-8DDB-0296-B6912F2BC1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BD667D-1D8E-9CA5-B798-C355D77D4F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28FC93-FAEC-43F7-3B6D-00074C3CF50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5BD7198-799A-CA9E-1F7E-AD9D6F9B12D7}"/>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533899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8" Type="http://schemas.microsoft.com/office/2007/relationships/hdphoto" Target="../media/hdphoto3.wdp"/><Relationship Id="rId3" Type="http://schemas.openxmlformats.org/officeDocument/2006/relationships/image" Target="../media/image11.png"/><Relationship Id="rId7"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microsoft.com/office/2007/relationships/hdphoto" Target="../media/hdphoto2.wdp"/><Relationship Id="rId11" Type="http://schemas.openxmlformats.org/officeDocument/2006/relationships/image" Target="../media/image1.png"/><Relationship Id="rId5" Type="http://schemas.openxmlformats.org/officeDocument/2006/relationships/image" Target="../media/image12.png"/><Relationship Id="rId10" Type="http://schemas.microsoft.com/office/2007/relationships/hdphoto" Target="../media/hdphoto4.wdp"/><Relationship Id="rId4" Type="http://schemas.microsoft.com/office/2007/relationships/hdphoto" Target="../media/hdphoto1.wdp"/><Relationship Id="rId9" Type="http://schemas.openxmlformats.org/officeDocument/2006/relationships/image" Target="../media/image14.png"/></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6.png"/><Relationship Id="rId7"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6.png"/><Relationship Id="rId9"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9.png"/><Relationship Id="rId4" Type="http://schemas.openxmlformats.org/officeDocument/2006/relationships/image" Target="../media/image21.png"/></Relationships>
</file>

<file path=ppt/slides/_rels/slide8.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3" Type="http://schemas.openxmlformats.org/officeDocument/2006/relationships/image" Target="../media/image31.png"/><Relationship Id="rId18" Type="http://schemas.microsoft.com/office/2007/relationships/hdphoto" Target="../media/hdphoto10.wdp"/><Relationship Id="rId26" Type="http://schemas.microsoft.com/office/2007/relationships/hdphoto" Target="../media/hdphoto14.wdp"/><Relationship Id="rId3" Type="http://schemas.openxmlformats.org/officeDocument/2006/relationships/image" Target="../media/image24.png"/><Relationship Id="rId21" Type="http://schemas.openxmlformats.org/officeDocument/2006/relationships/image" Target="../media/image35.png"/><Relationship Id="rId34" Type="http://schemas.openxmlformats.org/officeDocument/2006/relationships/image" Target="../media/image1.png"/><Relationship Id="rId7" Type="http://schemas.openxmlformats.org/officeDocument/2006/relationships/image" Target="../media/image28.png"/><Relationship Id="rId12" Type="http://schemas.microsoft.com/office/2007/relationships/hdphoto" Target="../media/hdphoto7.wdp"/><Relationship Id="rId17" Type="http://schemas.openxmlformats.org/officeDocument/2006/relationships/image" Target="../media/image33.png"/><Relationship Id="rId25" Type="http://schemas.openxmlformats.org/officeDocument/2006/relationships/image" Target="../media/image37.png"/><Relationship Id="rId33" Type="http://schemas.openxmlformats.org/officeDocument/2006/relationships/image" Target="../media/image41.svg"/><Relationship Id="rId2" Type="http://schemas.openxmlformats.org/officeDocument/2006/relationships/notesSlide" Target="../notesSlides/notesSlide10.xml"/><Relationship Id="rId16" Type="http://schemas.microsoft.com/office/2007/relationships/hdphoto" Target="../media/hdphoto9.wdp"/><Relationship Id="rId20" Type="http://schemas.microsoft.com/office/2007/relationships/hdphoto" Target="../media/hdphoto11.wdp"/><Relationship Id="rId29" Type="http://schemas.openxmlformats.org/officeDocument/2006/relationships/image" Target="../media/image39.png"/><Relationship Id="rId1" Type="http://schemas.openxmlformats.org/officeDocument/2006/relationships/slideLayout" Target="../slideLayouts/slideLayout1.xml"/><Relationship Id="rId6" Type="http://schemas.openxmlformats.org/officeDocument/2006/relationships/image" Target="../media/image27.png"/><Relationship Id="rId11" Type="http://schemas.openxmlformats.org/officeDocument/2006/relationships/image" Target="../media/image30.png"/><Relationship Id="rId24" Type="http://schemas.microsoft.com/office/2007/relationships/hdphoto" Target="../media/hdphoto13.wdp"/><Relationship Id="rId32" Type="http://schemas.microsoft.com/office/2007/relationships/hdphoto" Target="../media/hdphoto17.wdp"/><Relationship Id="rId5" Type="http://schemas.openxmlformats.org/officeDocument/2006/relationships/image" Target="../media/image18.png"/><Relationship Id="rId15" Type="http://schemas.openxmlformats.org/officeDocument/2006/relationships/image" Target="../media/image32.png"/><Relationship Id="rId23" Type="http://schemas.openxmlformats.org/officeDocument/2006/relationships/image" Target="../media/image36.png"/><Relationship Id="rId28" Type="http://schemas.microsoft.com/office/2007/relationships/hdphoto" Target="../media/hdphoto15.wdp"/><Relationship Id="rId10" Type="http://schemas.microsoft.com/office/2007/relationships/hdphoto" Target="../media/hdphoto6.wdp"/><Relationship Id="rId19" Type="http://schemas.openxmlformats.org/officeDocument/2006/relationships/image" Target="../media/image34.png"/><Relationship Id="rId31" Type="http://schemas.openxmlformats.org/officeDocument/2006/relationships/image" Target="../media/image40.png"/><Relationship Id="rId4" Type="http://schemas.openxmlformats.org/officeDocument/2006/relationships/image" Target="../media/image25.png"/><Relationship Id="rId9" Type="http://schemas.openxmlformats.org/officeDocument/2006/relationships/image" Target="../media/image29.png"/><Relationship Id="rId14" Type="http://schemas.microsoft.com/office/2007/relationships/hdphoto" Target="../media/hdphoto8.wdp"/><Relationship Id="rId22" Type="http://schemas.microsoft.com/office/2007/relationships/hdphoto" Target="../media/hdphoto12.wdp"/><Relationship Id="rId27" Type="http://schemas.openxmlformats.org/officeDocument/2006/relationships/image" Target="../media/image38.png"/><Relationship Id="rId30" Type="http://schemas.microsoft.com/office/2007/relationships/hdphoto" Target="../media/hdphoto16.wdp"/><Relationship Id="rId8" Type="http://schemas.microsoft.com/office/2007/relationships/hdphoto" Target="../media/hdphoto5.wdp"/></Relationships>
</file>

<file path=ppt/slides/_rels/slide11.xml.rels><?xml version="1.0" encoding="UTF-8" standalone="yes"?>
<Relationships xmlns="http://schemas.openxmlformats.org/package/2006/relationships"><Relationship Id="rId3" Type="http://schemas.openxmlformats.org/officeDocument/2006/relationships/image" Target="../media/image42.png"/><Relationship Id="rId7"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43.png"/><Relationship Id="rId5" Type="http://schemas.openxmlformats.org/officeDocument/2006/relationships/image" Target="../media/image9.png"/><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image" Target="../media/image44.png"/><Relationship Id="rId7"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46.png"/><Relationship Id="rId5" Type="http://schemas.openxmlformats.org/officeDocument/2006/relationships/image" Target="../media/image10.png"/><Relationship Id="rId4" Type="http://schemas.openxmlformats.org/officeDocument/2006/relationships/image" Target="../media/image45.png"/></Relationships>
</file>

<file path=ppt/slides/_rels/slide13.xml.rels><?xml version="1.0" encoding="UTF-8" standalone="yes"?>
<Relationships xmlns="http://schemas.openxmlformats.org/package/2006/relationships"><Relationship Id="rId8" Type="http://schemas.openxmlformats.org/officeDocument/2006/relationships/hyperlink" Target="ai.google.dev" TargetMode="External"/><Relationship Id="rId13" Type="http://schemas.openxmlformats.org/officeDocument/2006/relationships/hyperlink" Target="https://ai.google.dev/gemini-api/docs" TargetMode="External"/><Relationship Id="rId3" Type="http://schemas.openxmlformats.org/officeDocument/2006/relationships/image" Target="../media/image47.png"/><Relationship Id="rId7" Type="http://schemas.openxmlformats.org/officeDocument/2006/relationships/hyperlink" Target="react.dev" TargetMode="External"/><Relationship Id="rId12" Type="http://schemas.openxmlformats.org/officeDocument/2006/relationships/hyperlink" Target="https://react.dev/reference/react" TargetMode="External"/><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hyperlink" Target="docs.spring.io" TargetMode="External"/><Relationship Id="rId11" Type="http://schemas.openxmlformats.org/officeDocument/2006/relationships/hyperlink" Target="https://docs.spring.io/spring-boot/" TargetMode="External"/><Relationship Id="rId5" Type="http://schemas.openxmlformats.org/officeDocument/2006/relationships/hyperlink" Target="https://ijsred.com/volume8/issue2/IJSRED-V8I2P397.pdf" TargetMode="External"/><Relationship Id="rId10" Type="http://schemas.openxmlformats.org/officeDocument/2006/relationships/hyperlink" Target="https://www.ijraset.com/best-journal/ai-expense-tracker" TargetMode="External"/><Relationship Id="rId4" Type="http://schemas.openxmlformats.org/officeDocument/2006/relationships/hyperlink" Target="https://www.ijraset.com/research-paper/ai-expense-tracker-and-predictor" TargetMode="External"/><Relationship Id="rId9" Type="http://schemas.openxmlformats.org/officeDocument/2006/relationships/image" Target="../media/image1.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F1F"/>
        </a:solidFill>
        <a:effectLst/>
      </p:bgPr>
    </p:bg>
    <p:spTree>
      <p:nvGrpSpPr>
        <p:cNvPr id="1" name=""/>
        <p:cNvGrpSpPr/>
        <p:nvPr/>
      </p:nvGrpSpPr>
      <p:grpSpPr>
        <a:xfrm>
          <a:off x="0" y="0"/>
          <a:ext cx="0" cy="0"/>
          <a:chOff x="0" y="0"/>
          <a:chExt cx="0" cy="0"/>
        </a:xfrm>
      </p:grpSpPr>
      <p:sp>
        <p:nvSpPr>
          <p:cNvPr id="2" name="Shape 0"/>
          <p:cNvSpPr/>
          <p:nvPr/>
        </p:nvSpPr>
        <p:spPr>
          <a:xfrm>
            <a:off x="10637215" y="320040"/>
            <a:ext cx="1051560" cy="384048"/>
          </a:xfrm>
          <a:prstGeom prst="roundRect">
            <a:avLst>
              <a:gd name="adj" fmla="val 14286"/>
            </a:avLst>
          </a:prstGeom>
          <a:solidFill>
            <a:srgbClr val="18233C"/>
          </a:solidFill>
          <a:ln w="9525">
            <a:solidFill>
              <a:srgbClr val="24314F"/>
            </a:solidFill>
            <a:prstDash val="dash"/>
          </a:ln>
        </p:spPr>
      </p:sp>
      <p:sp>
        <p:nvSpPr>
          <p:cNvPr id="3" name="Text 1"/>
          <p:cNvSpPr txBox="1"/>
          <p:nvPr/>
        </p:nvSpPr>
        <p:spPr>
          <a:xfrm>
            <a:off x="10637215" y="320040"/>
            <a:ext cx="1051560" cy="384048"/>
          </a:xfrm>
          <a:prstGeom prst="rect">
            <a:avLst/>
          </a:prstGeom>
          <a:noFill/>
          <a:ln/>
        </p:spPr>
        <p:txBody>
          <a:bodyPr wrap="square" lIns="0" tIns="0" rIns="0" bIns="0" rtlCol="0" anchor="ctr"/>
          <a:lstStyle/>
          <a:p>
            <a:pPr marL="0" indent="0" algn="ctr">
              <a:buNone/>
            </a:pPr>
            <a:r>
              <a:rPr lang="en-US" sz="900" b="1" dirty="0">
                <a:solidFill>
                  <a:srgbClr val="94A3B8"/>
                </a:solidFill>
                <a:latin typeface="Tahoma" panose="020B0604030504040204" pitchFamily="34" charset="0"/>
                <a:ea typeface="Tahoma" panose="020B0604030504040204" pitchFamily="34" charset="0"/>
                <a:cs typeface="Tahoma" panose="020B0604030504040204" pitchFamily="34" charset="0"/>
              </a:rPr>
              <a:t>CVV LOGO</a:t>
            </a:r>
            <a:endParaRPr lang="en-US" sz="900" dirty="0">
              <a:latin typeface="Tahoma" panose="020B0604030504040204" pitchFamily="34" charset="0"/>
            </a:endParaRPr>
          </a:p>
        </p:txBody>
      </p:sp>
      <p:sp>
        <p:nvSpPr>
          <p:cNvPr id="23" name="Text 21"/>
          <p:cNvSpPr txBox="1"/>
          <p:nvPr/>
        </p:nvSpPr>
        <p:spPr>
          <a:xfrm>
            <a:off x="502920" y="1417320"/>
            <a:ext cx="7772400" cy="320040"/>
          </a:xfrm>
          <a:prstGeom prst="rect">
            <a:avLst/>
          </a:prstGeom>
          <a:noFill/>
          <a:ln/>
        </p:spPr>
        <p:txBody>
          <a:bodyPr wrap="square" lIns="0" tIns="0" rIns="0" bIns="0" rtlCol="0" anchor="ctr"/>
          <a:lstStyle/>
          <a:p>
            <a:r>
              <a:rPr lang="en-US" sz="1300" b="1" kern="0" spc="160" dirty="0">
                <a:solidFill>
                  <a:srgbClr val="22D3EE"/>
                </a:solidFill>
                <a:latin typeface="Tahoma" panose="020B0604030504040204" pitchFamily="34" charset="0"/>
                <a:ea typeface="Tahoma" panose="020B0604030504040204" pitchFamily="34" charset="0"/>
                <a:cs typeface="Tahoma" panose="020B0604030504040204" pitchFamily="34" charset="0"/>
              </a:rPr>
              <a:t>CSE 2  •  S5 MINOR PROJECT  •  0TH REVIEW</a:t>
            </a:r>
            <a:endParaRPr lang="en-US" sz="1300" dirty="0">
              <a:latin typeface="Tahoma" panose="020B0604030504040204" pitchFamily="34" charset="0"/>
            </a:endParaRPr>
          </a:p>
        </p:txBody>
      </p:sp>
      <p:sp>
        <p:nvSpPr>
          <p:cNvPr id="24" name="Text 22"/>
          <p:cNvSpPr txBox="1"/>
          <p:nvPr/>
        </p:nvSpPr>
        <p:spPr>
          <a:xfrm>
            <a:off x="502920" y="1783080"/>
            <a:ext cx="7863840" cy="1737360"/>
          </a:xfrm>
          <a:prstGeom prst="rect">
            <a:avLst/>
          </a:prstGeom>
          <a:noFill/>
          <a:ln/>
        </p:spPr>
        <p:txBody>
          <a:bodyPr wrap="square" lIns="0" tIns="0" rIns="0" bIns="0" rtlCol="0" anchor="ctr"/>
          <a:lstStyle/>
          <a:p>
            <a:pPr marL="0" indent="0">
              <a:lnSpc>
                <a:spcPct val="105000"/>
              </a:lnSpc>
              <a:buNone/>
            </a:pPr>
            <a:r>
              <a:rPr lang="en-US" sz="4600" b="1" dirty="0">
                <a:solidFill>
                  <a:srgbClr val="EAF0FA"/>
                </a:solidFill>
                <a:latin typeface="Tahoma" panose="020B0604030504040204" pitchFamily="34" charset="0"/>
                <a:ea typeface="Tahoma" panose="020B0604030504040204" pitchFamily="34" charset="0"/>
                <a:cs typeface="Tahoma" panose="020B0604030504040204" pitchFamily="34" charset="0"/>
              </a:rPr>
              <a:t>AI-Powered Smart</a:t>
            </a:r>
            <a:endParaRPr lang="en-US" sz="4600" dirty="0">
              <a:latin typeface="Tahoma" panose="020B0604030504040204" pitchFamily="34" charset="0"/>
            </a:endParaRPr>
          </a:p>
          <a:p>
            <a:pPr marL="0" indent="0">
              <a:lnSpc>
                <a:spcPct val="105000"/>
              </a:lnSpc>
              <a:buNone/>
            </a:pPr>
            <a:r>
              <a:rPr lang="en-US" sz="4600" b="1" dirty="0">
                <a:solidFill>
                  <a:srgbClr val="EAF0FA"/>
                </a:solidFill>
                <a:latin typeface="Tahoma" panose="020B0604030504040204" pitchFamily="34" charset="0"/>
                <a:ea typeface="Tahoma" panose="020B0604030504040204" pitchFamily="34" charset="0"/>
                <a:cs typeface="Tahoma" panose="020B0604030504040204" pitchFamily="34" charset="0"/>
              </a:rPr>
              <a:t>Expense Tracker</a:t>
            </a:r>
            <a:endParaRPr lang="en-US" sz="4600" dirty="0">
              <a:latin typeface="Tahoma" panose="020B0604030504040204" pitchFamily="34" charset="0"/>
            </a:endParaRPr>
          </a:p>
        </p:txBody>
      </p:sp>
      <p:sp>
        <p:nvSpPr>
          <p:cNvPr id="25" name="Text 23"/>
          <p:cNvSpPr txBox="1"/>
          <p:nvPr/>
        </p:nvSpPr>
        <p:spPr>
          <a:xfrm>
            <a:off x="502920" y="3520440"/>
            <a:ext cx="6949440" cy="457200"/>
          </a:xfrm>
          <a:prstGeom prst="rect">
            <a:avLst/>
          </a:prstGeom>
          <a:noFill/>
          <a:ln/>
        </p:spPr>
        <p:txBody>
          <a:bodyPr wrap="square" lIns="0" tIns="0" rIns="0" bIns="0" rtlCol="0" anchor="ctr"/>
          <a:lstStyle/>
          <a:p>
            <a:pPr marL="0" indent="0">
              <a:buNone/>
            </a:pPr>
            <a:r>
              <a:rPr lang="en-US" sz="1400" i="1" dirty="0">
                <a:solidFill>
                  <a:srgbClr val="94A3B8"/>
                </a:solidFill>
                <a:latin typeface="Tahoma" panose="020B0604030504040204" pitchFamily="34" charset="0"/>
                <a:ea typeface="Tahoma" panose="020B0604030504040204" pitchFamily="34" charset="0"/>
                <a:cs typeface="Tahoma" panose="020B0604030504040204" pitchFamily="34" charset="0"/>
              </a:rPr>
              <a:t>Automated parsing, AI categorization, and intelligent budgeting for personal finance.</a:t>
            </a:r>
            <a:endParaRPr lang="en-US" sz="1400" dirty="0">
              <a:latin typeface="Tahoma" panose="020B0604030504040204" pitchFamily="34" charset="0"/>
            </a:endParaRPr>
          </a:p>
        </p:txBody>
      </p:sp>
      <p:sp>
        <p:nvSpPr>
          <p:cNvPr id="26" name="Shape 24"/>
          <p:cNvSpPr/>
          <p:nvPr/>
        </p:nvSpPr>
        <p:spPr>
          <a:xfrm>
            <a:off x="502920" y="4251960"/>
            <a:ext cx="5120640" cy="0"/>
          </a:xfrm>
          <a:prstGeom prst="line">
            <a:avLst/>
          </a:prstGeom>
          <a:noFill/>
          <a:ln w="12700">
            <a:solidFill>
              <a:srgbClr val="24314F"/>
            </a:solidFill>
            <a:prstDash val="solid"/>
          </a:ln>
        </p:spPr>
      </p:sp>
      <p:sp>
        <p:nvSpPr>
          <p:cNvPr id="27" name="Text 25"/>
          <p:cNvSpPr txBox="1"/>
          <p:nvPr/>
        </p:nvSpPr>
        <p:spPr>
          <a:xfrm>
            <a:off x="502920" y="4434840"/>
            <a:ext cx="2743200" cy="274320"/>
          </a:xfrm>
          <a:prstGeom prst="rect">
            <a:avLst/>
          </a:prstGeom>
          <a:noFill/>
          <a:ln/>
        </p:spPr>
        <p:txBody>
          <a:bodyPr wrap="square" lIns="0" tIns="0" rIns="0" bIns="0" rtlCol="0" anchor="ctr"/>
          <a:lstStyle/>
          <a:p>
            <a:pPr marL="0" indent="0">
              <a:buNone/>
            </a:pPr>
            <a:r>
              <a:rPr lang="en-US" sz="1100" b="1" kern="0" spc="120" dirty="0">
                <a:solidFill>
                  <a:srgbClr val="22D3EE"/>
                </a:solidFill>
                <a:latin typeface="Tahoma" panose="020B0604030504040204" pitchFamily="34" charset="0"/>
                <a:ea typeface="Tahoma" panose="020B0604030504040204" pitchFamily="34" charset="0"/>
                <a:cs typeface="Tahoma" panose="020B0604030504040204" pitchFamily="34" charset="0"/>
              </a:rPr>
              <a:t>TEAM</a:t>
            </a:r>
            <a:endParaRPr lang="en-US" sz="1100" dirty="0">
              <a:latin typeface="Tahoma" panose="020B0604030504040204" pitchFamily="34" charset="0"/>
            </a:endParaRPr>
          </a:p>
        </p:txBody>
      </p:sp>
      <p:sp>
        <p:nvSpPr>
          <p:cNvPr id="28" name="Text 26"/>
          <p:cNvSpPr txBox="1"/>
          <p:nvPr/>
        </p:nvSpPr>
        <p:spPr>
          <a:xfrm>
            <a:off x="502920" y="4736592"/>
            <a:ext cx="5029200" cy="310896"/>
          </a:xfrm>
          <a:prstGeom prst="rect">
            <a:avLst/>
          </a:prstGeom>
          <a:noFill/>
          <a:ln/>
        </p:spPr>
        <p:txBody>
          <a:bodyPr wrap="square" lIns="0" tIns="0" rIns="0" bIns="0" rtlCol="0" anchor="ctr"/>
          <a:lstStyle/>
          <a:p>
            <a:pPr marL="0" indent="0">
              <a:buNone/>
            </a:pPr>
            <a:r>
              <a:rPr lang="en-US" sz="1400" b="1" dirty="0">
                <a:solidFill>
                  <a:srgbClr val="EAF0FA"/>
                </a:solidFill>
                <a:latin typeface="Tahoma" panose="020B0604030504040204" pitchFamily="34" charset="0"/>
                <a:ea typeface="Tahoma" panose="020B0604030504040204" pitchFamily="34" charset="0"/>
                <a:cs typeface="Tahoma" panose="020B0604030504040204" pitchFamily="34" charset="0"/>
              </a:rPr>
              <a:t>Akhilesh A   </a:t>
            </a:r>
            <a:r>
              <a:rPr lang="en-US" sz="1200" dirty="0">
                <a:solidFill>
                  <a:srgbClr val="94A3B8"/>
                </a:solidFill>
                <a:latin typeface="Tahoma" panose="020B0604030504040204" pitchFamily="34" charset="0"/>
                <a:ea typeface="Tahoma" panose="020B0604030504040204" pitchFamily="34" charset="0"/>
                <a:cs typeface="Tahoma" panose="020B0604030504040204" pitchFamily="34" charset="0"/>
              </a:rPr>
              <a:t>(241140110)</a:t>
            </a:r>
            <a:endParaRPr lang="en-US" sz="1400" dirty="0">
              <a:latin typeface="Tahoma" panose="020B0604030504040204" pitchFamily="34" charset="0"/>
            </a:endParaRPr>
          </a:p>
        </p:txBody>
      </p:sp>
      <p:sp>
        <p:nvSpPr>
          <p:cNvPr id="29" name="Text 27"/>
          <p:cNvSpPr txBox="1"/>
          <p:nvPr/>
        </p:nvSpPr>
        <p:spPr>
          <a:xfrm>
            <a:off x="502920" y="5065776"/>
            <a:ext cx="5029200" cy="310896"/>
          </a:xfrm>
          <a:prstGeom prst="rect">
            <a:avLst/>
          </a:prstGeom>
          <a:noFill/>
          <a:ln/>
        </p:spPr>
        <p:txBody>
          <a:bodyPr wrap="square" lIns="0" tIns="0" rIns="0" bIns="0" rtlCol="0" anchor="ctr"/>
          <a:lstStyle/>
          <a:p>
            <a:pPr marL="0" indent="0">
              <a:buNone/>
            </a:pPr>
            <a:r>
              <a:rPr lang="en-US" sz="1400" b="1" dirty="0">
                <a:solidFill>
                  <a:srgbClr val="EAF0FA"/>
                </a:solidFill>
                <a:latin typeface="Tahoma" panose="020B0604030504040204" pitchFamily="34" charset="0"/>
                <a:ea typeface="Tahoma" panose="020B0604030504040204" pitchFamily="34" charset="0"/>
                <a:cs typeface="Tahoma" panose="020B0604030504040204" pitchFamily="34" charset="0"/>
              </a:rPr>
              <a:t>Gokul Sajith   </a:t>
            </a:r>
            <a:r>
              <a:rPr lang="en-US" sz="1200" dirty="0">
                <a:solidFill>
                  <a:srgbClr val="94A3B8"/>
                </a:solidFill>
                <a:latin typeface="Tahoma" panose="020B0604030504040204" pitchFamily="34" charset="0"/>
                <a:ea typeface="Tahoma" panose="020B0604030504040204" pitchFamily="34" charset="0"/>
                <a:cs typeface="Tahoma" panose="020B0604030504040204" pitchFamily="34" charset="0"/>
              </a:rPr>
              <a:t>(241140129)</a:t>
            </a:r>
            <a:endParaRPr lang="en-US" sz="1400" dirty="0">
              <a:latin typeface="Tahoma" panose="020B0604030504040204" pitchFamily="34" charset="0"/>
            </a:endParaRPr>
          </a:p>
        </p:txBody>
      </p:sp>
      <p:sp>
        <p:nvSpPr>
          <p:cNvPr id="30" name="Text 28"/>
          <p:cNvSpPr txBox="1"/>
          <p:nvPr/>
        </p:nvSpPr>
        <p:spPr>
          <a:xfrm>
            <a:off x="502920" y="5394960"/>
            <a:ext cx="5029200" cy="310896"/>
          </a:xfrm>
          <a:prstGeom prst="rect">
            <a:avLst/>
          </a:prstGeom>
          <a:noFill/>
          <a:ln/>
        </p:spPr>
        <p:txBody>
          <a:bodyPr wrap="square" lIns="0" tIns="0" rIns="0" bIns="0" rtlCol="0" anchor="ctr"/>
          <a:lstStyle/>
          <a:p>
            <a:pPr marL="0" indent="0">
              <a:buNone/>
            </a:pPr>
            <a:r>
              <a:rPr lang="en-US" sz="1400" b="1" dirty="0">
                <a:solidFill>
                  <a:srgbClr val="EAF0FA"/>
                </a:solidFill>
                <a:latin typeface="Tahoma" panose="020B0604030504040204" pitchFamily="34" charset="0"/>
                <a:ea typeface="Tahoma" panose="020B0604030504040204" pitchFamily="34" charset="0"/>
                <a:cs typeface="Tahoma" panose="020B0604030504040204" pitchFamily="34" charset="0"/>
              </a:rPr>
              <a:t>Vishnu Vijay   </a:t>
            </a:r>
            <a:r>
              <a:rPr lang="en-US" sz="1200" dirty="0">
                <a:solidFill>
                  <a:srgbClr val="94A3B8"/>
                </a:solidFill>
                <a:latin typeface="Tahoma" panose="020B0604030504040204" pitchFamily="34" charset="0"/>
                <a:ea typeface="Tahoma" panose="020B0604030504040204" pitchFamily="34" charset="0"/>
                <a:cs typeface="Tahoma" panose="020B0604030504040204" pitchFamily="34" charset="0"/>
              </a:rPr>
              <a:t>(241140120)</a:t>
            </a:r>
            <a:endParaRPr lang="en-US" sz="1400" dirty="0">
              <a:latin typeface="Tahoma" panose="020B0604030504040204" pitchFamily="34" charset="0"/>
            </a:endParaRPr>
          </a:p>
        </p:txBody>
      </p:sp>
      <p:sp>
        <p:nvSpPr>
          <p:cNvPr id="31" name="Shape 29"/>
          <p:cNvSpPr/>
          <p:nvPr/>
        </p:nvSpPr>
        <p:spPr>
          <a:xfrm>
            <a:off x="3477127" y="4453128"/>
            <a:ext cx="0" cy="1417320"/>
          </a:xfrm>
          <a:prstGeom prst="line">
            <a:avLst/>
          </a:prstGeom>
          <a:noFill/>
          <a:ln w="9525">
            <a:solidFill>
              <a:srgbClr val="24314F"/>
            </a:solidFill>
            <a:prstDash val="solid"/>
          </a:ln>
        </p:spPr>
        <p:txBody>
          <a:bodyPr/>
          <a:lstStyle/>
          <a:p>
            <a:endParaRPr lang="en-IN" dirty="0"/>
          </a:p>
        </p:txBody>
      </p:sp>
      <p:sp>
        <p:nvSpPr>
          <p:cNvPr id="32" name="Text 30"/>
          <p:cNvSpPr txBox="1"/>
          <p:nvPr/>
        </p:nvSpPr>
        <p:spPr>
          <a:xfrm>
            <a:off x="4135374" y="4434840"/>
            <a:ext cx="2743200" cy="274320"/>
          </a:xfrm>
          <a:prstGeom prst="rect">
            <a:avLst/>
          </a:prstGeom>
          <a:noFill/>
          <a:ln/>
        </p:spPr>
        <p:txBody>
          <a:bodyPr wrap="square" lIns="0" tIns="0" rIns="0" bIns="0" rtlCol="0" anchor="ctr"/>
          <a:lstStyle/>
          <a:p>
            <a:pPr marL="0" indent="0">
              <a:buNone/>
            </a:pPr>
            <a:r>
              <a:rPr lang="en-US" sz="1100" b="1" kern="0" spc="120" dirty="0">
                <a:solidFill>
                  <a:srgbClr val="22D3EE"/>
                </a:solidFill>
                <a:latin typeface="Tahoma" panose="020B0604030504040204" pitchFamily="34" charset="0"/>
                <a:ea typeface="Tahoma" panose="020B0604030504040204" pitchFamily="34" charset="0"/>
                <a:cs typeface="Tahoma" panose="020B0604030504040204" pitchFamily="34" charset="0"/>
              </a:rPr>
              <a:t>GUIDE</a:t>
            </a:r>
            <a:endParaRPr lang="en-US" sz="1100" dirty="0">
              <a:latin typeface="Tahoma" panose="020B0604030504040204" pitchFamily="34" charset="0"/>
            </a:endParaRPr>
          </a:p>
        </p:txBody>
      </p:sp>
      <p:sp>
        <p:nvSpPr>
          <p:cNvPr id="33" name="Text 31"/>
          <p:cNvSpPr txBox="1"/>
          <p:nvPr/>
        </p:nvSpPr>
        <p:spPr>
          <a:xfrm>
            <a:off x="4135374" y="4734426"/>
            <a:ext cx="2628000" cy="292608"/>
          </a:xfrm>
          <a:prstGeom prst="rect">
            <a:avLst/>
          </a:prstGeom>
          <a:noFill/>
          <a:ln/>
        </p:spPr>
        <p:txBody>
          <a:bodyPr wrap="square" lIns="0" tIns="0" rIns="0" bIns="0" rtlCol="0" anchor="ctr"/>
          <a:lstStyle/>
          <a:p>
            <a:pPr marL="0" indent="0">
              <a:buNone/>
            </a:pPr>
            <a:r>
              <a:rPr lang="en-US" sz="1400" b="1" dirty="0">
                <a:solidFill>
                  <a:srgbClr val="EAF0FA"/>
                </a:solidFill>
                <a:latin typeface="Tahoma" panose="020B0604030504040204" pitchFamily="34" charset="0"/>
                <a:ea typeface="Tahoma" panose="020B0604030504040204" pitchFamily="34" charset="0"/>
                <a:cs typeface="Tahoma" panose="020B0604030504040204" pitchFamily="34" charset="0"/>
              </a:rPr>
              <a:t>Ms. Kripa Radhakrishnan</a:t>
            </a:r>
            <a:endParaRPr lang="en-US" sz="1400" dirty="0">
              <a:latin typeface="Tahoma" panose="020B0604030504040204" pitchFamily="34" charset="0"/>
            </a:endParaRPr>
          </a:p>
        </p:txBody>
      </p:sp>
      <p:sp>
        <p:nvSpPr>
          <p:cNvPr id="34" name="Text 32"/>
          <p:cNvSpPr txBox="1"/>
          <p:nvPr/>
        </p:nvSpPr>
        <p:spPr>
          <a:xfrm>
            <a:off x="4135374" y="5074920"/>
            <a:ext cx="2988000" cy="292608"/>
          </a:xfrm>
          <a:prstGeom prst="rect">
            <a:avLst/>
          </a:prstGeom>
          <a:noFill/>
          <a:ln/>
        </p:spPr>
        <p:txBody>
          <a:bodyPr wrap="square" lIns="0" tIns="0" rIns="0" bIns="0" rtlCol="0" anchor="ctr"/>
          <a:lstStyle/>
          <a:p>
            <a:pPr marL="0" indent="0">
              <a:buNone/>
            </a:pPr>
            <a:r>
              <a:rPr lang="en-US" sz="1200" dirty="0">
                <a:solidFill>
                  <a:srgbClr val="94A3B8"/>
                </a:solidFill>
                <a:latin typeface="Tahoma" panose="020B0604030504040204" pitchFamily="34" charset="0"/>
                <a:ea typeface="Tahoma" panose="020B0604030504040204" pitchFamily="34" charset="0"/>
                <a:cs typeface="Tahoma" panose="020B0604030504040204" pitchFamily="34" charset="0"/>
              </a:rPr>
              <a:t>Assistant Professor – Department of CSE</a:t>
            </a:r>
            <a:endParaRPr lang="en-US" sz="1200" dirty="0">
              <a:latin typeface="Tahoma" panose="020B0604030504040204" pitchFamily="34" charset="0"/>
            </a:endParaRPr>
          </a:p>
        </p:txBody>
      </p:sp>
      <p:sp>
        <p:nvSpPr>
          <p:cNvPr id="36" name="Text 34"/>
          <p:cNvSpPr txBox="1"/>
          <p:nvPr/>
        </p:nvSpPr>
        <p:spPr>
          <a:xfrm>
            <a:off x="11140135" y="6473952"/>
            <a:ext cx="548640" cy="274320"/>
          </a:xfrm>
          <a:prstGeom prst="rect">
            <a:avLst/>
          </a:prstGeom>
          <a:noFill/>
          <a:ln/>
        </p:spPr>
        <p:txBody>
          <a:bodyPr wrap="square" lIns="0" tIns="0" rIns="0" bIns="0" rtlCol="0" anchor="ctr"/>
          <a:lstStyle/>
          <a:p>
            <a:pPr marL="0" indent="0" algn="r">
              <a:buNone/>
            </a:pPr>
            <a:r>
              <a:rPr lang="en-US" sz="900" dirty="0">
                <a:solidFill>
                  <a:srgbClr val="5B6B85"/>
                </a:solidFill>
                <a:latin typeface="Tahoma" panose="020B0604030504040204" pitchFamily="34" charset="0"/>
                <a:ea typeface="Tahoma" panose="020B0604030504040204" pitchFamily="34" charset="0"/>
                <a:cs typeface="Tahoma" panose="020B0604030504040204" pitchFamily="34" charset="0"/>
              </a:rPr>
              <a:t>01</a:t>
            </a:r>
            <a:endParaRPr lang="en-US" sz="900" dirty="0">
              <a:latin typeface="Tahoma" panose="020B0604030504040204" pitchFamily="34" charset="0"/>
            </a:endParaRPr>
          </a:p>
        </p:txBody>
      </p:sp>
      <p:sp>
        <p:nvSpPr>
          <p:cNvPr id="37" name="Shape 35"/>
          <p:cNvSpPr/>
          <p:nvPr/>
        </p:nvSpPr>
        <p:spPr>
          <a:xfrm>
            <a:off x="502920" y="6400800"/>
            <a:ext cx="11185855" cy="0"/>
          </a:xfrm>
          <a:prstGeom prst="line">
            <a:avLst/>
          </a:prstGeom>
          <a:noFill/>
          <a:ln w="9525">
            <a:solidFill>
              <a:srgbClr val="24314F"/>
            </a:solidFill>
            <a:prstDash val="solid"/>
          </a:ln>
        </p:spPr>
      </p:sp>
      <p:pic>
        <p:nvPicPr>
          <p:cNvPr id="41" name="Picture 40">
            <a:extLst>
              <a:ext uri="{FF2B5EF4-FFF2-40B4-BE49-F238E27FC236}">
                <a16:creationId xmlns:a16="http://schemas.microsoft.com/office/drawing/2014/main" id="{D89347AD-C48C-CE61-0811-3EEC70AC6A73}"/>
              </a:ext>
            </a:extLst>
          </p:cNvPr>
          <p:cNvPicPr>
            <a:picLocks noChangeAspect="1"/>
          </p:cNvPicPr>
          <p:nvPr/>
        </p:nvPicPr>
        <p:blipFill>
          <a:blip r:embed="rId3"/>
          <a:srcRect r="15270" b="26538"/>
          <a:stretch>
            <a:fillRect/>
          </a:stretch>
        </p:blipFill>
        <p:spPr>
          <a:xfrm>
            <a:off x="10416983" y="236798"/>
            <a:ext cx="1440000" cy="527673"/>
          </a:xfrm>
          <a:prstGeom prst="roundRect">
            <a:avLst/>
          </a:prstGeom>
        </p:spPr>
      </p:pic>
      <p:pic>
        <p:nvPicPr>
          <p:cNvPr id="50" name="Picture 49">
            <a:extLst>
              <a:ext uri="{FF2B5EF4-FFF2-40B4-BE49-F238E27FC236}">
                <a16:creationId xmlns:a16="http://schemas.microsoft.com/office/drawing/2014/main" id="{98BA9E65-2DDB-6BC7-29CF-53B9A0228FDB}"/>
              </a:ext>
            </a:extLst>
          </p:cNvPr>
          <p:cNvPicPr>
            <a:picLocks noChangeAspect="1"/>
          </p:cNvPicPr>
          <p:nvPr/>
        </p:nvPicPr>
        <p:blipFill>
          <a:blip r:embed="rId4"/>
          <a:srcRect l="2244" r="3864"/>
          <a:stretch>
            <a:fillRect/>
          </a:stretch>
        </p:blipFill>
        <p:spPr>
          <a:xfrm>
            <a:off x="6878574" y="1453896"/>
            <a:ext cx="5021222" cy="395020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F1F"/>
        </a:solidFill>
        <a:effectLst/>
      </p:bgPr>
    </p:bg>
    <p:spTree>
      <p:nvGrpSpPr>
        <p:cNvPr id="1" name=""/>
        <p:cNvGrpSpPr/>
        <p:nvPr/>
      </p:nvGrpSpPr>
      <p:grpSpPr>
        <a:xfrm>
          <a:off x="0" y="0"/>
          <a:ext cx="0" cy="0"/>
          <a:chOff x="0" y="0"/>
          <a:chExt cx="0" cy="0"/>
        </a:xfrm>
      </p:grpSpPr>
      <p:sp>
        <p:nvSpPr>
          <p:cNvPr id="2" name="Shape 0"/>
          <p:cNvSpPr/>
          <p:nvPr/>
        </p:nvSpPr>
        <p:spPr>
          <a:xfrm>
            <a:off x="10637215" y="320040"/>
            <a:ext cx="1051560" cy="384048"/>
          </a:xfrm>
          <a:prstGeom prst="roundRect">
            <a:avLst>
              <a:gd name="adj" fmla="val 14286"/>
            </a:avLst>
          </a:prstGeom>
          <a:solidFill>
            <a:srgbClr val="18233C"/>
          </a:solidFill>
          <a:ln w="9525">
            <a:solidFill>
              <a:srgbClr val="24314F"/>
            </a:solidFill>
            <a:prstDash val="dash"/>
          </a:ln>
        </p:spPr>
      </p:sp>
      <p:sp>
        <p:nvSpPr>
          <p:cNvPr id="4" name="Text 2"/>
          <p:cNvSpPr txBox="1"/>
          <p:nvPr/>
        </p:nvSpPr>
        <p:spPr>
          <a:xfrm>
            <a:off x="502920" y="292608"/>
            <a:ext cx="9905695" cy="566928"/>
          </a:xfrm>
          <a:prstGeom prst="rect">
            <a:avLst/>
          </a:prstGeom>
          <a:noFill/>
          <a:ln/>
        </p:spPr>
        <p:txBody>
          <a:bodyPr wrap="square" lIns="0" tIns="0" rIns="0" bIns="0" rtlCol="0" anchor="ctr"/>
          <a:lstStyle/>
          <a:p>
            <a:pPr marL="0" indent="0" algn="l">
              <a:buNone/>
            </a:pPr>
            <a:r>
              <a:rPr lang="en-US" sz="3000" b="1" kern="0" spc="50" dirty="0">
                <a:solidFill>
                  <a:srgbClr val="EAF0FA"/>
                </a:solidFill>
                <a:latin typeface="Tahoma" panose="020B0604030504040204" pitchFamily="34" charset="0"/>
                <a:ea typeface="Tahoma" panose="020B0604030504040204" pitchFamily="34" charset="0"/>
                <a:cs typeface="Tahoma" panose="020B0604030504040204" pitchFamily="34" charset="0"/>
              </a:rPr>
              <a:t>Abstract</a:t>
            </a:r>
            <a:endParaRPr lang="en-US" sz="3000" dirty="0">
              <a:latin typeface="Tahoma" panose="020B0604030504040204" pitchFamily="34" charset="0"/>
            </a:endParaRPr>
          </a:p>
        </p:txBody>
      </p:sp>
      <p:sp>
        <p:nvSpPr>
          <p:cNvPr id="5" name="Text 3"/>
          <p:cNvSpPr txBox="1"/>
          <p:nvPr/>
        </p:nvSpPr>
        <p:spPr>
          <a:xfrm>
            <a:off x="502920" y="18288"/>
            <a:ext cx="5486400" cy="256032"/>
          </a:xfrm>
          <a:prstGeom prst="rect">
            <a:avLst/>
          </a:prstGeom>
          <a:noFill/>
          <a:ln/>
        </p:spPr>
        <p:txBody>
          <a:bodyPr wrap="square" lIns="0" tIns="0" rIns="0" bIns="0" rtlCol="0" anchor="ctr"/>
          <a:lstStyle/>
          <a:p>
            <a:pPr marL="0" indent="0" algn="l">
              <a:buNone/>
            </a:pPr>
            <a:r>
              <a:rPr lang="en-US" sz="1100" b="1" kern="0" spc="120" dirty="0">
                <a:solidFill>
                  <a:srgbClr val="22D3EE"/>
                </a:solidFill>
                <a:latin typeface="Tahoma" panose="020B0604030504040204" pitchFamily="34" charset="0"/>
                <a:ea typeface="Tahoma" panose="020B0604030504040204" pitchFamily="34" charset="0"/>
                <a:cs typeface="Tahoma" panose="020B0604030504040204" pitchFamily="34" charset="0"/>
              </a:rPr>
              <a:t>PROJECT SUMMARY</a:t>
            </a:r>
            <a:endParaRPr lang="en-US" sz="1100" dirty="0">
              <a:latin typeface="Tahoma" panose="020B0604030504040204" pitchFamily="34" charset="0"/>
            </a:endParaRPr>
          </a:p>
        </p:txBody>
      </p:sp>
      <p:sp>
        <p:nvSpPr>
          <p:cNvPr id="7" name="Text 5"/>
          <p:cNvSpPr txBox="1"/>
          <p:nvPr/>
        </p:nvSpPr>
        <p:spPr>
          <a:xfrm>
            <a:off x="11140135" y="6473952"/>
            <a:ext cx="548640" cy="274320"/>
          </a:xfrm>
          <a:prstGeom prst="rect">
            <a:avLst/>
          </a:prstGeom>
          <a:noFill/>
          <a:ln/>
        </p:spPr>
        <p:txBody>
          <a:bodyPr wrap="square" lIns="0" tIns="0" rIns="0" bIns="0" rtlCol="0" anchor="ctr"/>
          <a:lstStyle/>
          <a:p>
            <a:pPr marL="0" indent="0" algn="r">
              <a:buNone/>
            </a:pPr>
            <a:r>
              <a:rPr lang="en-US" sz="900" dirty="0">
                <a:solidFill>
                  <a:srgbClr val="5B6B85"/>
                </a:solidFill>
                <a:latin typeface="Tahoma" panose="020B0604030504040204" pitchFamily="34" charset="0"/>
                <a:ea typeface="Tahoma" panose="020B0604030504040204" pitchFamily="34" charset="0"/>
                <a:cs typeface="Tahoma" panose="020B0604030504040204" pitchFamily="34" charset="0"/>
              </a:rPr>
              <a:t>02</a:t>
            </a:r>
            <a:endParaRPr lang="en-US" sz="900" dirty="0">
              <a:latin typeface="Tahoma" panose="020B0604030504040204" pitchFamily="34" charset="0"/>
            </a:endParaRPr>
          </a:p>
        </p:txBody>
      </p:sp>
      <p:sp>
        <p:nvSpPr>
          <p:cNvPr id="8" name="Shape 6"/>
          <p:cNvSpPr/>
          <p:nvPr/>
        </p:nvSpPr>
        <p:spPr>
          <a:xfrm>
            <a:off x="502920" y="6400800"/>
            <a:ext cx="11185855" cy="0"/>
          </a:xfrm>
          <a:prstGeom prst="line">
            <a:avLst/>
          </a:prstGeom>
          <a:noFill/>
          <a:ln w="9525">
            <a:solidFill>
              <a:srgbClr val="24314F"/>
            </a:solidFill>
            <a:prstDash val="solid"/>
          </a:ln>
        </p:spPr>
      </p:sp>
      <p:sp>
        <p:nvSpPr>
          <p:cNvPr id="9" name="Shape 7"/>
          <p:cNvSpPr/>
          <p:nvPr/>
        </p:nvSpPr>
        <p:spPr>
          <a:xfrm>
            <a:off x="322917" y="1361012"/>
            <a:ext cx="11634537" cy="2269156"/>
          </a:xfrm>
          <a:prstGeom prst="roundRect">
            <a:avLst>
              <a:gd name="adj" fmla="val 1802"/>
            </a:avLst>
          </a:prstGeom>
          <a:solidFill>
            <a:srgbClr val="121B30"/>
          </a:solidFill>
          <a:ln/>
        </p:spPr>
      </p:sp>
      <p:sp>
        <p:nvSpPr>
          <p:cNvPr id="10" name="Text 8"/>
          <p:cNvSpPr txBox="1"/>
          <p:nvPr/>
        </p:nvSpPr>
        <p:spPr>
          <a:xfrm>
            <a:off x="526250" y="1671908"/>
            <a:ext cx="11146151" cy="1799923"/>
          </a:xfrm>
          <a:prstGeom prst="rect">
            <a:avLst/>
          </a:prstGeom>
          <a:noFill/>
          <a:ln/>
        </p:spPr>
        <p:txBody>
          <a:bodyPr wrap="square" lIns="0" tIns="0" rIns="0" bIns="0" rtlCol="0" anchor="t"/>
          <a:lstStyle/>
          <a:p>
            <a:pPr marL="0" indent="0" algn="l">
              <a:lnSpc>
                <a:spcPct val="135000"/>
              </a:lnSpc>
              <a:buNone/>
            </a:pPr>
            <a:r>
              <a:rPr lang="en-US" sz="1600" dirty="0">
                <a:solidFill>
                  <a:srgbClr val="EAF0FA"/>
                </a:solidFill>
                <a:latin typeface="Tahoma" panose="020B0604030504040204" pitchFamily="34" charset="0"/>
                <a:ea typeface="Tahoma" panose="020B0604030504040204" pitchFamily="34" charset="0"/>
                <a:cs typeface="Tahoma" panose="020B0604030504040204" pitchFamily="34" charset="0"/>
              </a:rPr>
              <a:t>A web app where a user uploads their bank statement, and the app automatically reads every transaction, uses AI to figure out what category each one belongs to (Food, Bills, Shopping, etc.), and shows it all on a dashboard with charts and insights. Unlike existing trackers that require manual entry or only report raw data, our system automates the entire process and adds proactive guidance, such as, budget alerts, AI savings suggestions and user-correctable categorization, while remaining completely free and open.</a:t>
            </a:r>
            <a:endParaRPr lang="en-US" sz="1600" dirty="0">
              <a:latin typeface="Tahoma" panose="020B0604030504040204" pitchFamily="34" charset="0"/>
            </a:endParaRPr>
          </a:p>
        </p:txBody>
      </p:sp>
      <p:pic>
        <p:nvPicPr>
          <p:cNvPr id="32" name="Picture 31">
            <a:extLst>
              <a:ext uri="{FF2B5EF4-FFF2-40B4-BE49-F238E27FC236}">
                <a16:creationId xmlns:a16="http://schemas.microsoft.com/office/drawing/2014/main" id="{B64B2C81-0495-3FDE-67DC-F2004DFADE3F}"/>
              </a:ext>
            </a:extLst>
          </p:cNvPr>
          <p:cNvPicPr>
            <a:picLocks noChangeAspect="1"/>
          </p:cNvPicPr>
          <p:nvPr/>
        </p:nvPicPr>
        <p:blipFill>
          <a:blip r:embed="rId3"/>
          <a:srcRect r="15270" b="26538"/>
          <a:stretch>
            <a:fillRect/>
          </a:stretch>
        </p:blipFill>
        <p:spPr>
          <a:xfrm>
            <a:off x="10416983" y="236798"/>
            <a:ext cx="1440000" cy="527673"/>
          </a:xfrm>
          <a:prstGeom prst="roundRect">
            <a:avLst/>
          </a:prstGeom>
        </p:spPr>
      </p:pic>
      <p:pic>
        <p:nvPicPr>
          <p:cNvPr id="31" name="Picture 30">
            <a:extLst>
              <a:ext uri="{FF2B5EF4-FFF2-40B4-BE49-F238E27FC236}">
                <a16:creationId xmlns:a16="http://schemas.microsoft.com/office/drawing/2014/main" id="{5AC3022B-5560-2C64-40EA-9179AE2D0131}"/>
              </a:ext>
            </a:extLst>
          </p:cNvPr>
          <p:cNvPicPr>
            <a:picLocks noChangeAspect="1"/>
          </p:cNvPicPr>
          <p:nvPr/>
        </p:nvPicPr>
        <p:blipFill>
          <a:blip r:embed="rId4"/>
          <a:stretch>
            <a:fillRect/>
          </a:stretch>
        </p:blipFill>
        <p:spPr>
          <a:xfrm>
            <a:off x="447290" y="4491926"/>
            <a:ext cx="3528000" cy="1218190"/>
          </a:xfrm>
          <a:prstGeom prst="roundRect">
            <a:avLst/>
          </a:prstGeom>
        </p:spPr>
      </p:pic>
      <p:pic>
        <p:nvPicPr>
          <p:cNvPr id="34" name="Picture 33">
            <a:extLst>
              <a:ext uri="{FF2B5EF4-FFF2-40B4-BE49-F238E27FC236}">
                <a16:creationId xmlns:a16="http://schemas.microsoft.com/office/drawing/2014/main" id="{673142C2-765E-03F1-4950-14C0DA4B237B}"/>
              </a:ext>
            </a:extLst>
          </p:cNvPr>
          <p:cNvPicPr>
            <a:picLocks noChangeAspect="1"/>
          </p:cNvPicPr>
          <p:nvPr/>
        </p:nvPicPr>
        <p:blipFill>
          <a:blip r:embed="rId5"/>
          <a:stretch>
            <a:fillRect/>
          </a:stretch>
        </p:blipFill>
        <p:spPr>
          <a:xfrm>
            <a:off x="4376186" y="4491929"/>
            <a:ext cx="3528000" cy="1218190"/>
          </a:xfrm>
          <a:prstGeom prst="roundRect">
            <a:avLst/>
          </a:prstGeom>
        </p:spPr>
      </p:pic>
      <p:pic>
        <p:nvPicPr>
          <p:cNvPr id="36" name="Picture 35">
            <a:extLst>
              <a:ext uri="{FF2B5EF4-FFF2-40B4-BE49-F238E27FC236}">
                <a16:creationId xmlns:a16="http://schemas.microsoft.com/office/drawing/2014/main" id="{681D7F2A-3F8D-D2C8-E228-2E55C79DC439}"/>
              </a:ext>
            </a:extLst>
          </p:cNvPr>
          <p:cNvPicPr>
            <a:picLocks noChangeAspect="1"/>
          </p:cNvPicPr>
          <p:nvPr/>
        </p:nvPicPr>
        <p:blipFill>
          <a:blip r:embed="rId6"/>
          <a:stretch>
            <a:fillRect/>
          </a:stretch>
        </p:blipFill>
        <p:spPr>
          <a:xfrm>
            <a:off x="8305082" y="4491927"/>
            <a:ext cx="3528000" cy="1218190"/>
          </a:xfrm>
          <a:prstGeom prst="roundRect">
            <a:avLst/>
          </a:prstGeom>
        </p:spPr>
      </p:pic>
      <p:pic>
        <p:nvPicPr>
          <p:cNvPr id="38" name="Image 1" descr="/home/claude/icons/ic_arrowright.png">
            <a:extLst>
              <a:ext uri="{FF2B5EF4-FFF2-40B4-BE49-F238E27FC236}">
                <a16:creationId xmlns:a16="http://schemas.microsoft.com/office/drawing/2014/main" id="{D9DE453C-3E72-3F45-61CA-49FF1DC36525}"/>
              </a:ext>
            </a:extLst>
          </p:cNvPr>
          <p:cNvPicPr>
            <a:picLocks noChangeAspect="1"/>
          </p:cNvPicPr>
          <p:nvPr/>
        </p:nvPicPr>
        <p:blipFill>
          <a:blip r:embed="rId7"/>
          <a:stretch>
            <a:fillRect/>
          </a:stretch>
        </p:blipFill>
        <p:spPr>
          <a:xfrm>
            <a:off x="8004050" y="5007555"/>
            <a:ext cx="201168" cy="201168"/>
          </a:xfrm>
          <a:prstGeom prst="rect">
            <a:avLst/>
          </a:prstGeom>
        </p:spPr>
      </p:pic>
      <p:pic>
        <p:nvPicPr>
          <p:cNvPr id="40" name="Image 1" descr="/home/claude/icons/ic_arrowright.png">
            <a:extLst>
              <a:ext uri="{FF2B5EF4-FFF2-40B4-BE49-F238E27FC236}">
                <a16:creationId xmlns:a16="http://schemas.microsoft.com/office/drawing/2014/main" id="{2D1E728C-2E82-F9EA-6CA7-EB49E9E43EED}"/>
              </a:ext>
            </a:extLst>
          </p:cNvPr>
          <p:cNvPicPr>
            <a:picLocks noChangeAspect="1"/>
          </p:cNvPicPr>
          <p:nvPr/>
        </p:nvPicPr>
        <p:blipFill>
          <a:blip r:embed="rId7"/>
          <a:stretch>
            <a:fillRect/>
          </a:stretch>
        </p:blipFill>
        <p:spPr>
          <a:xfrm>
            <a:off x="4075154" y="5019082"/>
            <a:ext cx="201168" cy="201168"/>
          </a:xfrm>
          <a:prstGeom prst="rect">
            <a:avLst/>
          </a:prstGeom>
        </p:spPr>
      </p:pic>
      <p:sp>
        <p:nvSpPr>
          <p:cNvPr id="41" name="TextBox 40">
            <a:extLst>
              <a:ext uri="{FF2B5EF4-FFF2-40B4-BE49-F238E27FC236}">
                <a16:creationId xmlns:a16="http://schemas.microsoft.com/office/drawing/2014/main" id="{C904970B-B4EA-4364-A9F7-6E568853A87F}"/>
              </a:ext>
            </a:extLst>
          </p:cNvPr>
          <p:cNvSpPr txBox="1"/>
          <p:nvPr/>
        </p:nvSpPr>
        <p:spPr>
          <a:xfrm>
            <a:off x="502920" y="4075480"/>
            <a:ext cx="1114408" cy="338554"/>
          </a:xfrm>
          <a:prstGeom prst="rect">
            <a:avLst/>
          </a:prstGeom>
          <a:noFill/>
        </p:spPr>
        <p:txBody>
          <a:bodyPr wrap="none" rtlCol="0">
            <a:spAutoFit/>
          </a:bodyPr>
          <a:lstStyle/>
          <a:p>
            <a:r>
              <a:rPr lang="en-IN" sz="1600" b="1" dirty="0">
                <a:solidFill>
                  <a:srgbClr val="23D8F3"/>
                </a:solidFill>
                <a:latin typeface="Tahoma" panose="020B0604030504040204" pitchFamily="34" charset="0"/>
                <a:ea typeface="Tahoma" panose="020B0604030504040204" pitchFamily="34" charset="0"/>
                <a:cs typeface="Tahoma" panose="020B0604030504040204" pitchFamily="34" charset="0"/>
              </a:rPr>
              <a:t>In Short: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F1F"/>
        </a:solidFill>
        <a:effectLst/>
      </p:bgPr>
    </p:bg>
    <p:spTree>
      <p:nvGrpSpPr>
        <p:cNvPr id="1" name=""/>
        <p:cNvGrpSpPr/>
        <p:nvPr/>
      </p:nvGrpSpPr>
      <p:grpSpPr>
        <a:xfrm>
          <a:off x="0" y="0"/>
          <a:ext cx="0" cy="0"/>
          <a:chOff x="0" y="0"/>
          <a:chExt cx="0" cy="0"/>
        </a:xfrm>
      </p:grpSpPr>
      <p:sp>
        <p:nvSpPr>
          <p:cNvPr id="2" name="Shape 0"/>
          <p:cNvSpPr/>
          <p:nvPr/>
        </p:nvSpPr>
        <p:spPr>
          <a:xfrm>
            <a:off x="10637215" y="320040"/>
            <a:ext cx="1051560" cy="384048"/>
          </a:xfrm>
          <a:prstGeom prst="roundRect">
            <a:avLst>
              <a:gd name="adj" fmla="val 14286"/>
            </a:avLst>
          </a:prstGeom>
          <a:solidFill>
            <a:srgbClr val="18233C"/>
          </a:solidFill>
          <a:ln w="9525">
            <a:solidFill>
              <a:srgbClr val="24314F"/>
            </a:solidFill>
            <a:prstDash val="dash"/>
          </a:ln>
        </p:spPr>
      </p:sp>
      <p:sp>
        <p:nvSpPr>
          <p:cNvPr id="3" name="Text 1"/>
          <p:cNvSpPr txBox="1"/>
          <p:nvPr/>
        </p:nvSpPr>
        <p:spPr>
          <a:xfrm>
            <a:off x="10637215" y="320040"/>
            <a:ext cx="1051560" cy="384048"/>
          </a:xfrm>
          <a:prstGeom prst="rect">
            <a:avLst/>
          </a:prstGeom>
          <a:noFill/>
          <a:ln/>
        </p:spPr>
        <p:txBody>
          <a:bodyPr wrap="square" lIns="0" tIns="0" rIns="0" bIns="0" rtlCol="0" anchor="ctr"/>
          <a:lstStyle/>
          <a:p>
            <a:pPr marL="0" indent="0" algn="ctr">
              <a:buNone/>
            </a:pPr>
            <a:r>
              <a:rPr lang="en-US" sz="900" b="1" dirty="0">
                <a:solidFill>
                  <a:srgbClr val="94A3B8"/>
                </a:solidFill>
                <a:latin typeface="Tahoma" panose="020B0604030504040204" pitchFamily="34" charset="0"/>
                <a:ea typeface="Tahoma" panose="020B0604030504040204" pitchFamily="34" charset="0"/>
                <a:cs typeface="Tahoma" panose="020B0604030504040204" pitchFamily="34" charset="0"/>
              </a:rPr>
              <a:t>CVV LOGO</a:t>
            </a:r>
            <a:endParaRPr lang="en-US" sz="900" dirty="0">
              <a:latin typeface="Tahoma" panose="020B0604030504040204" pitchFamily="34" charset="0"/>
            </a:endParaRPr>
          </a:p>
        </p:txBody>
      </p:sp>
      <p:sp>
        <p:nvSpPr>
          <p:cNvPr id="4" name="Text 2"/>
          <p:cNvSpPr txBox="1"/>
          <p:nvPr/>
        </p:nvSpPr>
        <p:spPr>
          <a:xfrm>
            <a:off x="502920" y="292608"/>
            <a:ext cx="9905695" cy="566928"/>
          </a:xfrm>
          <a:prstGeom prst="rect">
            <a:avLst/>
          </a:prstGeom>
          <a:noFill/>
          <a:ln/>
        </p:spPr>
        <p:txBody>
          <a:bodyPr wrap="square" lIns="0" tIns="0" rIns="0" bIns="0" rtlCol="0" anchor="ctr"/>
          <a:lstStyle/>
          <a:p>
            <a:pPr marL="0" indent="0" algn="l">
              <a:buNone/>
            </a:pPr>
            <a:r>
              <a:rPr lang="en-US" sz="3000" b="1" kern="0" spc="50" dirty="0">
                <a:solidFill>
                  <a:srgbClr val="EAF0FA"/>
                </a:solidFill>
                <a:latin typeface="Tahoma" panose="020B0604030504040204" pitchFamily="34" charset="0"/>
                <a:ea typeface="Tahoma" panose="020B0604030504040204" pitchFamily="34" charset="0"/>
                <a:cs typeface="Tahoma" panose="020B0604030504040204" pitchFamily="34" charset="0"/>
              </a:rPr>
              <a:t>Objectives</a:t>
            </a:r>
            <a:endParaRPr lang="en-US" sz="3000" dirty="0">
              <a:latin typeface="Tahoma" panose="020B0604030504040204" pitchFamily="34" charset="0"/>
            </a:endParaRPr>
          </a:p>
        </p:txBody>
      </p:sp>
      <p:sp>
        <p:nvSpPr>
          <p:cNvPr id="5" name="Text 3"/>
          <p:cNvSpPr txBox="1"/>
          <p:nvPr/>
        </p:nvSpPr>
        <p:spPr>
          <a:xfrm>
            <a:off x="502920" y="18288"/>
            <a:ext cx="5486400" cy="256032"/>
          </a:xfrm>
          <a:prstGeom prst="rect">
            <a:avLst/>
          </a:prstGeom>
          <a:noFill/>
          <a:ln/>
        </p:spPr>
        <p:txBody>
          <a:bodyPr wrap="square" lIns="0" tIns="0" rIns="0" bIns="0" rtlCol="0" anchor="ctr"/>
          <a:lstStyle/>
          <a:p>
            <a:pPr marL="0" indent="0" algn="l">
              <a:buNone/>
            </a:pPr>
            <a:r>
              <a:rPr lang="en-US" sz="1100" b="1" kern="0" spc="120" dirty="0">
                <a:solidFill>
                  <a:srgbClr val="22D3EE"/>
                </a:solidFill>
                <a:latin typeface="Tahoma" panose="020B0604030504040204" pitchFamily="34" charset="0"/>
                <a:ea typeface="Tahoma" panose="020B0604030504040204" pitchFamily="34" charset="0"/>
                <a:cs typeface="Tahoma" panose="020B0604030504040204" pitchFamily="34" charset="0"/>
              </a:rPr>
              <a:t>AUTOMATE → SECURE → MONITOR → OPTIMIZE</a:t>
            </a:r>
            <a:endParaRPr lang="en-US" sz="1100" dirty="0">
              <a:latin typeface="Tahoma" panose="020B0604030504040204" pitchFamily="34" charset="0"/>
            </a:endParaRPr>
          </a:p>
        </p:txBody>
      </p:sp>
      <p:sp>
        <p:nvSpPr>
          <p:cNvPr id="7" name="Text 5"/>
          <p:cNvSpPr txBox="1"/>
          <p:nvPr/>
        </p:nvSpPr>
        <p:spPr>
          <a:xfrm>
            <a:off x="11140135" y="6473952"/>
            <a:ext cx="548640" cy="274320"/>
          </a:xfrm>
          <a:prstGeom prst="rect">
            <a:avLst/>
          </a:prstGeom>
          <a:noFill/>
          <a:ln/>
        </p:spPr>
        <p:txBody>
          <a:bodyPr wrap="square" lIns="0" tIns="0" rIns="0" bIns="0" rtlCol="0" anchor="ctr"/>
          <a:lstStyle/>
          <a:p>
            <a:pPr marL="0" indent="0" algn="r">
              <a:buNone/>
            </a:pPr>
            <a:r>
              <a:rPr lang="en-US" sz="900" dirty="0">
                <a:solidFill>
                  <a:srgbClr val="5B6B85"/>
                </a:solidFill>
                <a:latin typeface="Tahoma" panose="020B0604030504040204" pitchFamily="34" charset="0"/>
                <a:ea typeface="Tahoma" panose="020B0604030504040204" pitchFamily="34" charset="0"/>
                <a:cs typeface="Tahoma" panose="020B0604030504040204" pitchFamily="34" charset="0"/>
              </a:rPr>
              <a:t>03</a:t>
            </a:r>
            <a:endParaRPr lang="en-US" sz="900" dirty="0">
              <a:latin typeface="Tahoma" panose="020B0604030504040204" pitchFamily="34" charset="0"/>
            </a:endParaRPr>
          </a:p>
        </p:txBody>
      </p:sp>
      <p:sp>
        <p:nvSpPr>
          <p:cNvPr id="8" name="Shape 6"/>
          <p:cNvSpPr/>
          <p:nvPr/>
        </p:nvSpPr>
        <p:spPr>
          <a:xfrm>
            <a:off x="502920" y="6400800"/>
            <a:ext cx="11185855" cy="0"/>
          </a:xfrm>
          <a:prstGeom prst="line">
            <a:avLst/>
          </a:prstGeom>
          <a:noFill/>
          <a:ln w="9525">
            <a:solidFill>
              <a:srgbClr val="24314F"/>
            </a:solidFill>
            <a:prstDash val="solid"/>
          </a:ln>
        </p:spPr>
      </p:sp>
      <p:sp>
        <p:nvSpPr>
          <p:cNvPr id="9" name="Shape 7"/>
          <p:cNvSpPr/>
          <p:nvPr/>
        </p:nvSpPr>
        <p:spPr>
          <a:xfrm>
            <a:off x="502920" y="1143000"/>
            <a:ext cx="5432908" cy="2377440"/>
          </a:xfrm>
          <a:prstGeom prst="roundRect">
            <a:avLst>
              <a:gd name="adj" fmla="val 3846"/>
            </a:avLst>
          </a:prstGeom>
          <a:solidFill>
            <a:srgbClr val="121B30"/>
          </a:solidFill>
          <a:ln/>
        </p:spPr>
      </p:sp>
      <p:sp>
        <p:nvSpPr>
          <p:cNvPr id="10" name="Text 8"/>
          <p:cNvSpPr txBox="1"/>
          <p:nvPr/>
        </p:nvSpPr>
        <p:spPr>
          <a:xfrm>
            <a:off x="795528" y="1344168"/>
            <a:ext cx="1097280" cy="548640"/>
          </a:xfrm>
          <a:prstGeom prst="rect">
            <a:avLst/>
          </a:prstGeom>
          <a:noFill/>
          <a:ln/>
        </p:spPr>
        <p:txBody>
          <a:bodyPr wrap="square" lIns="0" tIns="0" rIns="0" bIns="0" rtlCol="0" anchor="ctr"/>
          <a:lstStyle/>
          <a:p>
            <a:pPr marL="0" indent="0">
              <a:buNone/>
            </a:pPr>
            <a:r>
              <a:rPr lang="en-US" sz="2600" b="1" dirty="0">
                <a:solidFill>
                  <a:schemeClr val="tx2">
                    <a:lumMod val="60000"/>
                    <a:lumOff val="40000"/>
                  </a:schemeClr>
                </a:solidFill>
                <a:latin typeface="Tahoma" panose="020B0604030504040204" pitchFamily="34" charset="0"/>
                <a:ea typeface="Tahoma" panose="020B0604030504040204" pitchFamily="34" charset="0"/>
                <a:cs typeface="Tahoma" panose="020B0604030504040204" pitchFamily="34" charset="0"/>
              </a:rPr>
              <a:t>01</a:t>
            </a:r>
            <a:endParaRPr lang="en-US" sz="2600" dirty="0">
              <a:solidFill>
                <a:schemeClr val="tx2">
                  <a:lumMod val="60000"/>
                  <a:lumOff val="40000"/>
                </a:schemeClr>
              </a:solidFill>
              <a:latin typeface="Tahoma" panose="020B0604030504040204" pitchFamily="34" charset="0"/>
            </a:endParaRPr>
          </a:p>
        </p:txBody>
      </p:sp>
      <p:sp>
        <p:nvSpPr>
          <p:cNvPr id="11" name="Shape 9"/>
          <p:cNvSpPr/>
          <p:nvPr/>
        </p:nvSpPr>
        <p:spPr>
          <a:xfrm>
            <a:off x="5067148" y="1399032"/>
            <a:ext cx="566928" cy="566928"/>
          </a:xfrm>
          <a:prstGeom prst="roundRect">
            <a:avLst>
              <a:gd name="adj" fmla="val 19355"/>
            </a:avLst>
          </a:prstGeom>
          <a:solidFill>
            <a:srgbClr val="18233C"/>
          </a:solidFill>
          <a:ln/>
        </p:spPr>
      </p:sp>
      <p:pic>
        <p:nvPicPr>
          <p:cNvPr id="12" name="Image 0" descr="/home/claude/icons/ic_zap.png"/>
          <p:cNvPicPr>
            <a:picLocks noChangeAspect="1"/>
          </p:cNvPicPr>
          <p:nvPr/>
        </p:nvPicPr>
        <p:blipFill>
          <a:blip r:embed="rId3"/>
          <a:stretch>
            <a:fillRect/>
          </a:stretch>
        </p:blipFill>
        <p:spPr>
          <a:xfrm>
            <a:off x="5204308" y="1536192"/>
            <a:ext cx="292608" cy="292608"/>
          </a:xfrm>
          <a:prstGeom prst="rect">
            <a:avLst/>
          </a:prstGeom>
        </p:spPr>
      </p:pic>
      <p:sp>
        <p:nvSpPr>
          <p:cNvPr id="13" name="Text 10"/>
          <p:cNvSpPr txBox="1"/>
          <p:nvPr/>
        </p:nvSpPr>
        <p:spPr>
          <a:xfrm>
            <a:off x="795528" y="1801368"/>
            <a:ext cx="4884268" cy="384048"/>
          </a:xfrm>
          <a:prstGeom prst="rect">
            <a:avLst/>
          </a:prstGeom>
          <a:noFill/>
          <a:ln/>
        </p:spPr>
        <p:txBody>
          <a:bodyPr wrap="square" lIns="0" tIns="0" rIns="0" bIns="0" rtlCol="0" anchor="ctr"/>
          <a:lstStyle/>
          <a:p>
            <a:pPr marL="0" indent="0">
              <a:buNone/>
            </a:pPr>
            <a:r>
              <a:rPr lang="en-US" sz="1800" b="1" dirty="0">
                <a:solidFill>
                  <a:srgbClr val="EAF0FA"/>
                </a:solidFill>
                <a:latin typeface="Tahoma" panose="020B0604030504040204" pitchFamily="34" charset="0"/>
                <a:ea typeface="Tahoma" panose="020B0604030504040204" pitchFamily="34" charset="0"/>
                <a:cs typeface="Tahoma" panose="020B0604030504040204" pitchFamily="34" charset="0"/>
              </a:rPr>
              <a:t>Automate</a:t>
            </a:r>
            <a:endParaRPr lang="en-US" sz="1800" dirty="0">
              <a:latin typeface="Tahoma" panose="020B0604030504040204" pitchFamily="34" charset="0"/>
            </a:endParaRPr>
          </a:p>
        </p:txBody>
      </p:sp>
      <p:sp>
        <p:nvSpPr>
          <p:cNvPr id="14" name="Text 11"/>
          <p:cNvSpPr txBox="1"/>
          <p:nvPr/>
        </p:nvSpPr>
        <p:spPr>
          <a:xfrm>
            <a:off x="795528" y="2221992"/>
            <a:ext cx="4884268" cy="1097280"/>
          </a:xfrm>
          <a:prstGeom prst="rect">
            <a:avLst/>
          </a:prstGeom>
          <a:noFill/>
          <a:ln/>
        </p:spPr>
        <p:txBody>
          <a:bodyPr wrap="square" lIns="0" tIns="0" rIns="0" bIns="0" rtlCol="0" anchor="t"/>
          <a:lstStyle/>
          <a:p>
            <a:pPr marL="0" indent="0">
              <a:lnSpc>
                <a:spcPct val="125000"/>
              </a:lnSpc>
              <a:buNone/>
            </a:pPr>
            <a:r>
              <a:rPr lang="en-US" sz="1300" dirty="0">
                <a:solidFill>
                  <a:srgbClr val="94A3B8"/>
                </a:solidFill>
                <a:latin typeface="Tahoma" panose="020B0604030504040204" pitchFamily="34" charset="0"/>
                <a:ea typeface="Tahoma" panose="020B0604030504040204" pitchFamily="34" charset="0"/>
                <a:cs typeface="Tahoma" panose="020B0604030504040204" pitchFamily="34" charset="0"/>
              </a:rPr>
              <a:t>Automate extraction and categorization of transactions from bank statements (PDF/CSV) using AI</a:t>
            </a:r>
            <a:endParaRPr lang="en-US" sz="1300" dirty="0">
              <a:latin typeface="Tahoma" panose="020B0604030504040204" pitchFamily="34" charset="0"/>
            </a:endParaRPr>
          </a:p>
        </p:txBody>
      </p:sp>
      <p:sp>
        <p:nvSpPr>
          <p:cNvPr id="15" name="Shape 12"/>
          <p:cNvSpPr/>
          <p:nvPr/>
        </p:nvSpPr>
        <p:spPr>
          <a:xfrm>
            <a:off x="6255868" y="1143000"/>
            <a:ext cx="5432908" cy="2377440"/>
          </a:xfrm>
          <a:prstGeom prst="roundRect">
            <a:avLst>
              <a:gd name="adj" fmla="val 3846"/>
            </a:avLst>
          </a:prstGeom>
          <a:solidFill>
            <a:srgbClr val="121B30"/>
          </a:solidFill>
          <a:ln/>
        </p:spPr>
      </p:sp>
      <p:sp>
        <p:nvSpPr>
          <p:cNvPr id="16" name="Text 13"/>
          <p:cNvSpPr txBox="1"/>
          <p:nvPr/>
        </p:nvSpPr>
        <p:spPr>
          <a:xfrm>
            <a:off x="6548476" y="1344168"/>
            <a:ext cx="1097280" cy="548640"/>
          </a:xfrm>
          <a:prstGeom prst="rect">
            <a:avLst/>
          </a:prstGeom>
          <a:noFill/>
          <a:ln/>
        </p:spPr>
        <p:txBody>
          <a:bodyPr wrap="square" lIns="0" tIns="0" rIns="0" bIns="0" rtlCol="0" anchor="ctr"/>
          <a:lstStyle/>
          <a:p>
            <a:pPr marL="0" indent="0">
              <a:buNone/>
            </a:pPr>
            <a:r>
              <a:rPr lang="en-US" sz="2600" b="1" dirty="0">
                <a:solidFill>
                  <a:schemeClr val="tx2">
                    <a:lumMod val="60000"/>
                    <a:lumOff val="40000"/>
                  </a:schemeClr>
                </a:solidFill>
                <a:latin typeface="Tahoma" panose="020B0604030504040204" pitchFamily="34" charset="0"/>
                <a:ea typeface="Tahoma" panose="020B0604030504040204" pitchFamily="34" charset="0"/>
                <a:cs typeface="Tahoma" panose="020B0604030504040204" pitchFamily="34" charset="0"/>
              </a:rPr>
              <a:t>02</a:t>
            </a:r>
            <a:endParaRPr lang="en-US" sz="2600" dirty="0">
              <a:solidFill>
                <a:schemeClr val="tx2">
                  <a:lumMod val="60000"/>
                  <a:lumOff val="40000"/>
                </a:schemeClr>
              </a:solidFill>
              <a:latin typeface="Tahoma" panose="020B0604030504040204" pitchFamily="34" charset="0"/>
            </a:endParaRPr>
          </a:p>
        </p:txBody>
      </p:sp>
      <p:sp>
        <p:nvSpPr>
          <p:cNvPr id="17" name="Shape 14"/>
          <p:cNvSpPr/>
          <p:nvPr/>
        </p:nvSpPr>
        <p:spPr>
          <a:xfrm>
            <a:off x="10820095" y="1399032"/>
            <a:ext cx="566928" cy="566928"/>
          </a:xfrm>
          <a:prstGeom prst="roundRect">
            <a:avLst>
              <a:gd name="adj" fmla="val 19355"/>
            </a:avLst>
          </a:prstGeom>
          <a:solidFill>
            <a:srgbClr val="18233C"/>
          </a:solidFill>
          <a:ln/>
        </p:spPr>
      </p:sp>
      <p:pic>
        <p:nvPicPr>
          <p:cNvPr id="18" name="Image 1" descr="/home/claude/icons/ic_shield.png"/>
          <p:cNvPicPr>
            <a:picLocks noChangeAspect="1"/>
          </p:cNvPicPr>
          <p:nvPr/>
        </p:nvPicPr>
        <p:blipFill>
          <a:blip r:embed="rId4"/>
          <a:stretch>
            <a:fillRect/>
          </a:stretch>
        </p:blipFill>
        <p:spPr>
          <a:xfrm>
            <a:off x="10957255" y="1536192"/>
            <a:ext cx="292608" cy="292608"/>
          </a:xfrm>
          <a:prstGeom prst="rect">
            <a:avLst/>
          </a:prstGeom>
        </p:spPr>
      </p:pic>
      <p:sp>
        <p:nvSpPr>
          <p:cNvPr id="19" name="Text 15"/>
          <p:cNvSpPr txBox="1"/>
          <p:nvPr/>
        </p:nvSpPr>
        <p:spPr>
          <a:xfrm>
            <a:off x="6548476" y="1801368"/>
            <a:ext cx="4884268" cy="384048"/>
          </a:xfrm>
          <a:prstGeom prst="rect">
            <a:avLst/>
          </a:prstGeom>
          <a:noFill/>
          <a:ln/>
        </p:spPr>
        <p:txBody>
          <a:bodyPr wrap="square" lIns="0" tIns="0" rIns="0" bIns="0" rtlCol="0" anchor="ctr"/>
          <a:lstStyle/>
          <a:p>
            <a:pPr marL="0" indent="0">
              <a:buNone/>
            </a:pPr>
            <a:r>
              <a:rPr lang="en-US" sz="1800" b="1" dirty="0">
                <a:solidFill>
                  <a:srgbClr val="EAF0FA"/>
                </a:solidFill>
                <a:latin typeface="Tahoma" panose="020B0604030504040204" pitchFamily="34" charset="0"/>
                <a:ea typeface="Tahoma" panose="020B0604030504040204" pitchFamily="34" charset="0"/>
                <a:cs typeface="Tahoma" panose="020B0604030504040204" pitchFamily="34" charset="0"/>
              </a:rPr>
              <a:t>Secure</a:t>
            </a:r>
            <a:endParaRPr lang="en-US" sz="1800" dirty="0">
              <a:latin typeface="Tahoma" panose="020B0604030504040204" pitchFamily="34" charset="0"/>
            </a:endParaRPr>
          </a:p>
        </p:txBody>
      </p:sp>
      <p:sp>
        <p:nvSpPr>
          <p:cNvPr id="20" name="Text 16"/>
          <p:cNvSpPr txBox="1"/>
          <p:nvPr/>
        </p:nvSpPr>
        <p:spPr>
          <a:xfrm>
            <a:off x="6548476" y="2221992"/>
            <a:ext cx="4884268" cy="1097280"/>
          </a:xfrm>
          <a:prstGeom prst="rect">
            <a:avLst/>
          </a:prstGeom>
          <a:noFill/>
          <a:ln/>
        </p:spPr>
        <p:txBody>
          <a:bodyPr wrap="square" lIns="0" tIns="0" rIns="0" bIns="0" rtlCol="0" anchor="t"/>
          <a:lstStyle/>
          <a:p>
            <a:pPr marL="0" indent="0">
              <a:lnSpc>
                <a:spcPct val="125000"/>
              </a:lnSpc>
              <a:buNone/>
            </a:pPr>
            <a:r>
              <a:rPr lang="en-US" sz="1300" dirty="0">
                <a:solidFill>
                  <a:srgbClr val="94A3B8"/>
                </a:solidFill>
                <a:latin typeface="Tahoma" panose="020B0604030504040204" pitchFamily="34" charset="0"/>
                <a:ea typeface="Tahoma" panose="020B0604030504040204" pitchFamily="34" charset="0"/>
                <a:cs typeface="Tahoma" panose="020B0604030504040204" pitchFamily="34" charset="0"/>
              </a:rPr>
              <a:t>Provide a secure, user-specific dashboard for tracking income, expenses and spending trends</a:t>
            </a:r>
            <a:endParaRPr lang="en-US" sz="1300" dirty="0">
              <a:latin typeface="Tahoma" panose="020B0604030504040204" pitchFamily="34" charset="0"/>
            </a:endParaRPr>
          </a:p>
        </p:txBody>
      </p:sp>
      <p:sp>
        <p:nvSpPr>
          <p:cNvPr id="21" name="Shape 17"/>
          <p:cNvSpPr/>
          <p:nvPr/>
        </p:nvSpPr>
        <p:spPr>
          <a:xfrm>
            <a:off x="502920" y="3840480"/>
            <a:ext cx="5432908" cy="2377440"/>
          </a:xfrm>
          <a:prstGeom prst="roundRect">
            <a:avLst>
              <a:gd name="adj" fmla="val 3846"/>
            </a:avLst>
          </a:prstGeom>
          <a:solidFill>
            <a:srgbClr val="121B30"/>
          </a:solidFill>
          <a:ln/>
        </p:spPr>
      </p:sp>
      <p:sp>
        <p:nvSpPr>
          <p:cNvPr id="22" name="Text 18"/>
          <p:cNvSpPr txBox="1"/>
          <p:nvPr/>
        </p:nvSpPr>
        <p:spPr>
          <a:xfrm>
            <a:off x="795528" y="4041648"/>
            <a:ext cx="1097280" cy="548640"/>
          </a:xfrm>
          <a:prstGeom prst="rect">
            <a:avLst/>
          </a:prstGeom>
          <a:noFill/>
          <a:ln/>
        </p:spPr>
        <p:txBody>
          <a:bodyPr wrap="square" lIns="0" tIns="0" rIns="0" bIns="0" rtlCol="0" anchor="ctr"/>
          <a:lstStyle/>
          <a:p>
            <a:pPr marL="0" indent="0">
              <a:buNone/>
            </a:pPr>
            <a:r>
              <a:rPr lang="en-US" sz="2600" b="1" dirty="0">
                <a:solidFill>
                  <a:schemeClr val="tx2">
                    <a:lumMod val="60000"/>
                    <a:lumOff val="40000"/>
                  </a:schemeClr>
                </a:solidFill>
                <a:latin typeface="Tahoma" panose="020B0604030504040204" pitchFamily="34" charset="0"/>
                <a:ea typeface="Tahoma" panose="020B0604030504040204" pitchFamily="34" charset="0"/>
                <a:cs typeface="Tahoma" panose="020B0604030504040204" pitchFamily="34" charset="0"/>
              </a:rPr>
              <a:t>03</a:t>
            </a:r>
            <a:endParaRPr lang="en-US" sz="2600" dirty="0">
              <a:solidFill>
                <a:schemeClr val="tx2">
                  <a:lumMod val="60000"/>
                  <a:lumOff val="40000"/>
                </a:schemeClr>
              </a:solidFill>
              <a:latin typeface="Tahoma" panose="020B0604030504040204" pitchFamily="34" charset="0"/>
            </a:endParaRPr>
          </a:p>
        </p:txBody>
      </p:sp>
      <p:sp>
        <p:nvSpPr>
          <p:cNvPr id="23" name="Shape 19"/>
          <p:cNvSpPr/>
          <p:nvPr/>
        </p:nvSpPr>
        <p:spPr>
          <a:xfrm>
            <a:off x="5067148" y="4096512"/>
            <a:ext cx="566928" cy="566928"/>
          </a:xfrm>
          <a:prstGeom prst="roundRect">
            <a:avLst>
              <a:gd name="adj" fmla="val 19355"/>
            </a:avLst>
          </a:prstGeom>
          <a:solidFill>
            <a:srgbClr val="18233C"/>
          </a:solidFill>
          <a:ln/>
        </p:spPr>
      </p:sp>
      <p:pic>
        <p:nvPicPr>
          <p:cNvPr id="24" name="Image 2" descr="/home/claude/icons/ic_bell.png"/>
          <p:cNvPicPr>
            <a:picLocks noChangeAspect="1"/>
          </p:cNvPicPr>
          <p:nvPr/>
        </p:nvPicPr>
        <p:blipFill>
          <a:blip r:embed="rId5"/>
          <a:stretch>
            <a:fillRect/>
          </a:stretch>
        </p:blipFill>
        <p:spPr>
          <a:xfrm>
            <a:off x="5204308" y="4233672"/>
            <a:ext cx="292608" cy="292608"/>
          </a:xfrm>
          <a:prstGeom prst="rect">
            <a:avLst/>
          </a:prstGeom>
        </p:spPr>
      </p:pic>
      <p:sp>
        <p:nvSpPr>
          <p:cNvPr id="25" name="Text 20"/>
          <p:cNvSpPr txBox="1"/>
          <p:nvPr/>
        </p:nvSpPr>
        <p:spPr>
          <a:xfrm>
            <a:off x="795528" y="4498848"/>
            <a:ext cx="4884268" cy="384048"/>
          </a:xfrm>
          <a:prstGeom prst="rect">
            <a:avLst/>
          </a:prstGeom>
          <a:noFill/>
          <a:ln/>
        </p:spPr>
        <p:txBody>
          <a:bodyPr wrap="square" lIns="0" tIns="0" rIns="0" bIns="0" rtlCol="0" anchor="ctr"/>
          <a:lstStyle/>
          <a:p>
            <a:pPr marL="0" indent="0">
              <a:buNone/>
            </a:pPr>
            <a:r>
              <a:rPr lang="en-US" sz="1800" b="1" dirty="0">
                <a:solidFill>
                  <a:srgbClr val="EAF0FA"/>
                </a:solidFill>
                <a:latin typeface="Tahoma" panose="020B0604030504040204" pitchFamily="34" charset="0"/>
                <a:ea typeface="Tahoma" panose="020B0604030504040204" pitchFamily="34" charset="0"/>
                <a:cs typeface="Tahoma" panose="020B0604030504040204" pitchFamily="34" charset="0"/>
              </a:rPr>
              <a:t>Monitor</a:t>
            </a:r>
            <a:endParaRPr lang="en-US" sz="1800" dirty="0">
              <a:latin typeface="Tahoma" panose="020B0604030504040204" pitchFamily="34" charset="0"/>
            </a:endParaRPr>
          </a:p>
        </p:txBody>
      </p:sp>
      <p:sp>
        <p:nvSpPr>
          <p:cNvPr id="26" name="Text 21"/>
          <p:cNvSpPr txBox="1"/>
          <p:nvPr/>
        </p:nvSpPr>
        <p:spPr>
          <a:xfrm>
            <a:off x="795528" y="4919472"/>
            <a:ext cx="4884268" cy="1097280"/>
          </a:xfrm>
          <a:prstGeom prst="rect">
            <a:avLst/>
          </a:prstGeom>
          <a:noFill/>
          <a:ln/>
        </p:spPr>
        <p:txBody>
          <a:bodyPr wrap="square" lIns="0" tIns="0" rIns="0" bIns="0" rtlCol="0" anchor="t"/>
          <a:lstStyle/>
          <a:p>
            <a:pPr marL="0" indent="0">
              <a:lnSpc>
                <a:spcPct val="125000"/>
              </a:lnSpc>
              <a:buNone/>
            </a:pPr>
            <a:r>
              <a:rPr lang="en-US" sz="1300" dirty="0">
                <a:solidFill>
                  <a:srgbClr val="94A3B8"/>
                </a:solidFill>
                <a:latin typeface="Tahoma" panose="020B0604030504040204" pitchFamily="34" charset="0"/>
                <a:ea typeface="Tahoma" panose="020B0604030504040204" pitchFamily="34" charset="0"/>
                <a:cs typeface="Tahoma" panose="020B0604030504040204" pitchFamily="34" charset="0"/>
              </a:rPr>
              <a:t>Enable budget limit setting with real-time alerts across overall and per-category spending</a:t>
            </a:r>
            <a:endParaRPr lang="en-US" sz="1300" dirty="0">
              <a:latin typeface="Tahoma" panose="020B0604030504040204" pitchFamily="34" charset="0"/>
            </a:endParaRPr>
          </a:p>
        </p:txBody>
      </p:sp>
      <p:sp>
        <p:nvSpPr>
          <p:cNvPr id="27" name="Shape 22"/>
          <p:cNvSpPr/>
          <p:nvPr/>
        </p:nvSpPr>
        <p:spPr>
          <a:xfrm>
            <a:off x="6255868" y="3840480"/>
            <a:ext cx="5432908" cy="2377440"/>
          </a:xfrm>
          <a:prstGeom prst="roundRect">
            <a:avLst>
              <a:gd name="adj" fmla="val 3846"/>
            </a:avLst>
          </a:prstGeom>
          <a:solidFill>
            <a:srgbClr val="121B30"/>
          </a:solidFill>
          <a:ln/>
        </p:spPr>
      </p:sp>
      <p:sp>
        <p:nvSpPr>
          <p:cNvPr id="28" name="Text 23"/>
          <p:cNvSpPr txBox="1"/>
          <p:nvPr/>
        </p:nvSpPr>
        <p:spPr>
          <a:xfrm>
            <a:off x="6548476" y="4041648"/>
            <a:ext cx="1097280" cy="548640"/>
          </a:xfrm>
          <a:prstGeom prst="rect">
            <a:avLst/>
          </a:prstGeom>
          <a:noFill/>
          <a:ln/>
        </p:spPr>
        <p:txBody>
          <a:bodyPr wrap="square" lIns="0" tIns="0" rIns="0" bIns="0" rtlCol="0" anchor="ctr"/>
          <a:lstStyle/>
          <a:p>
            <a:pPr marL="0" indent="0">
              <a:buNone/>
            </a:pPr>
            <a:r>
              <a:rPr lang="en-US" sz="2600" b="1" dirty="0">
                <a:solidFill>
                  <a:schemeClr val="tx2">
                    <a:lumMod val="60000"/>
                    <a:lumOff val="40000"/>
                  </a:schemeClr>
                </a:solidFill>
                <a:latin typeface="Tahoma" panose="020B0604030504040204" pitchFamily="34" charset="0"/>
                <a:ea typeface="Tahoma" panose="020B0604030504040204" pitchFamily="34" charset="0"/>
                <a:cs typeface="Tahoma" panose="020B0604030504040204" pitchFamily="34" charset="0"/>
              </a:rPr>
              <a:t>04</a:t>
            </a:r>
            <a:endParaRPr lang="en-US" sz="2600" dirty="0">
              <a:solidFill>
                <a:schemeClr val="tx2">
                  <a:lumMod val="60000"/>
                  <a:lumOff val="40000"/>
                </a:schemeClr>
              </a:solidFill>
              <a:latin typeface="Tahoma" panose="020B0604030504040204" pitchFamily="34" charset="0"/>
            </a:endParaRPr>
          </a:p>
        </p:txBody>
      </p:sp>
      <p:sp>
        <p:nvSpPr>
          <p:cNvPr id="29" name="Shape 24"/>
          <p:cNvSpPr/>
          <p:nvPr/>
        </p:nvSpPr>
        <p:spPr>
          <a:xfrm>
            <a:off x="10820095" y="4096512"/>
            <a:ext cx="566928" cy="566928"/>
          </a:xfrm>
          <a:prstGeom prst="roundRect">
            <a:avLst>
              <a:gd name="adj" fmla="val 19355"/>
            </a:avLst>
          </a:prstGeom>
          <a:solidFill>
            <a:srgbClr val="18233C"/>
          </a:solidFill>
          <a:ln/>
        </p:spPr>
      </p:sp>
      <p:pic>
        <p:nvPicPr>
          <p:cNvPr id="30" name="Image 3" descr="/home/claude/icons/ic_trendup.png"/>
          <p:cNvPicPr>
            <a:picLocks noChangeAspect="1"/>
          </p:cNvPicPr>
          <p:nvPr/>
        </p:nvPicPr>
        <p:blipFill>
          <a:blip r:embed="rId6"/>
          <a:stretch>
            <a:fillRect/>
          </a:stretch>
        </p:blipFill>
        <p:spPr>
          <a:xfrm>
            <a:off x="10957255" y="4233672"/>
            <a:ext cx="292608" cy="292608"/>
          </a:xfrm>
          <a:prstGeom prst="rect">
            <a:avLst/>
          </a:prstGeom>
        </p:spPr>
      </p:pic>
      <p:sp>
        <p:nvSpPr>
          <p:cNvPr id="31" name="Text 25"/>
          <p:cNvSpPr txBox="1"/>
          <p:nvPr/>
        </p:nvSpPr>
        <p:spPr>
          <a:xfrm>
            <a:off x="6548476" y="4498848"/>
            <a:ext cx="4884268" cy="384048"/>
          </a:xfrm>
          <a:prstGeom prst="rect">
            <a:avLst/>
          </a:prstGeom>
          <a:noFill/>
          <a:ln/>
        </p:spPr>
        <p:txBody>
          <a:bodyPr wrap="square" lIns="0" tIns="0" rIns="0" bIns="0" rtlCol="0" anchor="ctr"/>
          <a:lstStyle/>
          <a:p>
            <a:pPr marL="0" indent="0">
              <a:buNone/>
            </a:pPr>
            <a:r>
              <a:rPr lang="en-US" sz="1800" b="1" dirty="0">
                <a:solidFill>
                  <a:srgbClr val="EAF0FA"/>
                </a:solidFill>
                <a:latin typeface="Tahoma" panose="020B0604030504040204" pitchFamily="34" charset="0"/>
                <a:ea typeface="Tahoma" panose="020B0604030504040204" pitchFamily="34" charset="0"/>
                <a:cs typeface="Tahoma" panose="020B0604030504040204" pitchFamily="34" charset="0"/>
              </a:rPr>
              <a:t>Optimize</a:t>
            </a:r>
            <a:endParaRPr lang="en-US" sz="1800" dirty="0">
              <a:latin typeface="Tahoma" panose="020B0604030504040204" pitchFamily="34" charset="0"/>
            </a:endParaRPr>
          </a:p>
        </p:txBody>
      </p:sp>
      <p:sp>
        <p:nvSpPr>
          <p:cNvPr id="32" name="Text 26"/>
          <p:cNvSpPr txBox="1"/>
          <p:nvPr/>
        </p:nvSpPr>
        <p:spPr>
          <a:xfrm>
            <a:off x="6548476" y="4919472"/>
            <a:ext cx="4884268" cy="1097280"/>
          </a:xfrm>
          <a:prstGeom prst="rect">
            <a:avLst/>
          </a:prstGeom>
          <a:noFill/>
          <a:ln/>
        </p:spPr>
        <p:txBody>
          <a:bodyPr wrap="square" lIns="0" tIns="0" rIns="0" bIns="0" rtlCol="0" anchor="t"/>
          <a:lstStyle/>
          <a:p>
            <a:pPr marL="0" indent="0">
              <a:lnSpc>
                <a:spcPct val="125000"/>
              </a:lnSpc>
              <a:buNone/>
            </a:pPr>
            <a:r>
              <a:rPr lang="en-US" sz="1300" dirty="0">
                <a:solidFill>
                  <a:srgbClr val="94A3B8"/>
                </a:solidFill>
                <a:latin typeface="Tahoma" panose="020B0604030504040204" pitchFamily="34" charset="0"/>
                <a:ea typeface="Tahoma" panose="020B0604030504040204" pitchFamily="34" charset="0"/>
                <a:cs typeface="Tahoma" panose="020B0604030504040204" pitchFamily="34" charset="0"/>
              </a:rPr>
              <a:t>Generate AI-driven spending insights and personalized savings suggestions</a:t>
            </a:r>
            <a:endParaRPr lang="en-US" sz="1300" dirty="0">
              <a:latin typeface="Tahoma" panose="020B0604030504040204" pitchFamily="34" charset="0"/>
            </a:endParaRPr>
          </a:p>
        </p:txBody>
      </p:sp>
      <p:pic>
        <p:nvPicPr>
          <p:cNvPr id="35" name="Picture 34">
            <a:extLst>
              <a:ext uri="{FF2B5EF4-FFF2-40B4-BE49-F238E27FC236}">
                <a16:creationId xmlns:a16="http://schemas.microsoft.com/office/drawing/2014/main" id="{2C6D3C8A-E8A3-AB35-31A2-4DEC343E1C9F}"/>
              </a:ext>
            </a:extLst>
          </p:cNvPr>
          <p:cNvPicPr>
            <a:picLocks noChangeAspect="1"/>
          </p:cNvPicPr>
          <p:nvPr/>
        </p:nvPicPr>
        <p:blipFill>
          <a:blip r:embed="rId7"/>
          <a:srcRect r="15270" b="26538"/>
          <a:stretch>
            <a:fillRect/>
          </a:stretch>
        </p:blipFill>
        <p:spPr>
          <a:xfrm>
            <a:off x="10416983" y="236798"/>
            <a:ext cx="1440000" cy="527673"/>
          </a:xfrm>
          <a:prstGeom prst="round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F1F"/>
        </a:solidFill>
        <a:effectLst/>
      </p:bgPr>
    </p:bg>
    <p:spTree>
      <p:nvGrpSpPr>
        <p:cNvPr id="1" name=""/>
        <p:cNvGrpSpPr/>
        <p:nvPr/>
      </p:nvGrpSpPr>
      <p:grpSpPr>
        <a:xfrm>
          <a:off x="0" y="0"/>
          <a:ext cx="0" cy="0"/>
          <a:chOff x="0" y="0"/>
          <a:chExt cx="0" cy="0"/>
        </a:xfrm>
      </p:grpSpPr>
      <p:sp>
        <p:nvSpPr>
          <p:cNvPr id="2" name="Shape 0"/>
          <p:cNvSpPr/>
          <p:nvPr/>
        </p:nvSpPr>
        <p:spPr>
          <a:xfrm>
            <a:off x="10637215" y="320040"/>
            <a:ext cx="1051560" cy="384048"/>
          </a:xfrm>
          <a:prstGeom prst="roundRect">
            <a:avLst>
              <a:gd name="adj" fmla="val 14286"/>
            </a:avLst>
          </a:prstGeom>
          <a:solidFill>
            <a:srgbClr val="18233C"/>
          </a:solidFill>
          <a:ln w="9525">
            <a:solidFill>
              <a:srgbClr val="24314F"/>
            </a:solidFill>
            <a:prstDash val="dash"/>
          </a:ln>
        </p:spPr>
      </p:sp>
      <p:sp>
        <p:nvSpPr>
          <p:cNvPr id="3" name="Text 1"/>
          <p:cNvSpPr txBox="1"/>
          <p:nvPr/>
        </p:nvSpPr>
        <p:spPr>
          <a:xfrm>
            <a:off x="10637215" y="320040"/>
            <a:ext cx="1051560" cy="384048"/>
          </a:xfrm>
          <a:prstGeom prst="rect">
            <a:avLst/>
          </a:prstGeom>
          <a:noFill/>
          <a:ln/>
        </p:spPr>
        <p:txBody>
          <a:bodyPr wrap="square" lIns="0" tIns="0" rIns="0" bIns="0" rtlCol="0" anchor="ctr"/>
          <a:lstStyle/>
          <a:p>
            <a:pPr marL="0" indent="0" algn="ctr">
              <a:buNone/>
            </a:pPr>
            <a:r>
              <a:rPr lang="en-US" sz="900" b="1" dirty="0">
                <a:solidFill>
                  <a:srgbClr val="94A3B8"/>
                </a:solidFill>
                <a:latin typeface="Tahoma" panose="020B0604030504040204" pitchFamily="34" charset="0"/>
                <a:ea typeface="Tahoma" panose="020B0604030504040204" pitchFamily="34" charset="0"/>
                <a:cs typeface="Tahoma" panose="020B0604030504040204" pitchFamily="34" charset="0"/>
              </a:rPr>
              <a:t>CVV LOGO</a:t>
            </a:r>
            <a:endParaRPr lang="en-US" sz="900" dirty="0">
              <a:latin typeface="Tahoma" panose="020B0604030504040204" pitchFamily="34" charset="0"/>
            </a:endParaRPr>
          </a:p>
        </p:txBody>
      </p:sp>
      <p:sp>
        <p:nvSpPr>
          <p:cNvPr id="4" name="Text 2"/>
          <p:cNvSpPr txBox="1"/>
          <p:nvPr/>
        </p:nvSpPr>
        <p:spPr>
          <a:xfrm>
            <a:off x="502920" y="292608"/>
            <a:ext cx="9905695" cy="566928"/>
          </a:xfrm>
          <a:prstGeom prst="rect">
            <a:avLst/>
          </a:prstGeom>
          <a:noFill/>
          <a:ln/>
        </p:spPr>
        <p:txBody>
          <a:bodyPr wrap="square" lIns="0" tIns="0" rIns="0" bIns="0" rtlCol="0" anchor="ctr"/>
          <a:lstStyle/>
          <a:p>
            <a:pPr marL="0" indent="0" algn="l">
              <a:buNone/>
            </a:pPr>
            <a:r>
              <a:rPr lang="en-US" sz="3000" b="1" kern="0" spc="50" dirty="0">
                <a:solidFill>
                  <a:srgbClr val="EAF0FA"/>
                </a:solidFill>
                <a:latin typeface="Tahoma" panose="020B0604030504040204" pitchFamily="34" charset="0"/>
                <a:ea typeface="Tahoma" panose="020B0604030504040204" pitchFamily="34" charset="0"/>
                <a:cs typeface="Tahoma" panose="020B0604030504040204" pitchFamily="34" charset="0"/>
              </a:rPr>
              <a:t>Existing System</a:t>
            </a:r>
            <a:endParaRPr lang="en-US" sz="3000" dirty="0">
              <a:latin typeface="Tahoma" panose="020B0604030504040204" pitchFamily="34" charset="0"/>
            </a:endParaRPr>
          </a:p>
        </p:txBody>
      </p:sp>
      <p:sp>
        <p:nvSpPr>
          <p:cNvPr id="5" name="Text 3"/>
          <p:cNvSpPr txBox="1"/>
          <p:nvPr/>
        </p:nvSpPr>
        <p:spPr>
          <a:xfrm>
            <a:off x="502920" y="18288"/>
            <a:ext cx="5486400" cy="256032"/>
          </a:xfrm>
          <a:prstGeom prst="rect">
            <a:avLst/>
          </a:prstGeom>
          <a:noFill/>
          <a:ln/>
        </p:spPr>
        <p:txBody>
          <a:bodyPr wrap="square" lIns="0" tIns="0" rIns="0" bIns="0" rtlCol="0" anchor="ctr"/>
          <a:lstStyle/>
          <a:p>
            <a:pPr marL="0" indent="0" algn="l">
              <a:buNone/>
            </a:pPr>
            <a:r>
              <a:rPr lang="en-US" sz="1100" b="1" kern="0" spc="120" dirty="0">
                <a:solidFill>
                  <a:srgbClr val="22D3EE"/>
                </a:solidFill>
                <a:latin typeface="Tahoma" panose="020B0604030504040204" pitchFamily="34" charset="0"/>
                <a:ea typeface="Tahoma" panose="020B0604030504040204" pitchFamily="34" charset="0"/>
                <a:cs typeface="Tahoma" panose="020B0604030504040204" pitchFamily="34" charset="0"/>
              </a:rPr>
              <a:t>FRAGMENTED • MANUAL • LIMITED INTELLIGENCE</a:t>
            </a:r>
            <a:endParaRPr lang="en-US" sz="1100" dirty="0">
              <a:latin typeface="Tahoma" panose="020B0604030504040204" pitchFamily="34" charset="0"/>
            </a:endParaRPr>
          </a:p>
        </p:txBody>
      </p:sp>
      <p:sp>
        <p:nvSpPr>
          <p:cNvPr id="7" name="Text 5"/>
          <p:cNvSpPr txBox="1"/>
          <p:nvPr/>
        </p:nvSpPr>
        <p:spPr>
          <a:xfrm>
            <a:off x="11140135" y="6473952"/>
            <a:ext cx="548640" cy="274320"/>
          </a:xfrm>
          <a:prstGeom prst="rect">
            <a:avLst/>
          </a:prstGeom>
          <a:noFill/>
          <a:ln/>
        </p:spPr>
        <p:txBody>
          <a:bodyPr wrap="square" lIns="0" tIns="0" rIns="0" bIns="0" rtlCol="0" anchor="ctr"/>
          <a:lstStyle/>
          <a:p>
            <a:pPr marL="0" indent="0" algn="r">
              <a:buNone/>
            </a:pPr>
            <a:r>
              <a:rPr lang="en-US" sz="900" dirty="0">
                <a:solidFill>
                  <a:srgbClr val="5B6B85"/>
                </a:solidFill>
                <a:latin typeface="Tahoma" panose="020B0604030504040204" pitchFamily="34" charset="0"/>
                <a:ea typeface="Tahoma" panose="020B0604030504040204" pitchFamily="34" charset="0"/>
                <a:cs typeface="Tahoma" panose="020B0604030504040204" pitchFamily="34" charset="0"/>
              </a:rPr>
              <a:t>04</a:t>
            </a:r>
            <a:endParaRPr lang="en-US" sz="900" dirty="0">
              <a:latin typeface="Tahoma" panose="020B0604030504040204" pitchFamily="34" charset="0"/>
            </a:endParaRPr>
          </a:p>
        </p:txBody>
      </p:sp>
      <p:sp>
        <p:nvSpPr>
          <p:cNvPr id="8" name="Shape 6"/>
          <p:cNvSpPr/>
          <p:nvPr/>
        </p:nvSpPr>
        <p:spPr>
          <a:xfrm>
            <a:off x="502920" y="6400800"/>
            <a:ext cx="11185855" cy="0"/>
          </a:xfrm>
          <a:prstGeom prst="line">
            <a:avLst/>
          </a:prstGeom>
          <a:noFill/>
          <a:ln w="9525">
            <a:solidFill>
              <a:srgbClr val="24314F"/>
            </a:solidFill>
            <a:prstDash val="solid"/>
          </a:ln>
        </p:spPr>
      </p:sp>
      <p:sp>
        <p:nvSpPr>
          <p:cNvPr id="9" name="Shape 7"/>
          <p:cNvSpPr/>
          <p:nvPr/>
        </p:nvSpPr>
        <p:spPr>
          <a:xfrm>
            <a:off x="502920" y="1945257"/>
            <a:ext cx="2522144" cy="3351357"/>
          </a:xfrm>
          <a:prstGeom prst="roundRect">
            <a:avLst>
              <a:gd name="adj" fmla="val 3625"/>
            </a:avLst>
          </a:prstGeom>
          <a:solidFill>
            <a:srgbClr val="121B30"/>
          </a:solidFill>
          <a:ln/>
        </p:spPr>
      </p:sp>
      <p:sp>
        <p:nvSpPr>
          <p:cNvPr id="10" name="Shape 8"/>
          <p:cNvSpPr/>
          <p:nvPr/>
        </p:nvSpPr>
        <p:spPr>
          <a:xfrm>
            <a:off x="1434808" y="2311017"/>
            <a:ext cx="658368" cy="658368"/>
          </a:xfrm>
          <a:prstGeom prst="roundRect">
            <a:avLst>
              <a:gd name="adj" fmla="val 19444"/>
            </a:avLst>
          </a:prstGeom>
          <a:solidFill>
            <a:srgbClr val="0A0F1F"/>
          </a:solidFill>
          <a:ln/>
        </p:spPr>
      </p:sp>
      <p:pic>
        <p:nvPicPr>
          <p:cNvPr id="11" name="Image 0" descr="/home/claude/icons/ic_smartphone.png"/>
          <p:cNvPicPr>
            <a:picLocks noChangeAspect="1"/>
          </p:cNvPicPr>
          <p:nvPr/>
        </p:nvPicPr>
        <p:blipFill>
          <a:blip r:embed="rId3">
            <a:extLst>
              <a:ext uri="{BEBA8EAE-BF5A-486C-A8C5-ECC9F3942E4B}">
                <a14:imgProps xmlns:a14="http://schemas.microsoft.com/office/drawing/2010/main">
                  <a14:imgLayer r:embed="rId4">
                    <a14:imgEffect>
                      <a14:saturation sat="400000"/>
                    </a14:imgEffect>
                  </a14:imgLayer>
                </a14:imgProps>
              </a:ext>
            </a:extLst>
          </a:blip>
          <a:stretch>
            <a:fillRect/>
          </a:stretch>
        </p:blipFill>
        <p:spPr>
          <a:xfrm>
            <a:off x="1590256" y="2466465"/>
            <a:ext cx="347472" cy="347472"/>
          </a:xfrm>
          <a:prstGeom prst="rect">
            <a:avLst/>
          </a:prstGeom>
        </p:spPr>
      </p:pic>
      <p:sp>
        <p:nvSpPr>
          <p:cNvPr id="12" name="Text 9"/>
          <p:cNvSpPr txBox="1"/>
          <p:nvPr/>
        </p:nvSpPr>
        <p:spPr>
          <a:xfrm>
            <a:off x="704088" y="3179697"/>
            <a:ext cx="2119808" cy="594360"/>
          </a:xfrm>
          <a:prstGeom prst="rect">
            <a:avLst/>
          </a:prstGeom>
          <a:noFill/>
          <a:ln/>
        </p:spPr>
        <p:txBody>
          <a:bodyPr wrap="square" lIns="0" tIns="0" rIns="0" bIns="0" rtlCol="0" anchor="ctr"/>
          <a:lstStyle/>
          <a:p>
            <a:pPr marL="0" indent="0" algn="ctr">
              <a:buNone/>
            </a:pPr>
            <a:r>
              <a:rPr lang="en-US" sz="1500" b="1" dirty="0">
                <a:solidFill>
                  <a:srgbClr val="EAF0FA"/>
                </a:solidFill>
                <a:latin typeface="Tahoma" panose="020B0604030504040204" pitchFamily="34" charset="0"/>
                <a:ea typeface="Tahoma" panose="020B0604030504040204" pitchFamily="34" charset="0"/>
                <a:cs typeface="Tahoma" panose="020B0604030504040204" pitchFamily="34" charset="0"/>
              </a:rPr>
              <a:t>Manual Tracking Apps</a:t>
            </a:r>
            <a:endParaRPr lang="en-US" sz="1500" dirty="0">
              <a:latin typeface="Tahoma" panose="020B0604030504040204" pitchFamily="34" charset="0"/>
            </a:endParaRPr>
          </a:p>
        </p:txBody>
      </p:sp>
      <p:sp>
        <p:nvSpPr>
          <p:cNvPr id="13" name="Shape 10"/>
          <p:cNvSpPr/>
          <p:nvPr/>
        </p:nvSpPr>
        <p:spPr>
          <a:xfrm>
            <a:off x="1443952" y="3819777"/>
            <a:ext cx="640080" cy="0"/>
          </a:xfrm>
          <a:prstGeom prst="line">
            <a:avLst/>
          </a:prstGeom>
          <a:noFill/>
          <a:ln w="12700">
            <a:solidFill>
              <a:srgbClr val="24314F"/>
            </a:solidFill>
            <a:prstDash val="solid"/>
          </a:ln>
        </p:spPr>
      </p:sp>
      <p:sp>
        <p:nvSpPr>
          <p:cNvPr id="14" name="Text 11"/>
          <p:cNvSpPr txBox="1"/>
          <p:nvPr/>
        </p:nvSpPr>
        <p:spPr>
          <a:xfrm>
            <a:off x="722376" y="4002657"/>
            <a:ext cx="2083232" cy="2788920"/>
          </a:xfrm>
          <a:prstGeom prst="rect">
            <a:avLst/>
          </a:prstGeom>
          <a:noFill/>
          <a:ln/>
        </p:spPr>
        <p:txBody>
          <a:bodyPr wrap="square" lIns="0" tIns="0" rIns="0" bIns="0" rtlCol="0" anchor="t"/>
          <a:lstStyle/>
          <a:p>
            <a:pPr marL="0" indent="0" algn="ctr">
              <a:lnSpc>
                <a:spcPct val="125000"/>
              </a:lnSpc>
              <a:buNone/>
            </a:pPr>
            <a:r>
              <a:rPr lang="en-US" sz="1200" dirty="0">
                <a:solidFill>
                  <a:srgbClr val="94A3B8"/>
                </a:solidFill>
                <a:latin typeface="Tahoma" panose="020B0604030504040204" pitchFamily="34" charset="0"/>
                <a:ea typeface="Tahoma" panose="020B0604030504040204" pitchFamily="34" charset="0"/>
                <a:cs typeface="Tahoma" panose="020B0604030504040204" pitchFamily="34" charset="0"/>
              </a:rPr>
              <a:t>Manual expense tracking apps require users to enter every transaction by hand</a:t>
            </a:r>
            <a:endParaRPr lang="en-US" sz="1200" dirty="0">
              <a:latin typeface="Tahoma" panose="020B0604030504040204" pitchFamily="34" charset="0"/>
            </a:endParaRPr>
          </a:p>
        </p:txBody>
      </p:sp>
      <p:sp>
        <p:nvSpPr>
          <p:cNvPr id="15" name="Shape 12"/>
          <p:cNvSpPr/>
          <p:nvPr/>
        </p:nvSpPr>
        <p:spPr>
          <a:xfrm>
            <a:off x="3390824" y="1945257"/>
            <a:ext cx="2522144" cy="3351357"/>
          </a:xfrm>
          <a:prstGeom prst="roundRect">
            <a:avLst>
              <a:gd name="adj" fmla="val 3625"/>
            </a:avLst>
          </a:prstGeom>
          <a:solidFill>
            <a:srgbClr val="18233C"/>
          </a:solidFill>
          <a:ln/>
        </p:spPr>
      </p:sp>
      <p:sp>
        <p:nvSpPr>
          <p:cNvPr id="16" name="Shape 13"/>
          <p:cNvSpPr/>
          <p:nvPr/>
        </p:nvSpPr>
        <p:spPr>
          <a:xfrm>
            <a:off x="4322712" y="2311017"/>
            <a:ext cx="658368" cy="658368"/>
          </a:xfrm>
          <a:prstGeom prst="roundRect">
            <a:avLst>
              <a:gd name="adj" fmla="val 19444"/>
            </a:avLst>
          </a:prstGeom>
          <a:solidFill>
            <a:srgbClr val="0A0F1F"/>
          </a:solidFill>
          <a:ln/>
        </p:spPr>
      </p:sp>
      <p:pic>
        <p:nvPicPr>
          <p:cNvPr id="17" name="Image 1" descr="/home/claude/icons/ic_creditcard.png"/>
          <p:cNvPicPr>
            <a:picLocks noChangeAspect="1"/>
          </p:cNvPicPr>
          <p:nvPr/>
        </p:nvPicPr>
        <p:blipFill>
          <a:blip r:embed="rId5">
            <a:extLst>
              <a:ext uri="{BEBA8EAE-BF5A-486C-A8C5-ECC9F3942E4B}">
                <a14:imgProps xmlns:a14="http://schemas.microsoft.com/office/drawing/2010/main">
                  <a14:imgLayer r:embed="rId6">
                    <a14:imgEffect>
                      <a14:saturation sat="400000"/>
                    </a14:imgEffect>
                  </a14:imgLayer>
                </a14:imgProps>
              </a:ext>
            </a:extLst>
          </a:blip>
          <a:stretch>
            <a:fillRect/>
          </a:stretch>
        </p:blipFill>
        <p:spPr>
          <a:xfrm>
            <a:off x="4478160" y="2466465"/>
            <a:ext cx="347472" cy="347472"/>
          </a:xfrm>
          <a:prstGeom prst="rect">
            <a:avLst/>
          </a:prstGeom>
        </p:spPr>
      </p:pic>
      <p:sp>
        <p:nvSpPr>
          <p:cNvPr id="18" name="Text 14"/>
          <p:cNvSpPr txBox="1"/>
          <p:nvPr/>
        </p:nvSpPr>
        <p:spPr>
          <a:xfrm>
            <a:off x="3591992" y="3179697"/>
            <a:ext cx="2119808" cy="594360"/>
          </a:xfrm>
          <a:prstGeom prst="rect">
            <a:avLst/>
          </a:prstGeom>
          <a:noFill/>
          <a:ln/>
        </p:spPr>
        <p:txBody>
          <a:bodyPr wrap="square" lIns="0" tIns="0" rIns="0" bIns="0" rtlCol="0" anchor="ctr"/>
          <a:lstStyle/>
          <a:p>
            <a:pPr marL="0" indent="0" algn="ctr">
              <a:buNone/>
            </a:pPr>
            <a:r>
              <a:rPr lang="en-US" sz="1500" b="1" dirty="0">
                <a:solidFill>
                  <a:srgbClr val="EAF0FA"/>
                </a:solidFill>
                <a:latin typeface="Tahoma" panose="020B0604030504040204" pitchFamily="34" charset="0"/>
                <a:ea typeface="Tahoma" panose="020B0604030504040204" pitchFamily="34" charset="0"/>
                <a:cs typeface="Tahoma" panose="020B0604030504040204" pitchFamily="34" charset="0"/>
              </a:rPr>
              <a:t>Bank Apps</a:t>
            </a:r>
            <a:endParaRPr lang="en-US" sz="1500" dirty="0">
              <a:latin typeface="Tahoma" panose="020B0604030504040204" pitchFamily="34" charset="0"/>
            </a:endParaRPr>
          </a:p>
        </p:txBody>
      </p:sp>
      <p:sp>
        <p:nvSpPr>
          <p:cNvPr id="19" name="Shape 15"/>
          <p:cNvSpPr/>
          <p:nvPr/>
        </p:nvSpPr>
        <p:spPr>
          <a:xfrm>
            <a:off x="4331856" y="3819777"/>
            <a:ext cx="640080" cy="0"/>
          </a:xfrm>
          <a:prstGeom prst="line">
            <a:avLst/>
          </a:prstGeom>
          <a:noFill/>
          <a:ln w="12700">
            <a:solidFill>
              <a:srgbClr val="24314F"/>
            </a:solidFill>
            <a:prstDash val="solid"/>
          </a:ln>
        </p:spPr>
      </p:sp>
      <p:sp>
        <p:nvSpPr>
          <p:cNvPr id="20" name="Text 16"/>
          <p:cNvSpPr txBox="1"/>
          <p:nvPr/>
        </p:nvSpPr>
        <p:spPr>
          <a:xfrm>
            <a:off x="3610280" y="4002657"/>
            <a:ext cx="2083232" cy="2788920"/>
          </a:xfrm>
          <a:prstGeom prst="rect">
            <a:avLst/>
          </a:prstGeom>
          <a:noFill/>
          <a:ln/>
        </p:spPr>
        <p:txBody>
          <a:bodyPr wrap="square" lIns="0" tIns="0" rIns="0" bIns="0" rtlCol="0" anchor="t"/>
          <a:lstStyle/>
          <a:p>
            <a:pPr marL="0" indent="0" algn="ctr">
              <a:lnSpc>
                <a:spcPct val="125000"/>
              </a:lnSpc>
              <a:buNone/>
            </a:pPr>
            <a:r>
              <a:rPr lang="en-US" sz="1200" dirty="0">
                <a:solidFill>
                  <a:srgbClr val="94A3B8"/>
                </a:solidFill>
                <a:latin typeface="Tahoma" panose="020B0604030504040204" pitchFamily="34" charset="0"/>
                <a:ea typeface="Tahoma" panose="020B0604030504040204" pitchFamily="34" charset="0"/>
                <a:cs typeface="Tahoma" panose="020B0604030504040204" pitchFamily="34" charset="0"/>
              </a:rPr>
              <a:t>Bank apps show raw transaction lists without meaningful categorization or insights</a:t>
            </a:r>
            <a:endParaRPr lang="en-US" sz="1200" dirty="0">
              <a:latin typeface="Tahoma" panose="020B0604030504040204" pitchFamily="34" charset="0"/>
            </a:endParaRPr>
          </a:p>
        </p:txBody>
      </p:sp>
      <p:sp>
        <p:nvSpPr>
          <p:cNvPr id="21" name="Shape 17"/>
          <p:cNvSpPr/>
          <p:nvPr/>
        </p:nvSpPr>
        <p:spPr>
          <a:xfrm>
            <a:off x="6278728" y="1945257"/>
            <a:ext cx="2522144" cy="3351357"/>
          </a:xfrm>
          <a:prstGeom prst="roundRect">
            <a:avLst>
              <a:gd name="adj" fmla="val 3625"/>
            </a:avLst>
          </a:prstGeom>
          <a:solidFill>
            <a:srgbClr val="121B30"/>
          </a:solidFill>
          <a:ln/>
        </p:spPr>
      </p:sp>
      <p:sp>
        <p:nvSpPr>
          <p:cNvPr id="22" name="Shape 18"/>
          <p:cNvSpPr/>
          <p:nvPr/>
        </p:nvSpPr>
        <p:spPr>
          <a:xfrm>
            <a:off x="7210616" y="2311017"/>
            <a:ext cx="658368" cy="658368"/>
          </a:xfrm>
          <a:prstGeom prst="roundRect">
            <a:avLst>
              <a:gd name="adj" fmla="val 19444"/>
            </a:avLst>
          </a:prstGeom>
          <a:solidFill>
            <a:srgbClr val="0A0F1F"/>
          </a:solidFill>
          <a:ln/>
        </p:spPr>
      </p:sp>
      <p:pic>
        <p:nvPicPr>
          <p:cNvPr id="23" name="Image 2" descr="/home/claude/icons/ic_grid.png"/>
          <p:cNvPicPr>
            <a:picLocks noChangeAspect="1"/>
          </p:cNvPicPr>
          <p:nvPr/>
        </p:nvPicPr>
        <p:blipFill>
          <a:blip r:embed="rId7">
            <a:extLst>
              <a:ext uri="{BEBA8EAE-BF5A-486C-A8C5-ECC9F3942E4B}">
                <a14:imgProps xmlns:a14="http://schemas.microsoft.com/office/drawing/2010/main">
                  <a14:imgLayer r:embed="rId8">
                    <a14:imgEffect>
                      <a14:saturation sat="400000"/>
                    </a14:imgEffect>
                  </a14:imgLayer>
                </a14:imgProps>
              </a:ext>
            </a:extLst>
          </a:blip>
          <a:stretch>
            <a:fillRect/>
          </a:stretch>
        </p:blipFill>
        <p:spPr>
          <a:xfrm>
            <a:off x="7366064" y="2466465"/>
            <a:ext cx="347472" cy="347472"/>
          </a:xfrm>
          <a:prstGeom prst="rect">
            <a:avLst/>
          </a:prstGeom>
        </p:spPr>
      </p:pic>
      <p:sp>
        <p:nvSpPr>
          <p:cNvPr id="24" name="Text 19"/>
          <p:cNvSpPr txBox="1"/>
          <p:nvPr/>
        </p:nvSpPr>
        <p:spPr>
          <a:xfrm>
            <a:off x="6479896" y="3179697"/>
            <a:ext cx="2119808" cy="594360"/>
          </a:xfrm>
          <a:prstGeom prst="rect">
            <a:avLst/>
          </a:prstGeom>
          <a:noFill/>
          <a:ln/>
        </p:spPr>
        <p:txBody>
          <a:bodyPr wrap="square" lIns="0" tIns="0" rIns="0" bIns="0" rtlCol="0" anchor="ctr"/>
          <a:lstStyle/>
          <a:p>
            <a:pPr marL="0" indent="0" algn="ctr">
              <a:buNone/>
            </a:pPr>
            <a:r>
              <a:rPr lang="en-US" sz="1500" b="1" dirty="0">
                <a:solidFill>
                  <a:srgbClr val="EAF0FA"/>
                </a:solidFill>
                <a:latin typeface="Tahoma" panose="020B0604030504040204" pitchFamily="34" charset="0"/>
                <a:ea typeface="Tahoma" panose="020B0604030504040204" pitchFamily="34" charset="0"/>
                <a:cs typeface="Tahoma" panose="020B0604030504040204" pitchFamily="34" charset="0"/>
              </a:rPr>
              <a:t>Spreadsheet Tracking</a:t>
            </a:r>
            <a:endParaRPr lang="en-US" sz="1500" dirty="0">
              <a:latin typeface="Tahoma" panose="020B0604030504040204" pitchFamily="34" charset="0"/>
            </a:endParaRPr>
          </a:p>
        </p:txBody>
      </p:sp>
      <p:sp>
        <p:nvSpPr>
          <p:cNvPr id="25" name="Shape 20"/>
          <p:cNvSpPr/>
          <p:nvPr/>
        </p:nvSpPr>
        <p:spPr>
          <a:xfrm>
            <a:off x="7219760" y="3819777"/>
            <a:ext cx="640080" cy="0"/>
          </a:xfrm>
          <a:prstGeom prst="line">
            <a:avLst/>
          </a:prstGeom>
          <a:noFill/>
          <a:ln w="12700">
            <a:solidFill>
              <a:srgbClr val="24314F"/>
            </a:solidFill>
            <a:prstDash val="solid"/>
          </a:ln>
        </p:spPr>
      </p:sp>
      <p:sp>
        <p:nvSpPr>
          <p:cNvPr id="26" name="Text 21"/>
          <p:cNvSpPr txBox="1"/>
          <p:nvPr/>
        </p:nvSpPr>
        <p:spPr>
          <a:xfrm>
            <a:off x="6498184" y="4002657"/>
            <a:ext cx="2083232" cy="2788920"/>
          </a:xfrm>
          <a:prstGeom prst="rect">
            <a:avLst/>
          </a:prstGeom>
          <a:noFill/>
          <a:ln/>
        </p:spPr>
        <p:txBody>
          <a:bodyPr wrap="square" lIns="0" tIns="0" rIns="0" bIns="0" rtlCol="0" anchor="t"/>
          <a:lstStyle/>
          <a:p>
            <a:pPr marL="0" indent="0" algn="ctr">
              <a:lnSpc>
                <a:spcPct val="125000"/>
              </a:lnSpc>
              <a:buNone/>
            </a:pPr>
            <a:r>
              <a:rPr lang="en-US" sz="1200" dirty="0">
                <a:solidFill>
                  <a:srgbClr val="94A3B8"/>
                </a:solidFill>
                <a:latin typeface="Tahoma" panose="020B0604030504040204" pitchFamily="34" charset="0"/>
                <a:ea typeface="Tahoma" panose="020B0604030504040204" pitchFamily="34" charset="0"/>
                <a:cs typeface="Tahoma" panose="020B0604030504040204" pitchFamily="34" charset="0"/>
              </a:rPr>
              <a:t>Spreadsheet-based tracking is time-consuming and prone to errors</a:t>
            </a:r>
            <a:endParaRPr lang="en-US" sz="1200" dirty="0">
              <a:latin typeface="Tahoma" panose="020B0604030504040204" pitchFamily="34" charset="0"/>
            </a:endParaRPr>
          </a:p>
        </p:txBody>
      </p:sp>
      <p:sp>
        <p:nvSpPr>
          <p:cNvPr id="27" name="Shape 22"/>
          <p:cNvSpPr/>
          <p:nvPr/>
        </p:nvSpPr>
        <p:spPr>
          <a:xfrm>
            <a:off x="9166631" y="1945257"/>
            <a:ext cx="2522144" cy="3351354"/>
          </a:xfrm>
          <a:prstGeom prst="roundRect">
            <a:avLst>
              <a:gd name="adj" fmla="val 3625"/>
            </a:avLst>
          </a:prstGeom>
          <a:solidFill>
            <a:srgbClr val="18233C"/>
          </a:solidFill>
          <a:ln/>
        </p:spPr>
      </p:sp>
      <p:sp>
        <p:nvSpPr>
          <p:cNvPr id="28" name="Shape 23"/>
          <p:cNvSpPr/>
          <p:nvPr/>
        </p:nvSpPr>
        <p:spPr>
          <a:xfrm>
            <a:off x="10098519" y="2311017"/>
            <a:ext cx="658368" cy="658368"/>
          </a:xfrm>
          <a:prstGeom prst="roundRect">
            <a:avLst>
              <a:gd name="adj" fmla="val 19444"/>
            </a:avLst>
          </a:prstGeom>
          <a:solidFill>
            <a:srgbClr val="0A0F1F"/>
          </a:solidFill>
          <a:ln/>
        </p:spPr>
      </p:sp>
      <p:pic>
        <p:nvPicPr>
          <p:cNvPr id="29" name="Image 3" descr="/home/claude/icons/ic_tool.png"/>
          <p:cNvPicPr>
            <a:picLocks noChangeAspect="1"/>
          </p:cNvPicPr>
          <p:nvPr/>
        </p:nvPicPr>
        <p:blipFill>
          <a:blip r:embed="rId9">
            <a:extLst>
              <a:ext uri="{BEBA8EAE-BF5A-486C-A8C5-ECC9F3942E4B}">
                <a14:imgProps xmlns:a14="http://schemas.microsoft.com/office/drawing/2010/main">
                  <a14:imgLayer r:embed="rId10">
                    <a14:imgEffect>
                      <a14:saturation sat="400000"/>
                    </a14:imgEffect>
                  </a14:imgLayer>
                </a14:imgProps>
              </a:ext>
            </a:extLst>
          </a:blip>
          <a:stretch>
            <a:fillRect/>
          </a:stretch>
        </p:blipFill>
        <p:spPr>
          <a:xfrm>
            <a:off x="10253967" y="2466465"/>
            <a:ext cx="347472" cy="347472"/>
          </a:xfrm>
          <a:prstGeom prst="rect">
            <a:avLst/>
          </a:prstGeom>
        </p:spPr>
      </p:pic>
      <p:sp>
        <p:nvSpPr>
          <p:cNvPr id="30" name="Text 24"/>
          <p:cNvSpPr txBox="1"/>
          <p:nvPr/>
        </p:nvSpPr>
        <p:spPr>
          <a:xfrm>
            <a:off x="9367799" y="3179697"/>
            <a:ext cx="2119808" cy="594360"/>
          </a:xfrm>
          <a:prstGeom prst="rect">
            <a:avLst/>
          </a:prstGeom>
          <a:noFill/>
          <a:ln/>
        </p:spPr>
        <p:txBody>
          <a:bodyPr wrap="square" lIns="0" tIns="0" rIns="0" bIns="0" rtlCol="0" anchor="ctr"/>
          <a:lstStyle/>
          <a:p>
            <a:pPr marL="0" indent="0" algn="ctr">
              <a:buNone/>
            </a:pPr>
            <a:r>
              <a:rPr lang="en-US" sz="1500" b="1" dirty="0">
                <a:solidFill>
                  <a:srgbClr val="EAF0FA"/>
                </a:solidFill>
                <a:latin typeface="Tahoma" panose="020B0604030504040204" pitchFamily="34" charset="0"/>
                <a:ea typeface="Tahoma" panose="020B0604030504040204" pitchFamily="34" charset="0"/>
                <a:cs typeface="Tahoma" panose="020B0604030504040204" pitchFamily="34" charset="0"/>
              </a:rPr>
              <a:t>Existing Tools</a:t>
            </a:r>
            <a:endParaRPr lang="en-US" sz="1500" dirty="0">
              <a:latin typeface="Tahoma" panose="020B0604030504040204" pitchFamily="34" charset="0"/>
            </a:endParaRPr>
          </a:p>
        </p:txBody>
      </p:sp>
      <p:sp>
        <p:nvSpPr>
          <p:cNvPr id="31" name="Shape 25"/>
          <p:cNvSpPr/>
          <p:nvPr/>
        </p:nvSpPr>
        <p:spPr>
          <a:xfrm>
            <a:off x="10107663" y="3819777"/>
            <a:ext cx="640080" cy="0"/>
          </a:xfrm>
          <a:prstGeom prst="line">
            <a:avLst/>
          </a:prstGeom>
          <a:noFill/>
          <a:ln w="12700">
            <a:solidFill>
              <a:srgbClr val="24314F"/>
            </a:solidFill>
            <a:prstDash val="solid"/>
          </a:ln>
        </p:spPr>
      </p:sp>
      <p:sp>
        <p:nvSpPr>
          <p:cNvPr id="32" name="Text 26"/>
          <p:cNvSpPr txBox="1"/>
          <p:nvPr/>
        </p:nvSpPr>
        <p:spPr>
          <a:xfrm>
            <a:off x="9386087" y="4002657"/>
            <a:ext cx="2083232" cy="2788920"/>
          </a:xfrm>
          <a:prstGeom prst="rect">
            <a:avLst/>
          </a:prstGeom>
          <a:noFill/>
          <a:ln/>
        </p:spPr>
        <p:txBody>
          <a:bodyPr wrap="square" lIns="0" tIns="0" rIns="0" bIns="0" rtlCol="0" anchor="t"/>
          <a:lstStyle/>
          <a:p>
            <a:pPr marL="0" indent="0" algn="ctr">
              <a:lnSpc>
                <a:spcPct val="125000"/>
              </a:lnSpc>
              <a:buNone/>
            </a:pPr>
            <a:r>
              <a:rPr lang="en-US" sz="1200" dirty="0">
                <a:solidFill>
                  <a:srgbClr val="94A3B8"/>
                </a:solidFill>
                <a:latin typeface="Tahoma" panose="020B0604030504040204" pitchFamily="34" charset="0"/>
                <a:ea typeface="Tahoma" panose="020B0604030504040204" pitchFamily="34" charset="0"/>
                <a:cs typeface="Tahoma" panose="020B0604030504040204" pitchFamily="34" charset="0"/>
              </a:rPr>
              <a:t>Most existing tools lack automated statement parsing or AI-based categorization</a:t>
            </a:r>
            <a:endParaRPr lang="en-US" sz="1200" dirty="0">
              <a:latin typeface="Tahoma" panose="020B0604030504040204" pitchFamily="34" charset="0"/>
            </a:endParaRPr>
          </a:p>
        </p:txBody>
      </p:sp>
      <p:pic>
        <p:nvPicPr>
          <p:cNvPr id="35" name="Picture 34">
            <a:extLst>
              <a:ext uri="{FF2B5EF4-FFF2-40B4-BE49-F238E27FC236}">
                <a16:creationId xmlns:a16="http://schemas.microsoft.com/office/drawing/2014/main" id="{AF61BC3A-7603-1041-8434-1689F55BE105}"/>
              </a:ext>
            </a:extLst>
          </p:cNvPr>
          <p:cNvPicPr>
            <a:picLocks noChangeAspect="1"/>
          </p:cNvPicPr>
          <p:nvPr/>
        </p:nvPicPr>
        <p:blipFill>
          <a:blip r:embed="rId11"/>
          <a:srcRect r="15270" b="26538"/>
          <a:stretch>
            <a:fillRect/>
          </a:stretch>
        </p:blipFill>
        <p:spPr>
          <a:xfrm>
            <a:off x="10416983" y="236798"/>
            <a:ext cx="1440000" cy="527673"/>
          </a:xfrm>
          <a:prstGeom prst="round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F1F"/>
        </a:solidFill>
        <a:effectLst/>
      </p:bgPr>
    </p:bg>
    <p:spTree>
      <p:nvGrpSpPr>
        <p:cNvPr id="1" name=""/>
        <p:cNvGrpSpPr/>
        <p:nvPr/>
      </p:nvGrpSpPr>
      <p:grpSpPr>
        <a:xfrm>
          <a:off x="0" y="0"/>
          <a:ext cx="0" cy="0"/>
          <a:chOff x="0" y="0"/>
          <a:chExt cx="0" cy="0"/>
        </a:xfrm>
      </p:grpSpPr>
      <p:sp>
        <p:nvSpPr>
          <p:cNvPr id="2" name="Shape 0"/>
          <p:cNvSpPr/>
          <p:nvPr/>
        </p:nvSpPr>
        <p:spPr>
          <a:xfrm>
            <a:off x="10637215" y="320040"/>
            <a:ext cx="1051560" cy="384048"/>
          </a:xfrm>
          <a:prstGeom prst="roundRect">
            <a:avLst>
              <a:gd name="adj" fmla="val 14286"/>
            </a:avLst>
          </a:prstGeom>
          <a:solidFill>
            <a:srgbClr val="18233C"/>
          </a:solidFill>
          <a:ln w="9525">
            <a:solidFill>
              <a:srgbClr val="24314F"/>
            </a:solidFill>
            <a:prstDash val="dash"/>
          </a:ln>
        </p:spPr>
      </p:sp>
      <p:sp>
        <p:nvSpPr>
          <p:cNvPr id="3" name="Text 1"/>
          <p:cNvSpPr txBox="1"/>
          <p:nvPr/>
        </p:nvSpPr>
        <p:spPr>
          <a:xfrm>
            <a:off x="10637215" y="320040"/>
            <a:ext cx="1051560" cy="384048"/>
          </a:xfrm>
          <a:prstGeom prst="rect">
            <a:avLst/>
          </a:prstGeom>
          <a:noFill/>
          <a:ln/>
        </p:spPr>
        <p:txBody>
          <a:bodyPr wrap="square" lIns="0" tIns="0" rIns="0" bIns="0" rtlCol="0" anchor="ctr"/>
          <a:lstStyle/>
          <a:p>
            <a:pPr marL="0" indent="0" algn="ctr">
              <a:buNone/>
            </a:pPr>
            <a:r>
              <a:rPr lang="en-US" sz="900" b="1" dirty="0">
                <a:solidFill>
                  <a:srgbClr val="94A3B8"/>
                </a:solidFill>
                <a:latin typeface="Tahoma" panose="020B0604030504040204" pitchFamily="34" charset="0"/>
                <a:ea typeface="Tahoma" panose="020B0604030504040204" pitchFamily="34" charset="0"/>
                <a:cs typeface="Tahoma" panose="020B0604030504040204" pitchFamily="34" charset="0"/>
              </a:rPr>
              <a:t>CVV LOGO</a:t>
            </a:r>
            <a:endParaRPr lang="en-US" sz="900" dirty="0">
              <a:latin typeface="Tahoma" panose="020B0604030504040204" pitchFamily="34" charset="0"/>
            </a:endParaRPr>
          </a:p>
        </p:txBody>
      </p:sp>
      <p:sp>
        <p:nvSpPr>
          <p:cNvPr id="4" name="Text 2"/>
          <p:cNvSpPr txBox="1"/>
          <p:nvPr/>
        </p:nvSpPr>
        <p:spPr>
          <a:xfrm>
            <a:off x="502920" y="292608"/>
            <a:ext cx="9905695" cy="566928"/>
          </a:xfrm>
          <a:prstGeom prst="rect">
            <a:avLst/>
          </a:prstGeom>
          <a:noFill/>
          <a:ln/>
        </p:spPr>
        <p:txBody>
          <a:bodyPr wrap="square" lIns="0" tIns="0" rIns="0" bIns="0" rtlCol="0" anchor="ctr"/>
          <a:lstStyle/>
          <a:p>
            <a:pPr marL="0" indent="0" algn="l">
              <a:buNone/>
            </a:pPr>
            <a:r>
              <a:rPr lang="en-US" sz="3000" b="1" kern="0" spc="50" dirty="0">
                <a:solidFill>
                  <a:srgbClr val="EAF0FA"/>
                </a:solidFill>
                <a:latin typeface="Tahoma" panose="020B0604030504040204" pitchFamily="34" charset="0"/>
                <a:ea typeface="Tahoma" panose="020B0604030504040204" pitchFamily="34" charset="0"/>
                <a:cs typeface="Tahoma" panose="020B0604030504040204" pitchFamily="34" charset="0"/>
              </a:rPr>
              <a:t>Disadvantages</a:t>
            </a:r>
            <a:endParaRPr lang="en-US" sz="3000" dirty="0">
              <a:latin typeface="Tahoma" panose="020B0604030504040204" pitchFamily="34" charset="0"/>
            </a:endParaRPr>
          </a:p>
        </p:txBody>
      </p:sp>
      <p:sp>
        <p:nvSpPr>
          <p:cNvPr id="5" name="Text 3"/>
          <p:cNvSpPr txBox="1"/>
          <p:nvPr/>
        </p:nvSpPr>
        <p:spPr>
          <a:xfrm>
            <a:off x="502920" y="18288"/>
            <a:ext cx="5486400" cy="256032"/>
          </a:xfrm>
          <a:prstGeom prst="rect">
            <a:avLst/>
          </a:prstGeom>
          <a:noFill/>
          <a:ln/>
        </p:spPr>
        <p:txBody>
          <a:bodyPr wrap="square" lIns="0" tIns="0" rIns="0" bIns="0" rtlCol="0" anchor="ctr"/>
          <a:lstStyle/>
          <a:p>
            <a:pPr marL="0" indent="0" algn="l">
              <a:buNone/>
            </a:pPr>
            <a:r>
              <a:rPr lang="en-US" sz="1100" b="1" kern="0" spc="120" dirty="0">
                <a:solidFill>
                  <a:srgbClr val="22D3EE"/>
                </a:solidFill>
                <a:latin typeface="Tahoma" panose="020B0604030504040204" pitchFamily="34" charset="0"/>
                <a:ea typeface="Tahoma" panose="020B0604030504040204" pitchFamily="34" charset="0"/>
                <a:cs typeface="Tahoma" panose="020B0604030504040204" pitchFamily="34" charset="0"/>
              </a:rPr>
              <a:t>LIMITATIONS OF THE CURRENT APPROACH</a:t>
            </a:r>
            <a:endParaRPr lang="en-US" sz="1100" dirty="0">
              <a:latin typeface="Tahoma" panose="020B0604030504040204" pitchFamily="34" charset="0"/>
            </a:endParaRPr>
          </a:p>
        </p:txBody>
      </p:sp>
      <p:sp>
        <p:nvSpPr>
          <p:cNvPr id="7" name="Text 5"/>
          <p:cNvSpPr txBox="1"/>
          <p:nvPr/>
        </p:nvSpPr>
        <p:spPr>
          <a:xfrm>
            <a:off x="11140135" y="6473952"/>
            <a:ext cx="548640" cy="274320"/>
          </a:xfrm>
          <a:prstGeom prst="rect">
            <a:avLst/>
          </a:prstGeom>
          <a:noFill/>
          <a:ln/>
        </p:spPr>
        <p:txBody>
          <a:bodyPr wrap="square" lIns="0" tIns="0" rIns="0" bIns="0" rtlCol="0" anchor="ctr"/>
          <a:lstStyle/>
          <a:p>
            <a:pPr marL="0" indent="0" algn="r">
              <a:buNone/>
            </a:pPr>
            <a:r>
              <a:rPr lang="en-US" sz="900" dirty="0">
                <a:solidFill>
                  <a:srgbClr val="5B6B85"/>
                </a:solidFill>
                <a:latin typeface="Tahoma" panose="020B0604030504040204" pitchFamily="34" charset="0"/>
                <a:ea typeface="Tahoma" panose="020B0604030504040204" pitchFamily="34" charset="0"/>
                <a:cs typeface="Tahoma" panose="020B0604030504040204" pitchFamily="34" charset="0"/>
              </a:rPr>
              <a:t>05</a:t>
            </a:r>
            <a:endParaRPr lang="en-US" sz="900" dirty="0">
              <a:latin typeface="Tahoma" panose="020B0604030504040204" pitchFamily="34" charset="0"/>
            </a:endParaRPr>
          </a:p>
        </p:txBody>
      </p:sp>
      <p:sp>
        <p:nvSpPr>
          <p:cNvPr id="8" name="Shape 6"/>
          <p:cNvSpPr/>
          <p:nvPr/>
        </p:nvSpPr>
        <p:spPr>
          <a:xfrm>
            <a:off x="502920" y="6400800"/>
            <a:ext cx="11185855" cy="0"/>
          </a:xfrm>
          <a:prstGeom prst="line">
            <a:avLst/>
          </a:prstGeom>
          <a:noFill/>
          <a:ln w="9525">
            <a:solidFill>
              <a:srgbClr val="24314F"/>
            </a:solidFill>
            <a:prstDash val="solid"/>
          </a:ln>
        </p:spPr>
      </p:sp>
      <p:sp>
        <p:nvSpPr>
          <p:cNvPr id="9" name="Shape 7"/>
          <p:cNvSpPr/>
          <p:nvPr/>
        </p:nvSpPr>
        <p:spPr>
          <a:xfrm>
            <a:off x="502920" y="1143000"/>
            <a:ext cx="5432908" cy="2377440"/>
          </a:xfrm>
          <a:prstGeom prst="roundRect">
            <a:avLst>
              <a:gd name="adj" fmla="val 3846"/>
            </a:avLst>
          </a:prstGeom>
          <a:solidFill>
            <a:srgbClr val="121B30"/>
          </a:solidFill>
          <a:ln/>
        </p:spPr>
      </p:sp>
      <p:sp>
        <p:nvSpPr>
          <p:cNvPr id="10" name="Shape 8"/>
          <p:cNvSpPr/>
          <p:nvPr/>
        </p:nvSpPr>
        <p:spPr>
          <a:xfrm>
            <a:off x="777240" y="1580188"/>
            <a:ext cx="502920" cy="502920"/>
          </a:xfrm>
          <a:prstGeom prst="ellipse">
            <a:avLst/>
          </a:prstGeom>
          <a:solidFill>
            <a:srgbClr val="18233C"/>
          </a:solidFill>
          <a:ln w="15875">
            <a:solidFill>
              <a:srgbClr val="F5A524"/>
            </a:solidFill>
            <a:prstDash val="solid"/>
          </a:ln>
        </p:spPr>
      </p:sp>
      <p:sp>
        <p:nvSpPr>
          <p:cNvPr id="11" name="Text 9"/>
          <p:cNvSpPr txBox="1"/>
          <p:nvPr/>
        </p:nvSpPr>
        <p:spPr>
          <a:xfrm>
            <a:off x="777240" y="1580188"/>
            <a:ext cx="502920" cy="502920"/>
          </a:xfrm>
          <a:prstGeom prst="rect">
            <a:avLst/>
          </a:prstGeom>
          <a:noFill/>
          <a:ln/>
        </p:spPr>
        <p:txBody>
          <a:bodyPr wrap="square" lIns="0" tIns="0" rIns="0" bIns="0" rtlCol="0" anchor="ctr"/>
          <a:lstStyle/>
          <a:p>
            <a:pPr marL="0" indent="0" algn="ctr">
              <a:buNone/>
            </a:pPr>
            <a:r>
              <a:rPr lang="en-US" sz="1430" b="1" dirty="0">
                <a:solidFill>
                  <a:srgbClr val="F5A524"/>
                </a:solidFill>
                <a:latin typeface="Tahoma" panose="020B0604030504040204" pitchFamily="34" charset="0"/>
                <a:ea typeface="Tahoma" panose="020B0604030504040204" pitchFamily="34" charset="0"/>
                <a:cs typeface="Tahoma" panose="020B0604030504040204" pitchFamily="34" charset="0"/>
              </a:rPr>
              <a:t>01</a:t>
            </a:r>
            <a:endParaRPr lang="en-US" sz="1430" dirty="0">
              <a:latin typeface="Tahoma" panose="020B0604030504040204" pitchFamily="34" charset="0"/>
            </a:endParaRPr>
          </a:p>
        </p:txBody>
      </p:sp>
      <p:pic>
        <p:nvPicPr>
          <p:cNvPr id="12" name="Image 0" descr="/home/claude/icons/ic_alert.png"/>
          <p:cNvPicPr>
            <a:picLocks noChangeAspect="1"/>
          </p:cNvPicPr>
          <p:nvPr/>
        </p:nvPicPr>
        <p:blipFill>
          <a:blip r:embed="rId3"/>
          <a:stretch>
            <a:fillRect/>
          </a:stretch>
        </p:blipFill>
        <p:spPr>
          <a:xfrm>
            <a:off x="5250028" y="1616764"/>
            <a:ext cx="310896" cy="310896"/>
          </a:xfrm>
          <a:prstGeom prst="rect">
            <a:avLst/>
          </a:prstGeom>
        </p:spPr>
      </p:pic>
      <p:sp>
        <p:nvSpPr>
          <p:cNvPr id="13" name="Text 10"/>
          <p:cNvSpPr txBox="1"/>
          <p:nvPr/>
        </p:nvSpPr>
        <p:spPr>
          <a:xfrm>
            <a:off x="1463040" y="1598476"/>
            <a:ext cx="3695548" cy="502920"/>
          </a:xfrm>
          <a:prstGeom prst="rect">
            <a:avLst/>
          </a:prstGeom>
          <a:noFill/>
          <a:ln/>
        </p:spPr>
        <p:txBody>
          <a:bodyPr wrap="square" lIns="0" tIns="0" rIns="0" bIns="0" rtlCol="0" anchor="ctr"/>
          <a:lstStyle/>
          <a:p>
            <a:pPr marL="0" indent="0">
              <a:buNone/>
            </a:pPr>
            <a:r>
              <a:rPr lang="en-US" sz="1600" b="1" dirty="0">
                <a:solidFill>
                  <a:srgbClr val="EAF0FA"/>
                </a:solidFill>
                <a:latin typeface="Tahoma" panose="020B0604030504040204" pitchFamily="34" charset="0"/>
                <a:ea typeface="Tahoma" panose="020B0604030504040204" pitchFamily="34" charset="0"/>
                <a:cs typeface="Tahoma" panose="020B0604030504040204" pitchFamily="34" charset="0"/>
              </a:rPr>
              <a:t>High Manual Effort</a:t>
            </a:r>
            <a:endParaRPr lang="en-US" sz="1600" dirty="0">
              <a:latin typeface="Tahoma" panose="020B0604030504040204" pitchFamily="34" charset="0"/>
            </a:endParaRPr>
          </a:p>
        </p:txBody>
      </p:sp>
      <p:sp>
        <p:nvSpPr>
          <p:cNvPr id="14" name="Text 11"/>
          <p:cNvSpPr txBox="1"/>
          <p:nvPr/>
        </p:nvSpPr>
        <p:spPr>
          <a:xfrm>
            <a:off x="795528" y="2284276"/>
            <a:ext cx="4847692" cy="1234440"/>
          </a:xfrm>
          <a:prstGeom prst="rect">
            <a:avLst/>
          </a:prstGeom>
          <a:noFill/>
          <a:ln/>
        </p:spPr>
        <p:txBody>
          <a:bodyPr wrap="square" lIns="0" tIns="0" rIns="0" bIns="0" rtlCol="0" anchor="t"/>
          <a:lstStyle/>
          <a:p>
            <a:pPr marL="0" indent="0">
              <a:lnSpc>
                <a:spcPct val="125000"/>
              </a:lnSpc>
              <a:buNone/>
            </a:pPr>
            <a:r>
              <a:rPr lang="en-US" sz="1300" dirty="0">
                <a:solidFill>
                  <a:srgbClr val="94A3B8"/>
                </a:solidFill>
                <a:latin typeface="Tahoma" panose="020B0604030504040204" pitchFamily="34" charset="0"/>
                <a:ea typeface="Tahoma" panose="020B0604030504040204" pitchFamily="34" charset="0"/>
                <a:cs typeface="Tahoma" panose="020B0604030504040204" pitchFamily="34" charset="0"/>
              </a:rPr>
              <a:t>High manual effort discourages consistent tracking, leading to inaccurate records</a:t>
            </a:r>
            <a:endParaRPr lang="en-US" sz="1300" dirty="0">
              <a:latin typeface="Tahoma" panose="020B0604030504040204" pitchFamily="34" charset="0"/>
            </a:endParaRPr>
          </a:p>
        </p:txBody>
      </p:sp>
      <p:sp>
        <p:nvSpPr>
          <p:cNvPr id="15" name="Shape 12"/>
          <p:cNvSpPr/>
          <p:nvPr/>
        </p:nvSpPr>
        <p:spPr>
          <a:xfrm>
            <a:off x="6255868" y="1143000"/>
            <a:ext cx="5432908" cy="2377440"/>
          </a:xfrm>
          <a:prstGeom prst="roundRect">
            <a:avLst>
              <a:gd name="adj" fmla="val 3846"/>
            </a:avLst>
          </a:prstGeom>
          <a:solidFill>
            <a:srgbClr val="121B30"/>
          </a:solidFill>
          <a:ln/>
        </p:spPr>
      </p:sp>
      <p:sp>
        <p:nvSpPr>
          <p:cNvPr id="16" name="Shape 13"/>
          <p:cNvSpPr/>
          <p:nvPr/>
        </p:nvSpPr>
        <p:spPr>
          <a:xfrm>
            <a:off x="6530188" y="1580188"/>
            <a:ext cx="502920" cy="502920"/>
          </a:xfrm>
          <a:prstGeom prst="ellipse">
            <a:avLst/>
          </a:prstGeom>
          <a:solidFill>
            <a:srgbClr val="18233C"/>
          </a:solidFill>
          <a:ln w="15875">
            <a:solidFill>
              <a:srgbClr val="F5A524"/>
            </a:solidFill>
            <a:prstDash val="solid"/>
          </a:ln>
        </p:spPr>
      </p:sp>
      <p:sp>
        <p:nvSpPr>
          <p:cNvPr id="17" name="Text 14"/>
          <p:cNvSpPr txBox="1"/>
          <p:nvPr/>
        </p:nvSpPr>
        <p:spPr>
          <a:xfrm>
            <a:off x="6530188" y="1580188"/>
            <a:ext cx="502920" cy="502920"/>
          </a:xfrm>
          <a:prstGeom prst="rect">
            <a:avLst/>
          </a:prstGeom>
          <a:noFill/>
          <a:ln/>
        </p:spPr>
        <p:txBody>
          <a:bodyPr wrap="square" lIns="0" tIns="0" rIns="0" bIns="0" rtlCol="0" anchor="ctr"/>
          <a:lstStyle/>
          <a:p>
            <a:pPr marL="0" indent="0" algn="ctr">
              <a:buNone/>
            </a:pPr>
            <a:r>
              <a:rPr lang="en-US" sz="1430" b="1" dirty="0">
                <a:solidFill>
                  <a:srgbClr val="F5A524"/>
                </a:solidFill>
                <a:latin typeface="Tahoma" panose="020B0604030504040204" pitchFamily="34" charset="0"/>
                <a:ea typeface="Tahoma" panose="020B0604030504040204" pitchFamily="34" charset="0"/>
                <a:cs typeface="Tahoma" panose="020B0604030504040204" pitchFamily="34" charset="0"/>
              </a:rPr>
              <a:t>02</a:t>
            </a:r>
            <a:endParaRPr lang="en-US" sz="1430" dirty="0">
              <a:latin typeface="Tahoma" panose="020B0604030504040204" pitchFamily="34" charset="0"/>
            </a:endParaRPr>
          </a:p>
        </p:txBody>
      </p:sp>
      <p:pic>
        <p:nvPicPr>
          <p:cNvPr id="18" name="Image 1" descr="/home/claude/icons/ic_alert.png"/>
          <p:cNvPicPr>
            <a:picLocks noChangeAspect="1"/>
          </p:cNvPicPr>
          <p:nvPr/>
        </p:nvPicPr>
        <p:blipFill>
          <a:blip r:embed="rId3"/>
          <a:stretch>
            <a:fillRect/>
          </a:stretch>
        </p:blipFill>
        <p:spPr>
          <a:xfrm>
            <a:off x="11002975" y="1616764"/>
            <a:ext cx="310896" cy="310896"/>
          </a:xfrm>
          <a:prstGeom prst="rect">
            <a:avLst/>
          </a:prstGeom>
        </p:spPr>
      </p:pic>
      <p:sp>
        <p:nvSpPr>
          <p:cNvPr id="19" name="Text 15"/>
          <p:cNvSpPr txBox="1"/>
          <p:nvPr/>
        </p:nvSpPr>
        <p:spPr>
          <a:xfrm>
            <a:off x="7215988" y="1598476"/>
            <a:ext cx="3695548" cy="502920"/>
          </a:xfrm>
          <a:prstGeom prst="rect">
            <a:avLst/>
          </a:prstGeom>
          <a:noFill/>
          <a:ln/>
        </p:spPr>
        <p:txBody>
          <a:bodyPr wrap="square" lIns="0" tIns="0" rIns="0" bIns="0" rtlCol="0" anchor="ctr"/>
          <a:lstStyle/>
          <a:p>
            <a:pPr marL="0" indent="0">
              <a:buNone/>
            </a:pPr>
            <a:r>
              <a:rPr lang="en-US" sz="1600" b="1" dirty="0">
                <a:solidFill>
                  <a:srgbClr val="EAF0FA"/>
                </a:solidFill>
                <a:latin typeface="Tahoma" panose="020B0604030504040204" pitchFamily="34" charset="0"/>
                <a:ea typeface="Tahoma" panose="020B0604030504040204" pitchFamily="34" charset="0"/>
                <a:cs typeface="Tahoma" panose="020B0604030504040204" pitchFamily="34" charset="0"/>
              </a:rPr>
              <a:t>No Automatic Categorization</a:t>
            </a:r>
            <a:endParaRPr lang="en-US" sz="1600" dirty="0">
              <a:latin typeface="Tahoma" panose="020B0604030504040204" pitchFamily="34" charset="0"/>
            </a:endParaRPr>
          </a:p>
        </p:txBody>
      </p:sp>
      <p:sp>
        <p:nvSpPr>
          <p:cNvPr id="20" name="Text 16"/>
          <p:cNvSpPr txBox="1"/>
          <p:nvPr/>
        </p:nvSpPr>
        <p:spPr>
          <a:xfrm>
            <a:off x="6548476" y="2284276"/>
            <a:ext cx="4847692" cy="1234440"/>
          </a:xfrm>
          <a:prstGeom prst="rect">
            <a:avLst/>
          </a:prstGeom>
          <a:noFill/>
          <a:ln/>
        </p:spPr>
        <p:txBody>
          <a:bodyPr wrap="square" lIns="0" tIns="0" rIns="0" bIns="0" rtlCol="0" anchor="t"/>
          <a:lstStyle/>
          <a:p>
            <a:pPr marL="0" indent="0">
              <a:lnSpc>
                <a:spcPct val="125000"/>
              </a:lnSpc>
              <a:buNone/>
            </a:pPr>
            <a:r>
              <a:rPr lang="en-US" sz="1300" dirty="0">
                <a:solidFill>
                  <a:srgbClr val="94A3B8"/>
                </a:solidFill>
                <a:latin typeface="Tahoma" panose="020B0604030504040204" pitchFamily="34" charset="0"/>
                <a:ea typeface="Tahoma" panose="020B0604030504040204" pitchFamily="34" charset="0"/>
                <a:cs typeface="Tahoma" panose="020B0604030504040204" pitchFamily="34" charset="0"/>
              </a:rPr>
              <a:t>No automatic categorization means users must label every transaction themselves</a:t>
            </a:r>
            <a:endParaRPr lang="en-US" sz="1300" dirty="0">
              <a:latin typeface="Tahoma" panose="020B0604030504040204" pitchFamily="34" charset="0"/>
            </a:endParaRPr>
          </a:p>
        </p:txBody>
      </p:sp>
      <p:sp>
        <p:nvSpPr>
          <p:cNvPr id="21" name="Shape 17"/>
          <p:cNvSpPr/>
          <p:nvPr/>
        </p:nvSpPr>
        <p:spPr>
          <a:xfrm>
            <a:off x="502920" y="3840480"/>
            <a:ext cx="5432908" cy="2377440"/>
          </a:xfrm>
          <a:prstGeom prst="roundRect">
            <a:avLst>
              <a:gd name="adj" fmla="val 3846"/>
            </a:avLst>
          </a:prstGeom>
          <a:solidFill>
            <a:srgbClr val="121B30"/>
          </a:solidFill>
          <a:ln/>
        </p:spPr>
      </p:sp>
      <p:sp>
        <p:nvSpPr>
          <p:cNvPr id="22" name="Shape 18"/>
          <p:cNvSpPr/>
          <p:nvPr/>
        </p:nvSpPr>
        <p:spPr>
          <a:xfrm>
            <a:off x="777240" y="4251789"/>
            <a:ext cx="502920" cy="502920"/>
          </a:xfrm>
          <a:prstGeom prst="ellipse">
            <a:avLst/>
          </a:prstGeom>
          <a:solidFill>
            <a:srgbClr val="18233C"/>
          </a:solidFill>
          <a:ln w="15875">
            <a:solidFill>
              <a:srgbClr val="F5A524"/>
            </a:solidFill>
            <a:prstDash val="solid"/>
          </a:ln>
        </p:spPr>
      </p:sp>
      <p:sp>
        <p:nvSpPr>
          <p:cNvPr id="23" name="Text 19"/>
          <p:cNvSpPr txBox="1"/>
          <p:nvPr/>
        </p:nvSpPr>
        <p:spPr>
          <a:xfrm>
            <a:off x="777240" y="4251789"/>
            <a:ext cx="502920" cy="502920"/>
          </a:xfrm>
          <a:prstGeom prst="rect">
            <a:avLst/>
          </a:prstGeom>
          <a:noFill/>
          <a:ln/>
        </p:spPr>
        <p:txBody>
          <a:bodyPr wrap="square" lIns="0" tIns="0" rIns="0" bIns="0" rtlCol="0" anchor="ctr"/>
          <a:lstStyle/>
          <a:p>
            <a:pPr marL="0" indent="0" algn="ctr">
              <a:buNone/>
            </a:pPr>
            <a:r>
              <a:rPr lang="en-US" sz="1430" b="1" dirty="0">
                <a:solidFill>
                  <a:srgbClr val="F5A524"/>
                </a:solidFill>
                <a:latin typeface="Tahoma" panose="020B0604030504040204" pitchFamily="34" charset="0"/>
                <a:ea typeface="Tahoma" panose="020B0604030504040204" pitchFamily="34" charset="0"/>
                <a:cs typeface="Tahoma" panose="020B0604030504040204" pitchFamily="34" charset="0"/>
              </a:rPr>
              <a:t>03</a:t>
            </a:r>
            <a:endParaRPr lang="en-US" sz="1430" dirty="0">
              <a:latin typeface="Tahoma" panose="020B0604030504040204" pitchFamily="34" charset="0"/>
            </a:endParaRPr>
          </a:p>
        </p:txBody>
      </p:sp>
      <p:pic>
        <p:nvPicPr>
          <p:cNvPr id="24" name="Image 2" descr="/home/claude/icons/ic_alert.png"/>
          <p:cNvPicPr>
            <a:picLocks noChangeAspect="1"/>
          </p:cNvPicPr>
          <p:nvPr/>
        </p:nvPicPr>
        <p:blipFill>
          <a:blip r:embed="rId3"/>
          <a:stretch>
            <a:fillRect/>
          </a:stretch>
        </p:blipFill>
        <p:spPr>
          <a:xfrm>
            <a:off x="5250028" y="4288365"/>
            <a:ext cx="310896" cy="310896"/>
          </a:xfrm>
          <a:prstGeom prst="rect">
            <a:avLst/>
          </a:prstGeom>
        </p:spPr>
      </p:pic>
      <p:sp>
        <p:nvSpPr>
          <p:cNvPr id="25" name="Text 20"/>
          <p:cNvSpPr txBox="1"/>
          <p:nvPr/>
        </p:nvSpPr>
        <p:spPr>
          <a:xfrm>
            <a:off x="1463040" y="4270077"/>
            <a:ext cx="3695548" cy="502920"/>
          </a:xfrm>
          <a:prstGeom prst="rect">
            <a:avLst/>
          </a:prstGeom>
          <a:noFill/>
          <a:ln/>
        </p:spPr>
        <p:txBody>
          <a:bodyPr wrap="square" lIns="0" tIns="0" rIns="0" bIns="0" rtlCol="0" anchor="ctr"/>
          <a:lstStyle/>
          <a:p>
            <a:pPr marL="0" indent="0">
              <a:buNone/>
            </a:pPr>
            <a:r>
              <a:rPr lang="en-US" sz="1600" b="1" dirty="0">
                <a:solidFill>
                  <a:srgbClr val="EAF0FA"/>
                </a:solidFill>
                <a:latin typeface="Tahoma" panose="020B0604030504040204" pitchFamily="34" charset="0"/>
                <a:ea typeface="Tahoma" panose="020B0604030504040204" pitchFamily="34" charset="0"/>
                <a:cs typeface="Tahoma" panose="020B0604030504040204" pitchFamily="34" charset="0"/>
              </a:rPr>
              <a:t>Limited Personalization</a:t>
            </a:r>
            <a:endParaRPr lang="en-US" sz="1600" dirty="0">
              <a:latin typeface="Tahoma" panose="020B0604030504040204" pitchFamily="34" charset="0"/>
            </a:endParaRPr>
          </a:p>
        </p:txBody>
      </p:sp>
      <p:sp>
        <p:nvSpPr>
          <p:cNvPr id="26" name="Text 21"/>
          <p:cNvSpPr txBox="1"/>
          <p:nvPr/>
        </p:nvSpPr>
        <p:spPr>
          <a:xfrm>
            <a:off x="795528" y="4955877"/>
            <a:ext cx="4847692" cy="1234440"/>
          </a:xfrm>
          <a:prstGeom prst="rect">
            <a:avLst/>
          </a:prstGeom>
          <a:noFill/>
          <a:ln/>
        </p:spPr>
        <p:txBody>
          <a:bodyPr wrap="square" lIns="0" tIns="0" rIns="0" bIns="0" rtlCol="0" anchor="t"/>
          <a:lstStyle/>
          <a:p>
            <a:pPr marL="0" indent="0">
              <a:lnSpc>
                <a:spcPct val="125000"/>
              </a:lnSpc>
              <a:buNone/>
            </a:pPr>
            <a:r>
              <a:rPr lang="en-US" sz="1300" dirty="0">
                <a:solidFill>
                  <a:srgbClr val="94A3B8"/>
                </a:solidFill>
                <a:latin typeface="Tahoma" panose="020B0604030504040204" pitchFamily="34" charset="0"/>
                <a:ea typeface="Tahoma" panose="020B0604030504040204" pitchFamily="34" charset="0"/>
                <a:cs typeface="Tahoma" panose="020B0604030504040204" pitchFamily="34" charset="0"/>
              </a:rPr>
              <a:t>Little to no personalized insight into spending behavior or savings opportunities</a:t>
            </a:r>
            <a:endParaRPr lang="en-US" sz="1300" dirty="0">
              <a:latin typeface="Tahoma" panose="020B0604030504040204" pitchFamily="34" charset="0"/>
            </a:endParaRPr>
          </a:p>
        </p:txBody>
      </p:sp>
      <p:sp>
        <p:nvSpPr>
          <p:cNvPr id="27" name="Shape 22"/>
          <p:cNvSpPr/>
          <p:nvPr/>
        </p:nvSpPr>
        <p:spPr>
          <a:xfrm>
            <a:off x="6255868" y="3840480"/>
            <a:ext cx="5432908" cy="2377440"/>
          </a:xfrm>
          <a:prstGeom prst="roundRect">
            <a:avLst>
              <a:gd name="adj" fmla="val 3846"/>
            </a:avLst>
          </a:prstGeom>
          <a:solidFill>
            <a:srgbClr val="121B30"/>
          </a:solidFill>
          <a:ln/>
        </p:spPr>
      </p:sp>
      <p:sp>
        <p:nvSpPr>
          <p:cNvPr id="28" name="Shape 23"/>
          <p:cNvSpPr/>
          <p:nvPr/>
        </p:nvSpPr>
        <p:spPr>
          <a:xfrm>
            <a:off x="6530188" y="4251789"/>
            <a:ext cx="502920" cy="502920"/>
          </a:xfrm>
          <a:prstGeom prst="ellipse">
            <a:avLst/>
          </a:prstGeom>
          <a:solidFill>
            <a:srgbClr val="18233C"/>
          </a:solidFill>
          <a:ln w="15875">
            <a:solidFill>
              <a:srgbClr val="F5A524"/>
            </a:solidFill>
            <a:prstDash val="solid"/>
          </a:ln>
        </p:spPr>
      </p:sp>
      <p:sp>
        <p:nvSpPr>
          <p:cNvPr id="29" name="Text 24"/>
          <p:cNvSpPr txBox="1"/>
          <p:nvPr/>
        </p:nvSpPr>
        <p:spPr>
          <a:xfrm>
            <a:off x="6530188" y="4251789"/>
            <a:ext cx="502920" cy="502920"/>
          </a:xfrm>
          <a:prstGeom prst="rect">
            <a:avLst/>
          </a:prstGeom>
          <a:noFill/>
          <a:ln/>
        </p:spPr>
        <p:txBody>
          <a:bodyPr wrap="square" lIns="0" tIns="0" rIns="0" bIns="0" rtlCol="0" anchor="ctr"/>
          <a:lstStyle/>
          <a:p>
            <a:pPr marL="0" indent="0" algn="ctr">
              <a:buNone/>
            </a:pPr>
            <a:r>
              <a:rPr lang="en-US" sz="1430" b="1" dirty="0">
                <a:solidFill>
                  <a:srgbClr val="F5A524"/>
                </a:solidFill>
                <a:latin typeface="Tahoma" panose="020B0604030504040204" pitchFamily="34" charset="0"/>
                <a:ea typeface="Tahoma" panose="020B0604030504040204" pitchFamily="34" charset="0"/>
                <a:cs typeface="Tahoma" panose="020B0604030504040204" pitchFamily="34" charset="0"/>
              </a:rPr>
              <a:t>04</a:t>
            </a:r>
            <a:endParaRPr lang="en-US" sz="1430" dirty="0">
              <a:latin typeface="Tahoma" panose="020B0604030504040204" pitchFamily="34" charset="0"/>
            </a:endParaRPr>
          </a:p>
        </p:txBody>
      </p:sp>
      <p:pic>
        <p:nvPicPr>
          <p:cNvPr id="30" name="Image 3" descr="/home/claude/icons/ic_alert.png"/>
          <p:cNvPicPr>
            <a:picLocks noChangeAspect="1"/>
          </p:cNvPicPr>
          <p:nvPr/>
        </p:nvPicPr>
        <p:blipFill>
          <a:blip r:embed="rId3"/>
          <a:stretch>
            <a:fillRect/>
          </a:stretch>
        </p:blipFill>
        <p:spPr>
          <a:xfrm>
            <a:off x="11002975" y="4288365"/>
            <a:ext cx="310896" cy="310896"/>
          </a:xfrm>
          <a:prstGeom prst="rect">
            <a:avLst/>
          </a:prstGeom>
        </p:spPr>
      </p:pic>
      <p:sp>
        <p:nvSpPr>
          <p:cNvPr id="31" name="Text 25"/>
          <p:cNvSpPr txBox="1"/>
          <p:nvPr/>
        </p:nvSpPr>
        <p:spPr>
          <a:xfrm>
            <a:off x="7215988" y="4270077"/>
            <a:ext cx="3695548" cy="502920"/>
          </a:xfrm>
          <a:prstGeom prst="rect">
            <a:avLst/>
          </a:prstGeom>
          <a:noFill/>
          <a:ln/>
        </p:spPr>
        <p:txBody>
          <a:bodyPr wrap="square" lIns="0" tIns="0" rIns="0" bIns="0" rtlCol="0" anchor="ctr"/>
          <a:lstStyle/>
          <a:p>
            <a:pPr marL="0" indent="0">
              <a:buNone/>
            </a:pPr>
            <a:r>
              <a:rPr lang="en-US" sz="1600" b="1" dirty="0">
                <a:solidFill>
                  <a:srgbClr val="EAF0FA"/>
                </a:solidFill>
                <a:latin typeface="Tahoma" panose="020B0604030504040204" pitchFamily="34" charset="0"/>
                <a:ea typeface="Tahoma" panose="020B0604030504040204" pitchFamily="34" charset="0"/>
                <a:cs typeface="Tahoma" panose="020B0604030504040204" pitchFamily="34" charset="0"/>
              </a:rPr>
              <a:t>No Proactive Alerts</a:t>
            </a:r>
            <a:endParaRPr lang="en-US" sz="1600" dirty="0">
              <a:latin typeface="Tahoma" panose="020B0604030504040204" pitchFamily="34" charset="0"/>
            </a:endParaRPr>
          </a:p>
        </p:txBody>
      </p:sp>
      <p:sp>
        <p:nvSpPr>
          <p:cNvPr id="32" name="Text 26"/>
          <p:cNvSpPr txBox="1"/>
          <p:nvPr/>
        </p:nvSpPr>
        <p:spPr>
          <a:xfrm>
            <a:off x="6548476" y="4955877"/>
            <a:ext cx="4847692" cy="1234440"/>
          </a:xfrm>
          <a:prstGeom prst="rect">
            <a:avLst/>
          </a:prstGeom>
          <a:noFill/>
          <a:ln/>
        </p:spPr>
        <p:txBody>
          <a:bodyPr wrap="square" lIns="0" tIns="0" rIns="0" bIns="0" rtlCol="0" anchor="t"/>
          <a:lstStyle/>
          <a:p>
            <a:pPr marL="0" indent="0">
              <a:lnSpc>
                <a:spcPct val="125000"/>
              </a:lnSpc>
              <a:buNone/>
            </a:pPr>
            <a:r>
              <a:rPr lang="en-US" sz="1300" dirty="0">
                <a:solidFill>
                  <a:srgbClr val="94A3B8"/>
                </a:solidFill>
                <a:latin typeface="Tahoma" panose="020B0604030504040204" pitchFamily="34" charset="0"/>
                <a:ea typeface="Tahoma" panose="020B0604030504040204" pitchFamily="34" charset="0"/>
                <a:cs typeface="Tahoma" panose="020B0604030504040204" pitchFamily="34" charset="0"/>
              </a:rPr>
              <a:t>Absence of proactive budget alerts allows overspending to go unnoticed</a:t>
            </a:r>
            <a:endParaRPr lang="en-US" sz="1300" dirty="0">
              <a:latin typeface="Tahoma" panose="020B0604030504040204" pitchFamily="34" charset="0"/>
            </a:endParaRPr>
          </a:p>
        </p:txBody>
      </p:sp>
      <p:pic>
        <p:nvPicPr>
          <p:cNvPr id="35" name="Picture 34">
            <a:extLst>
              <a:ext uri="{FF2B5EF4-FFF2-40B4-BE49-F238E27FC236}">
                <a16:creationId xmlns:a16="http://schemas.microsoft.com/office/drawing/2014/main" id="{4EDB377B-0CF1-2F63-610D-FB5A5F33CCA5}"/>
              </a:ext>
            </a:extLst>
          </p:cNvPr>
          <p:cNvPicPr>
            <a:picLocks noChangeAspect="1"/>
          </p:cNvPicPr>
          <p:nvPr/>
        </p:nvPicPr>
        <p:blipFill>
          <a:blip r:embed="rId4"/>
          <a:srcRect r="15270" b="26538"/>
          <a:stretch>
            <a:fillRect/>
          </a:stretch>
        </p:blipFill>
        <p:spPr>
          <a:xfrm>
            <a:off x="10416983" y="236798"/>
            <a:ext cx="1440000" cy="527673"/>
          </a:xfrm>
          <a:prstGeom prst="round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F1F"/>
        </a:solidFill>
        <a:effectLst/>
      </p:bgPr>
    </p:bg>
    <p:spTree>
      <p:nvGrpSpPr>
        <p:cNvPr id="1" name=""/>
        <p:cNvGrpSpPr/>
        <p:nvPr/>
      </p:nvGrpSpPr>
      <p:grpSpPr>
        <a:xfrm>
          <a:off x="0" y="0"/>
          <a:ext cx="0" cy="0"/>
          <a:chOff x="0" y="0"/>
          <a:chExt cx="0" cy="0"/>
        </a:xfrm>
      </p:grpSpPr>
      <p:sp>
        <p:nvSpPr>
          <p:cNvPr id="2" name="Shape 0"/>
          <p:cNvSpPr/>
          <p:nvPr/>
        </p:nvSpPr>
        <p:spPr>
          <a:xfrm>
            <a:off x="10637215" y="320040"/>
            <a:ext cx="1051560" cy="384048"/>
          </a:xfrm>
          <a:prstGeom prst="roundRect">
            <a:avLst>
              <a:gd name="adj" fmla="val 14286"/>
            </a:avLst>
          </a:prstGeom>
          <a:solidFill>
            <a:srgbClr val="18233C"/>
          </a:solidFill>
          <a:ln w="9525">
            <a:solidFill>
              <a:srgbClr val="24314F"/>
            </a:solidFill>
            <a:prstDash val="dash"/>
          </a:ln>
        </p:spPr>
      </p:sp>
      <p:sp>
        <p:nvSpPr>
          <p:cNvPr id="3" name="Text 1"/>
          <p:cNvSpPr txBox="1"/>
          <p:nvPr/>
        </p:nvSpPr>
        <p:spPr>
          <a:xfrm>
            <a:off x="10637215" y="320040"/>
            <a:ext cx="1051560" cy="384048"/>
          </a:xfrm>
          <a:prstGeom prst="rect">
            <a:avLst/>
          </a:prstGeom>
          <a:noFill/>
          <a:ln/>
        </p:spPr>
        <p:txBody>
          <a:bodyPr wrap="square" lIns="0" tIns="0" rIns="0" bIns="0" rtlCol="0" anchor="ctr"/>
          <a:lstStyle/>
          <a:p>
            <a:pPr marL="0" indent="0" algn="ctr">
              <a:buNone/>
            </a:pPr>
            <a:r>
              <a:rPr lang="en-US" sz="900" b="1" dirty="0">
                <a:solidFill>
                  <a:srgbClr val="94A3B8"/>
                </a:solidFill>
                <a:latin typeface="Tahoma" panose="020B0604030504040204" pitchFamily="34" charset="0"/>
                <a:ea typeface="Tahoma" panose="020B0604030504040204" pitchFamily="34" charset="0"/>
                <a:cs typeface="Tahoma" panose="020B0604030504040204" pitchFamily="34" charset="0"/>
              </a:rPr>
              <a:t>CVV LOGO</a:t>
            </a:r>
            <a:endParaRPr lang="en-US" sz="900" dirty="0">
              <a:latin typeface="Tahoma" panose="020B0604030504040204" pitchFamily="34" charset="0"/>
            </a:endParaRPr>
          </a:p>
        </p:txBody>
      </p:sp>
      <p:sp>
        <p:nvSpPr>
          <p:cNvPr id="4" name="Text 2"/>
          <p:cNvSpPr txBox="1"/>
          <p:nvPr/>
        </p:nvSpPr>
        <p:spPr>
          <a:xfrm>
            <a:off x="502920" y="292608"/>
            <a:ext cx="9905695" cy="566928"/>
          </a:xfrm>
          <a:prstGeom prst="rect">
            <a:avLst/>
          </a:prstGeom>
          <a:noFill/>
          <a:ln/>
        </p:spPr>
        <p:txBody>
          <a:bodyPr wrap="square" lIns="0" tIns="0" rIns="0" bIns="0" rtlCol="0" anchor="ctr"/>
          <a:lstStyle/>
          <a:p>
            <a:pPr marL="0" indent="0" algn="l">
              <a:buNone/>
            </a:pPr>
            <a:r>
              <a:rPr lang="en-US" sz="3000" b="1" kern="0" spc="50" dirty="0">
                <a:solidFill>
                  <a:srgbClr val="EAF0FA"/>
                </a:solidFill>
                <a:latin typeface="Tahoma" panose="020B0604030504040204" pitchFamily="34" charset="0"/>
                <a:ea typeface="Tahoma" panose="020B0604030504040204" pitchFamily="34" charset="0"/>
                <a:cs typeface="Tahoma" panose="020B0604030504040204" pitchFamily="34" charset="0"/>
              </a:rPr>
              <a:t>Proposed System</a:t>
            </a:r>
            <a:endParaRPr lang="en-US" sz="3000" dirty="0">
              <a:latin typeface="Tahoma" panose="020B0604030504040204" pitchFamily="34" charset="0"/>
            </a:endParaRPr>
          </a:p>
        </p:txBody>
      </p:sp>
      <p:sp>
        <p:nvSpPr>
          <p:cNvPr id="5" name="Text 3"/>
          <p:cNvSpPr txBox="1"/>
          <p:nvPr/>
        </p:nvSpPr>
        <p:spPr>
          <a:xfrm>
            <a:off x="502920" y="18288"/>
            <a:ext cx="5486400" cy="256032"/>
          </a:xfrm>
          <a:prstGeom prst="rect">
            <a:avLst/>
          </a:prstGeom>
          <a:noFill/>
          <a:ln/>
        </p:spPr>
        <p:txBody>
          <a:bodyPr wrap="square" lIns="0" tIns="0" rIns="0" bIns="0" rtlCol="0" anchor="ctr"/>
          <a:lstStyle/>
          <a:p>
            <a:pPr marL="0" indent="0" algn="l">
              <a:buNone/>
            </a:pPr>
            <a:r>
              <a:rPr lang="en-US" sz="1100" b="1" kern="0" spc="120" dirty="0">
                <a:solidFill>
                  <a:srgbClr val="22D3EE"/>
                </a:solidFill>
                <a:latin typeface="Tahoma" panose="020B0604030504040204" pitchFamily="34" charset="0"/>
                <a:ea typeface="Tahoma" panose="020B0604030504040204" pitchFamily="34" charset="0"/>
                <a:cs typeface="Tahoma" panose="020B0604030504040204" pitchFamily="34" charset="0"/>
              </a:rPr>
              <a:t>END-TO-END DATA FLOW</a:t>
            </a:r>
            <a:endParaRPr lang="en-US" sz="1100" dirty="0">
              <a:latin typeface="Tahoma" panose="020B0604030504040204" pitchFamily="34" charset="0"/>
            </a:endParaRPr>
          </a:p>
        </p:txBody>
      </p:sp>
      <p:sp>
        <p:nvSpPr>
          <p:cNvPr id="7" name="Text 5"/>
          <p:cNvSpPr txBox="1"/>
          <p:nvPr/>
        </p:nvSpPr>
        <p:spPr>
          <a:xfrm>
            <a:off x="11140135" y="6473952"/>
            <a:ext cx="548640" cy="274320"/>
          </a:xfrm>
          <a:prstGeom prst="rect">
            <a:avLst/>
          </a:prstGeom>
          <a:noFill/>
          <a:ln/>
        </p:spPr>
        <p:txBody>
          <a:bodyPr wrap="square" lIns="0" tIns="0" rIns="0" bIns="0" rtlCol="0" anchor="ctr"/>
          <a:lstStyle/>
          <a:p>
            <a:pPr marL="0" indent="0" algn="r">
              <a:buNone/>
            </a:pPr>
            <a:r>
              <a:rPr lang="en-US" sz="900" dirty="0">
                <a:solidFill>
                  <a:srgbClr val="5B6B85"/>
                </a:solidFill>
                <a:latin typeface="Tahoma" panose="020B0604030504040204" pitchFamily="34" charset="0"/>
                <a:ea typeface="Tahoma" panose="020B0604030504040204" pitchFamily="34" charset="0"/>
                <a:cs typeface="Tahoma" panose="020B0604030504040204" pitchFamily="34" charset="0"/>
              </a:rPr>
              <a:t>06</a:t>
            </a:r>
            <a:endParaRPr lang="en-US" sz="900" dirty="0">
              <a:latin typeface="Tahoma" panose="020B0604030504040204" pitchFamily="34" charset="0"/>
            </a:endParaRPr>
          </a:p>
        </p:txBody>
      </p:sp>
      <p:sp>
        <p:nvSpPr>
          <p:cNvPr id="8" name="Shape 6"/>
          <p:cNvSpPr/>
          <p:nvPr/>
        </p:nvSpPr>
        <p:spPr>
          <a:xfrm>
            <a:off x="502920" y="6400799"/>
            <a:ext cx="11185855" cy="0"/>
          </a:xfrm>
          <a:prstGeom prst="line">
            <a:avLst/>
          </a:prstGeom>
          <a:noFill/>
          <a:ln w="9525">
            <a:solidFill>
              <a:srgbClr val="24314F"/>
            </a:solidFill>
            <a:prstDash val="solid"/>
          </a:ln>
        </p:spPr>
      </p:sp>
      <p:sp>
        <p:nvSpPr>
          <p:cNvPr id="9" name="Shape 7"/>
          <p:cNvSpPr/>
          <p:nvPr/>
        </p:nvSpPr>
        <p:spPr>
          <a:xfrm>
            <a:off x="502920" y="1143000"/>
            <a:ext cx="1929933" cy="1417320"/>
          </a:xfrm>
          <a:prstGeom prst="roundRect">
            <a:avLst>
              <a:gd name="adj" fmla="val 6452"/>
            </a:avLst>
          </a:prstGeom>
          <a:solidFill>
            <a:srgbClr val="121B30"/>
          </a:solidFill>
          <a:ln/>
        </p:spPr>
      </p:sp>
      <p:sp>
        <p:nvSpPr>
          <p:cNvPr id="10" name="Shape 8"/>
          <p:cNvSpPr/>
          <p:nvPr/>
        </p:nvSpPr>
        <p:spPr>
          <a:xfrm>
            <a:off x="1216426" y="1307592"/>
            <a:ext cx="502920" cy="502920"/>
          </a:xfrm>
          <a:prstGeom prst="roundRect">
            <a:avLst>
              <a:gd name="adj" fmla="val 20000"/>
            </a:avLst>
          </a:prstGeom>
          <a:solidFill>
            <a:srgbClr val="0A0F1F"/>
          </a:solidFill>
          <a:ln/>
        </p:spPr>
      </p:sp>
      <p:pic>
        <p:nvPicPr>
          <p:cNvPr id="11" name="Image 0" descr="/home/claude/icons/ic_file.png"/>
          <p:cNvPicPr>
            <a:picLocks noChangeAspect="1"/>
          </p:cNvPicPr>
          <p:nvPr/>
        </p:nvPicPr>
        <p:blipFill>
          <a:blip r:embed="rId3"/>
          <a:stretch>
            <a:fillRect/>
          </a:stretch>
        </p:blipFill>
        <p:spPr>
          <a:xfrm>
            <a:off x="1330726" y="1426464"/>
            <a:ext cx="274320" cy="274320"/>
          </a:xfrm>
          <a:prstGeom prst="rect">
            <a:avLst/>
          </a:prstGeom>
        </p:spPr>
      </p:pic>
      <p:sp>
        <p:nvSpPr>
          <p:cNvPr id="12" name="Text 9"/>
          <p:cNvSpPr txBox="1"/>
          <p:nvPr/>
        </p:nvSpPr>
        <p:spPr>
          <a:xfrm>
            <a:off x="576072" y="1874520"/>
            <a:ext cx="1783629" cy="594360"/>
          </a:xfrm>
          <a:prstGeom prst="rect">
            <a:avLst/>
          </a:prstGeom>
          <a:noFill/>
          <a:ln/>
        </p:spPr>
        <p:txBody>
          <a:bodyPr wrap="square" lIns="0" tIns="0" rIns="0" bIns="0" rtlCol="0" anchor="t"/>
          <a:lstStyle/>
          <a:p>
            <a:pPr marL="0" indent="0" algn="ctr">
              <a:lnSpc>
                <a:spcPct val="105000"/>
              </a:lnSpc>
              <a:buNone/>
            </a:pPr>
            <a:r>
              <a:rPr lang="en-US" sz="1150" b="1" dirty="0">
                <a:solidFill>
                  <a:srgbClr val="EAF0FA"/>
                </a:solidFill>
                <a:latin typeface="Tahoma" panose="020B0604030504040204" pitchFamily="34" charset="0"/>
                <a:ea typeface="Tahoma" panose="020B0604030504040204" pitchFamily="34" charset="0"/>
                <a:cs typeface="Tahoma" panose="020B0604030504040204" pitchFamily="34" charset="0"/>
              </a:rPr>
              <a:t>PDF / CSV</a:t>
            </a:r>
            <a:endParaRPr lang="en-US" sz="1150" dirty="0">
              <a:latin typeface="Tahoma" panose="020B0604030504040204" pitchFamily="34" charset="0"/>
            </a:endParaRPr>
          </a:p>
        </p:txBody>
      </p:sp>
      <p:pic>
        <p:nvPicPr>
          <p:cNvPr id="13" name="Image 1" descr="/home/claude/icons/ic_arrowright.png"/>
          <p:cNvPicPr>
            <a:picLocks noChangeAspect="1"/>
          </p:cNvPicPr>
          <p:nvPr/>
        </p:nvPicPr>
        <p:blipFill>
          <a:blip r:embed="rId4"/>
          <a:stretch>
            <a:fillRect/>
          </a:stretch>
        </p:blipFill>
        <p:spPr>
          <a:xfrm>
            <a:off x="2524293" y="1751076"/>
            <a:ext cx="201168" cy="201168"/>
          </a:xfrm>
          <a:prstGeom prst="rect">
            <a:avLst/>
          </a:prstGeom>
        </p:spPr>
      </p:pic>
      <p:sp>
        <p:nvSpPr>
          <p:cNvPr id="14" name="Shape 10"/>
          <p:cNvSpPr/>
          <p:nvPr/>
        </p:nvSpPr>
        <p:spPr>
          <a:xfrm>
            <a:off x="2816901" y="1143000"/>
            <a:ext cx="1929933" cy="1417320"/>
          </a:xfrm>
          <a:prstGeom prst="roundRect">
            <a:avLst>
              <a:gd name="adj" fmla="val 6452"/>
            </a:avLst>
          </a:prstGeom>
          <a:solidFill>
            <a:srgbClr val="121B30"/>
          </a:solidFill>
          <a:ln/>
        </p:spPr>
      </p:sp>
      <p:sp>
        <p:nvSpPr>
          <p:cNvPr id="15" name="Shape 11"/>
          <p:cNvSpPr/>
          <p:nvPr/>
        </p:nvSpPr>
        <p:spPr>
          <a:xfrm>
            <a:off x="3530407" y="1307592"/>
            <a:ext cx="502920" cy="502920"/>
          </a:xfrm>
          <a:prstGeom prst="roundRect">
            <a:avLst>
              <a:gd name="adj" fmla="val 20000"/>
            </a:avLst>
          </a:prstGeom>
          <a:solidFill>
            <a:srgbClr val="0A0F1F"/>
          </a:solidFill>
          <a:ln/>
        </p:spPr>
      </p:sp>
      <p:pic>
        <p:nvPicPr>
          <p:cNvPr id="16" name="Image 2"/>
          <p:cNvPicPr>
            <a:picLocks noChangeAspect="1"/>
          </p:cNvPicPr>
          <p:nvPr/>
        </p:nvPicPr>
        <p:blipFill>
          <a:blip r:embed="rId5"/>
          <a:srcRect/>
          <a:stretch/>
        </p:blipFill>
        <p:spPr>
          <a:xfrm>
            <a:off x="3511867" y="1383432"/>
            <a:ext cx="540000" cy="360000"/>
          </a:xfrm>
          <a:prstGeom prst="rect">
            <a:avLst/>
          </a:prstGeom>
        </p:spPr>
      </p:pic>
      <p:sp>
        <p:nvSpPr>
          <p:cNvPr id="17" name="Text 12"/>
          <p:cNvSpPr txBox="1"/>
          <p:nvPr/>
        </p:nvSpPr>
        <p:spPr>
          <a:xfrm>
            <a:off x="2890053" y="1874520"/>
            <a:ext cx="1783629" cy="594360"/>
          </a:xfrm>
          <a:prstGeom prst="rect">
            <a:avLst/>
          </a:prstGeom>
          <a:noFill/>
          <a:ln/>
        </p:spPr>
        <p:txBody>
          <a:bodyPr wrap="square" lIns="0" tIns="0" rIns="0" bIns="0" rtlCol="0" anchor="t"/>
          <a:lstStyle/>
          <a:p>
            <a:pPr marL="0" indent="0" algn="ctr">
              <a:lnSpc>
                <a:spcPct val="105000"/>
              </a:lnSpc>
              <a:buNone/>
            </a:pPr>
            <a:r>
              <a:rPr lang="en-US" sz="1150" b="1" dirty="0">
                <a:solidFill>
                  <a:srgbClr val="EAF0FA"/>
                </a:solidFill>
                <a:latin typeface="Tahoma" panose="020B0604030504040204" pitchFamily="34" charset="0"/>
                <a:ea typeface="Tahoma" panose="020B0604030504040204" pitchFamily="34" charset="0"/>
                <a:cs typeface="Tahoma" panose="020B0604030504040204" pitchFamily="34" charset="0"/>
              </a:rPr>
              <a:t>Statement</a:t>
            </a:r>
            <a:endParaRPr lang="en-US" sz="1150" dirty="0">
              <a:latin typeface="Tahoma" panose="020B0604030504040204" pitchFamily="34" charset="0"/>
            </a:endParaRPr>
          </a:p>
          <a:p>
            <a:pPr marL="0" indent="0" algn="ctr">
              <a:lnSpc>
                <a:spcPct val="105000"/>
              </a:lnSpc>
              <a:buNone/>
            </a:pPr>
            <a:r>
              <a:rPr lang="en-US" sz="1150" b="1" dirty="0">
                <a:solidFill>
                  <a:srgbClr val="EAF0FA"/>
                </a:solidFill>
                <a:latin typeface="Tahoma" panose="020B0604030504040204" pitchFamily="34" charset="0"/>
                <a:ea typeface="Tahoma" panose="020B0604030504040204" pitchFamily="34" charset="0"/>
                <a:cs typeface="Tahoma" panose="020B0604030504040204" pitchFamily="34" charset="0"/>
              </a:rPr>
              <a:t>Parsing</a:t>
            </a:r>
            <a:endParaRPr lang="en-US" sz="1150" dirty="0">
              <a:latin typeface="Tahoma" panose="020B0604030504040204" pitchFamily="34" charset="0"/>
            </a:endParaRPr>
          </a:p>
        </p:txBody>
      </p:sp>
      <p:pic>
        <p:nvPicPr>
          <p:cNvPr id="18" name="Image 3" descr="/home/claude/icons/ic_arrowright.png"/>
          <p:cNvPicPr>
            <a:picLocks noChangeAspect="1"/>
          </p:cNvPicPr>
          <p:nvPr/>
        </p:nvPicPr>
        <p:blipFill>
          <a:blip r:embed="rId4"/>
          <a:stretch>
            <a:fillRect/>
          </a:stretch>
        </p:blipFill>
        <p:spPr>
          <a:xfrm>
            <a:off x="4838273" y="1751076"/>
            <a:ext cx="201168" cy="201168"/>
          </a:xfrm>
          <a:prstGeom prst="rect">
            <a:avLst/>
          </a:prstGeom>
        </p:spPr>
      </p:pic>
      <p:sp>
        <p:nvSpPr>
          <p:cNvPr id="19" name="Shape 13"/>
          <p:cNvSpPr/>
          <p:nvPr/>
        </p:nvSpPr>
        <p:spPr>
          <a:xfrm>
            <a:off x="5130881" y="1143000"/>
            <a:ext cx="1929933" cy="1417320"/>
          </a:xfrm>
          <a:prstGeom prst="roundRect">
            <a:avLst>
              <a:gd name="adj" fmla="val 6452"/>
            </a:avLst>
          </a:prstGeom>
          <a:solidFill>
            <a:srgbClr val="18233C"/>
          </a:solidFill>
          <a:ln/>
        </p:spPr>
      </p:sp>
      <p:sp>
        <p:nvSpPr>
          <p:cNvPr id="20" name="Shape 14"/>
          <p:cNvSpPr/>
          <p:nvPr/>
        </p:nvSpPr>
        <p:spPr>
          <a:xfrm>
            <a:off x="5844388" y="1307592"/>
            <a:ext cx="502920" cy="502920"/>
          </a:xfrm>
          <a:prstGeom prst="roundRect">
            <a:avLst>
              <a:gd name="adj" fmla="val 20000"/>
            </a:avLst>
          </a:prstGeom>
          <a:solidFill>
            <a:srgbClr val="0A0F1F"/>
          </a:solidFill>
          <a:ln/>
        </p:spPr>
      </p:sp>
      <p:pic>
        <p:nvPicPr>
          <p:cNvPr id="21" name="Image 4" descr="/home/claude/icons/ic_cpu.png"/>
          <p:cNvPicPr>
            <a:picLocks noChangeAspect="1"/>
          </p:cNvPicPr>
          <p:nvPr/>
        </p:nvPicPr>
        <p:blipFill>
          <a:blip r:embed="rId6"/>
          <a:stretch>
            <a:fillRect/>
          </a:stretch>
        </p:blipFill>
        <p:spPr>
          <a:xfrm>
            <a:off x="5958688" y="1426464"/>
            <a:ext cx="274320" cy="274320"/>
          </a:xfrm>
          <a:prstGeom prst="rect">
            <a:avLst/>
          </a:prstGeom>
        </p:spPr>
      </p:pic>
      <p:sp>
        <p:nvSpPr>
          <p:cNvPr id="22" name="Text 15"/>
          <p:cNvSpPr txBox="1"/>
          <p:nvPr/>
        </p:nvSpPr>
        <p:spPr>
          <a:xfrm>
            <a:off x="5204033" y="1874520"/>
            <a:ext cx="1783629" cy="594360"/>
          </a:xfrm>
          <a:prstGeom prst="rect">
            <a:avLst/>
          </a:prstGeom>
          <a:noFill/>
          <a:ln/>
        </p:spPr>
        <p:txBody>
          <a:bodyPr wrap="square" lIns="0" tIns="0" rIns="0" bIns="0" rtlCol="0" anchor="t"/>
          <a:lstStyle/>
          <a:p>
            <a:pPr marL="0" indent="0" algn="ctr">
              <a:lnSpc>
                <a:spcPct val="105000"/>
              </a:lnSpc>
              <a:buNone/>
            </a:pPr>
            <a:r>
              <a:rPr lang="en-US" sz="1150" b="1" dirty="0">
                <a:solidFill>
                  <a:srgbClr val="EAF0FA"/>
                </a:solidFill>
                <a:latin typeface="Tahoma" panose="020B0604030504040204" pitchFamily="34" charset="0"/>
                <a:ea typeface="Tahoma" panose="020B0604030504040204" pitchFamily="34" charset="0"/>
                <a:cs typeface="Tahoma" panose="020B0604030504040204" pitchFamily="34" charset="0"/>
              </a:rPr>
              <a:t>AI</a:t>
            </a:r>
            <a:endParaRPr lang="en-US" sz="1150" dirty="0">
              <a:latin typeface="Tahoma" panose="020B0604030504040204" pitchFamily="34" charset="0"/>
            </a:endParaRPr>
          </a:p>
          <a:p>
            <a:pPr marL="0" indent="0" algn="ctr">
              <a:lnSpc>
                <a:spcPct val="105000"/>
              </a:lnSpc>
              <a:buNone/>
            </a:pPr>
            <a:r>
              <a:rPr lang="en-US" sz="1150" b="1" dirty="0">
                <a:solidFill>
                  <a:srgbClr val="EAF0FA"/>
                </a:solidFill>
                <a:latin typeface="Tahoma" panose="020B0604030504040204" pitchFamily="34" charset="0"/>
                <a:ea typeface="Tahoma" panose="020B0604030504040204" pitchFamily="34" charset="0"/>
                <a:cs typeface="Tahoma" panose="020B0604030504040204" pitchFamily="34" charset="0"/>
              </a:rPr>
              <a:t>Categorization</a:t>
            </a:r>
            <a:endParaRPr lang="en-US" sz="1150" dirty="0">
              <a:latin typeface="Tahoma" panose="020B0604030504040204" pitchFamily="34" charset="0"/>
            </a:endParaRPr>
          </a:p>
        </p:txBody>
      </p:sp>
      <p:pic>
        <p:nvPicPr>
          <p:cNvPr id="23" name="Image 5" descr="/home/claude/icons/ic_arrowright.png"/>
          <p:cNvPicPr>
            <a:picLocks noChangeAspect="1"/>
          </p:cNvPicPr>
          <p:nvPr/>
        </p:nvPicPr>
        <p:blipFill>
          <a:blip r:embed="rId4"/>
          <a:stretch>
            <a:fillRect/>
          </a:stretch>
        </p:blipFill>
        <p:spPr>
          <a:xfrm>
            <a:off x="7152254" y="1751076"/>
            <a:ext cx="201168" cy="201168"/>
          </a:xfrm>
          <a:prstGeom prst="rect">
            <a:avLst/>
          </a:prstGeom>
        </p:spPr>
      </p:pic>
      <p:sp>
        <p:nvSpPr>
          <p:cNvPr id="24" name="Shape 16"/>
          <p:cNvSpPr/>
          <p:nvPr/>
        </p:nvSpPr>
        <p:spPr>
          <a:xfrm>
            <a:off x="7444862" y="1143000"/>
            <a:ext cx="1929933" cy="1417320"/>
          </a:xfrm>
          <a:prstGeom prst="roundRect">
            <a:avLst>
              <a:gd name="adj" fmla="val 6452"/>
            </a:avLst>
          </a:prstGeom>
          <a:solidFill>
            <a:srgbClr val="121B30"/>
          </a:solidFill>
          <a:ln/>
        </p:spPr>
      </p:sp>
      <p:sp>
        <p:nvSpPr>
          <p:cNvPr id="25" name="Shape 17"/>
          <p:cNvSpPr/>
          <p:nvPr/>
        </p:nvSpPr>
        <p:spPr>
          <a:xfrm>
            <a:off x="8158368" y="1307592"/>
            <a:ext cx="502920" cy="502920"/>
          </a:xfrm>
          <a:prstGeom prst="roundRect">
            <a:avLst>
              <a:gd name="adj" fmla="val 20000"/>
            </a:avLst>
          </a:prstGeom>
          <a:solidFill>
            <a:srgbClr val="0A0F1F"/>
          </a:solidFill>
          <a:ln/>
        </p:spPr>
      </p:sp>
      <p:pic>
        <p:nvPicPr>
          <p:cNvPr id="26" name="Image 6" descr="/home/claude/icons/ic_lock.png"/>
          <p:cNvPicPr>
            <a:picLocks noChangeAspect="1"/>
          </p:cNvPicPr>
          <p:nvPr/>
        </p:nvPicPr>
        <p:blipFill>
          <a:blip r:embed="rId7"/>
          <a:stretch>
            <a:fillRect/>
          </a:stretch>
        </p:blipFill>
        <p:spPr>
          <a:xfrm>
            <a:off x="8272668" y="1426464"/>
            <a:ext cx="274320" cy="274320"/>
          </a:xfrm>
          <a:prstGeom prst="rect">
            <a:avLst/>
          </a:prstGeom>
        </p:spPr>
      </p:pic>
      <p:sp>
        <p:nvSpPr>
          <p:cNvPr id="27" name="Text 18"/>
          <p:cNvSpPr txBox="1"/>
          <p:nvPr/>
        </p:nvSpPr>
        <p:spPr>
          <a:xfrm>
            <a:off x="7518014" y="1874520"/>
            <a:ext cx="1783629" cy="594360"/>
          </a:xfrm>
          <a:prstGeom prst="rect">
            <a:avLst/>
          </a:prstGeom>
          <a:noFill/>
          <a:ln/>
        </p:spPr>
        <p:txBody>
          <a:bodyPr wrap="square" lIns="0" tIns="0" rIns="0" bIns="0" rtlCol="0" anchor="t"/>
          <a:lstStyle/>
          <a:p>
            <a:pPr marL="0" indent="0" algn="ctr">
              <a:lnSpc>
                <a:spcPct val="105000"/>
              </a:lnSpc>
              <a:buNone/>
            </a:pPr>
            <a:r>
              <a:rPr lang="en-US" sz="1150" b="1" dirty="0">
                <a:solidFill>
                  <a:srgbClr val="EAF0FA"/>
                </a:solidFill>
                <a:latin typeface="Tahoma" panose="020B0604030504040204" pitchFamily="34" charset="0"/>
                <a:ea typeface="Tahoma" panose="020B0604030504040204" pitchFamily="34" charset="0"/>
                <a:cs typeface="Tahoma" panose="020B0604030504040204" pitchFamily="34" charset="0"/>
              </a:rPr>
              <a:t>Secure User</a:t>
            </a:r>
            <a:endParaRPr lang="en-US" sz="1150" dirty="0">
              <a:latin typeface="Tahoma" panose="020B0604030504040204" pitchFamily="34" charset="0"/>
            </a:endParaRPr>
          </a:p>
          <a:p>
            <a:pPr marL="0" indent="0" algn="ctr">
              <a:lnSpc>
                <a:spcPct val="105000"/>
              </a:lnSpc>
              <a:buNone/>
            </a:pPr>
            <a:r>
              <a:rPr lang="en-US" sz="1150" b="1" dirty="0">
                <a:solidFill>
                  <a:srgbClr val="EAF0FA"/>
                </a:solidFill>
                <a:latin typeface="Tahoma" panose="020B0604030504040204" pitchFamily="34" charset="0"/>
                <a:ea typeface="Tahoma" panose="020B0604030504040204" pitchFamily="34" charset="0"/>
                <a:cs typeface="Tahoma" panose="020B0604030504040204" pitchFamily="34" charset="0"/>
              </a:rPr>
              <a:t>Data</a:t>
            </a:r>
            <a:endParaRPr lang="en-US" sz="1150" dirty="0">
              <a:latin typeface="Tahoma" panose="020B0604030504040204" pitchFamily="34" charset="0"/>
            </a:endParaRPr>
          </a:p>
        </p:txBody>
      </p:sp>
      <p:pic>
        <p:nvPicPr>
          <p:cNvPr id="28" name="Image 7" descr="/home/claude/icons/ic_arrowright.png"/>
          <p:cNvPicPr>
            <a:picLocks noChangeAspect="1"/>
          </p:cNvPicPr>
          <p:nvPr/>
        </p:nvPicPr>
        <p:blipFill>
          <a:blip r:embed="rId4"/>
          <a:stretch>
            <a:fillRect/>
          </a:stretch>
        </p:blipFill>
        <p:spPr>
          <a:xfrm>
            <a:off x="9466235" y="1751076"/>
            <a:ext cx="201168" cy="201168"/>
          </a:xfrm>
          <a:prstGeom prst="rect">
            <a:avLst/>
          </a:prstGeom>
        </p:spPr>
      </p:pic>
      <p:sp>
        <p:nvSpPr>
          <p:cNvPr id="29" name="Shape 19"/>
          <p:cNvSpPr/>
          <p:nvPr/>
        </p:nvSpPr>
        <p:spPr>
          <a:xfrm>
            <a:off x="9758843" y="1143000"/>
            <a:ext cx="1929933" cy="1417320"/>
          </a:xfrm>
          <a:prstGeom prst="roundRect">
            <a:avLst>
              <a:gd name="adj" fmla="val 6452"/>
            </a:avLst>
          </a:prstGeom>
          <a:solidFill>
            <a:srgbClr val="121B30"/>
          </a:solidFill>
          <a:ln/>
        </p:spPr>
      </p:sp>
      <p:sp>
        <p:nvSpPr>
          <p:cNvPr id="30" name="Shape 20"/>
          <p:cNvSpPr/>
          <p:nvPr/>
        </p:nvSpPr>
        <p:spPr>
          <a:xfrm>
            <a:off x="10472349" y="1307592"/>
            <a:ext cx="502920" cy="502920"/>
          </a:xfrm>
          <a:prstGeom prst="roundRect">
            <a:avLst>
              <a:gd name="adj" fmla="val 20000"/>
            </a:avLst>
          </a:prstGeom>
          <a:solidFill>
            <a:srgbClr val="0A0F1F"/>
          </a:solidFill>
          <a:ln/>
        </p:spPr>
      </p:sp>
      <p:pic>
        <p:nvPicPr>
          <p:cNvPr id="31" name="Image 8" descr="/home/claude/icons/ic_dashboard.png"/>
          <p:cNvPicPr>
            <a:picLocks noChangeAspect="1"/>
          </p:cNvPicPr>
          <p:nvPr/>
        </p:nvPicPr>
        <p:blipFill>
          <a:blip r:embed="rId8"/>
          <a:stretch>
            <a:fillRect/>
          </a:stretch>
        </p:blipFill>
        <p:spPr>
          <a:xfrm>
            <a:off x="10586649" y="1426464"/>
            <a:ext cx="274320" cy="274320"/>
          </a:xfrm>
          <a:prstGeom prst="rect">
            <a:avLst/>
          </a:prstGeom>
        </p:spPr>
      </p:pic>
      <p:sp>
        <p:nvSpPr>
          <p:cNvPr id="32" name="Text 21"/>
          <p:cNvSpPr txBox="1"/>
          <p:nvPr/>
        </p:nvSpPr>
        <p:spPr>
          <a:xfrm>
            <a:off x="9831995" y="1874520"/>
            <a:ext cx="1783629" cy="594360"/>
          </a:xfrm>
          <a:prstGeom prst="rect">
            <a:avLst/>
          </a:prstGeom>
          <a:noFill/>
          <a:ln/>
        </p:spPr>
        <p:txBody>
          <a:bodyPr wrap="square" lIns="0" tIns="0" rIns="0" bIns="0" rtlCol="0" anchor="t"/>
          <a:lstStyle/>
          <a:p>
            <a:pPr marL="0" indent="0" algn="ctr">
              <a:lnSpc>
                <a:spcPct val="105000"/>
              </a:lnSpc>
              <a:buNone/>
            </a:pPr>
            <a:r>
              <a:rPr lang="en-US" sz="1150" b="1" dirty="0">
                <a:solidFill>
                  <a:srgbClr val="EAF0FA"/>
                </a:solidFill>
                <a:latin typeface="Tahoma" panose="020B0604030504040204" pitchFamily="34" charset="0"/>
                <a:ea typeface="Tahoma" panose="020B0604030504040204" pitchFamily="34" charset="0"/>
                <a:cs typeface="Tahoma" panose="020B0604030504040204" pitchFamily="34" charset="0"/>
              </a:rPr>
              <a:t>Interactive</a:t>
            </a:r>
            <a:endParaRPr lang="en-US" sz="1150" dirty="0">
              <a:latin typeface="Tahoma" panose="020B0604030504040204" pitchFamily="34" charset="0"/>
            </a:endParaRPr>
          </a:p>
          <a:p>
            <a:pPr marL="0" indent="0" algn="ctr">
              <a:lnSpc>
                <a:spcPct val="105000"/>
              </a:lnSpc>
              <a:buNone/>
            </a:pPr>
            <a:r>
              <a:rPr lang="en-US" sz="1150" b="1" dirty="0">
                <a:solidFill>
                  <a:srgbClr val="EAF0FA"/>
                </a:solidFill>
                <a:latin typeface="Tahoma" panose="020B0604030504040204" pitchFamily="34" charset="0"/>
                <a:ea typeface="Tahoma" panose="020B0604030504040204" pitchFamily="34" charset="0"/>
                <a:cs typeface="Tahoma" panose="020B0604030504040204" pitchFamily="34" charset="0"/>
              </a:rPr>
              <a:t>Dashboard</a:t>
            </a:r>
            <a:endParaRPr lang="en-US" sz="1150" dirty="0">
              <a:latin typeface="Tahoma" panose="020B0604030504040204" pitchFamily="34" charset="0"/>
            </a:endParaRPr>
          </a:p>
        </p:txBody>
      </p:sp>
      <p:sp>
        <p:nvSpPr>
          <p:cNvPr id="33" name="Text 22"/>
          <p:cNvSpPr txBox="1"/>
          <p:nvPr/>
        </p:nvSpPr>
        <p:spPr>
          <a:xfrm>
            <a:off x="502920" y="2670048"/>
            <a:ext cx="11185855" cy="274320"/>
          </a:xfrm>
          <a:prstGeom prst="rect">
            <a:avLst/>
          </a:prstGeom>
          <a:noFill/>
          <a:ln/>
        </p:spPr>
        <p:txBody>
          <a:bodyPr wrap="square" lIns="0" tIns="0" rIns="0" bIns="0" rtlCol="0" anchor="ctr"/>
          <a:lstStyle/>
          <a:p>
            <a:pPr marL="0" indent="0" algn="ctr">
              <a:buNone/>
            </a:pPr>
            <a:r>
              <a:rPr lang="en-US" sz="1050" i="1" dirty="0">
                <a:solidFill>
                  <a:srgbClr val="5B6B85"/>
                </a:solidFill>
                <a:latin typeface="Tahoma" panose="020B0604030504040204" pitchFamily="34" charset="0"/>
                <a:ea typeface="Tahoma" panose="020B0604030504040204" pitchFamily="34" charset="0"/>
                <a:cs typeface="Tahoma" panose="020B0604030504040204" pitchFamily="34" charset="0"/>
              </a:rPr>
              <a:t>PDFBox  ·  Apache Commons CSV  ·  Google Gemini API  ·  JWT  ·  Dashboard</a:t>
            </a:r>
            <a:endParaRPr lang="en-US" sz="1050" dirty="0">
              <a:latin typeface="Tahoma" panose="020B0604030504040204" pitchFamily="34" charset="0"/>
            </a:endParaRPr>
          </a:p>
        </p:txBody>
      </p:sp>
      <p:sp>
        <p:nvSpPr>
          <p:cNvPr id="34" name="Shape 23"/>
          <p:cNvSpPr/>
          <p:nvPr/>
        </p:nvSpPr>
        <p:spPr>
          <a:xfrm>
            <a:off x="502920" y="3063240"/>
            <a:ext cx="5432908" cy="1540764"/>
          </a:xfrm>
          <a:prstGeom prst="roundRect">
            <a:avLst>
              <a:gd name="adj" fmla="val 5341"/>
            </a:avLst>
          </a:prstGeom>
          <a:solidFill>
            <a:srgbClr val="121B30"/>
          </a:solidFill>
          <a:ln/>
        </p:spPr>
      </p:sp>
      <p:sp>
        <p:nvSpPr>
          <p:cNvPr id="35" name="Shape 24"/>
          <p:cNvSpPr/>
          <p:nvPr/>
        </p:nvSpPr>
        <p:spPr>
          <a:xfrm>
            <a:off x="704088" y="3641598"/>
            <a:ext cx="384048" cy="384048"/>
          </a:xfrm>
          <a:prstGeom prst="ellipse">
            <a:avLst/>
          </a:prstGeom>
          <a:solidFill>
            <a:srgbClr val="18233C"/>
          </a:solidFill>
          <a:ln w="15875">
            <a:solidFill>
              <a:srgbClr val="22D3EE"/>
            </a:solidFill>
            <a:prstDash val="solid"/>
          </a:ln>
        </p:spPr>
      </p:sp>
      <p:sp>
        <p:nvSpPr>
          <p:cNvPr id="36" name="Text 25"/>
          <p:cNvSpPr txBox="1"/>
          <p:nvPr/>
        </p:nvSpPr>
        <p:spPr>
          <a:xfrm>
            <a:off x="704088" y="3641598"/>
            <a:ext cx="384048" cy="384048"/>
          </a:xfrm>
          <a:prstGeom prst="rect">
            <a:avLst/>
          </a:prstGeom>
          <a:noFill/>
          <a:ln/>
        </p:spPr>
        <p:txBody>
          <a:bodyPr wrap="square" lIns="0" tIns="0" rIns="0" bIns="0" rtlCol="0" anchor="ctr"/>
          <a:lstStyle/>
          <a:p>
            <a:pPr marL="0" indent="0" algn="ctr">
              <a:buNone/>
            </a:pPr>
            <a:r>
              <a:rPr lang="en-US" sz="1092" b="1" dirty="0">
                <a:solidFill>
                  <a:srgbClr val="22D3EE"/>
                </a:solidFill>
                <a:latin typeface="Tahoma" panose="020B0604030504040204" pitchFamily="34" charset="0"/>
                <a:ea typeface="Tahoma" panose="020B0604030504040204" pitchFamily="34" charset="0"/>
                <a:cs typeface="Tahoma" panose="020B0604030504040204" pitchFamily="34" charset="0"/>
              </a:rPr>
              <a:t>01</a:t>
            </a:r>
            <a:endParaRPr lang="en-US" sz="1092" dirty="0">
              <a:latin typeface="Tahoma" panose="020B0604030504040204" pitchFamily="34" charset="0"/>
            </a:endParaRPr>
          </a:p>
        </p:txBody>
      </p:sp>
      <p:sp>
        <p:nvSpPr>
          <p:cNvPr id="37" name="Text 26"/>
          <p:cNvSpPr txBox="1"/>
          <p:nvPr/>
        </p:nvSpPr>
        <p:spPr>
          <a:xfrm>
            <a:off x="1234440" y="3154680"/>
            <a:ext cx="4518508" cy="1357884"/>
          </a:xfrm>
          <a:prstGeom prst="rect">
            <a:avLst/>
          </a:prstGeom>
          <a:noFill/>
          <a:ln/>
        </p:spPr>
        <p:txBody>
          <a:bodyPr wrap="square" lIns="0" tIns="0" rIns="0" bIns="0" rtlCol="0" anchor="ctr"/>
          <a:lstStyle/>
          <a:p>
            <a:pPr marL="0" indent="0">
              <a:lnSpc>
                <a:spcPct val="115000"/>
              </a:lnSpc>
              <a:buNone/>
            </a:pPr>
            <a:r>
              <a:rPr lang="en-US" sz="1200" dirty="0">
                <a:solidFill>
                  <a:srgbClr val="EAF0FA"/>
                </a:solidFill>
                <a:latin typeface="Tahoma" panose="020B0604030504040204" pitchFamily="34" charset="0"/>
                <a:ea typeface="Tahoma" panose="020B0604030504040204" pitchFamily="34" charset="0"/>
                <a:cs typeface="Tahoma" panose="020B0604030504040204" pitchFamily="34" charset="0"/>
              </a:rPr>
              <a:t>Upload bank statements (PDF/CSV) and auto-parse transactions using PDFBox and Apache Commons CSV</a:t>
            </a:r>
            <a:endParaRPr lang="en-US" sz="1200" dirty="0">
              <a:latin typeface="Tahoma" panose="020B0604030504040204" pitchFamily="34" charset="0"/>
            </a:endParaRPr>
          </a:p>
        </p:txBody>
      </p:sp>
      <p:sp>
        <p:nvSpPr>
          <p:cNvPr id="38" name="Shape 27"/>
          <p:cNvSpPr/>
          <p:nvPr/>
        </p:nvSpPr>
        <p:spPr>
          <a:xfrm>
            <a:off x="6255868" y="3063240"/>
            <a:ext cx="5432908" cy="1540764"/>
          </a:xfrm>
          <a:prstGeom prst="roundRect">
            <a:avLst>
              <a:gd name="adj" fmla="val 5341"/>
            </a:avLst>
          </a:prstGeom>
          <a:solidFill>
            <a:srgbClr val="121B30"/>
          </a:solidFill>
          <a:ln/>
        </p:spPr>
      </p:sp>
      <p:sp>
        <p:nvSpPr>
          <p:cNvPr id="39" name="Shape 28"/>
          <p:cNvSpPr/>
          <p:nvPr/>
        </p:nvSpPr>
        <p:spPr>
          <a:xfrm>
            <a:off x="6457036" y="3641598"/>
            <a:ext cx="384048" cy="384048"/>
          </a:xfrm>
          <a:prstGeom prst="ellipse">
            <a:avLst/>
          </a:prstGeom>
          <a:solidFill>
            <a:srgbClr val="18233C"/>
          </a:solidFill>
          <a:ln w="15875">
            <a:solidFill>
              <a:srgbClr val="22D3EE"/>
            </a:solidFill>
            <a:prstDash val="solid"/>
          </a:ln>
        </p:spPr>
      </p:sp>
      <p:sp>
        <p:nvSpPr>
          <p:cNvPr id="40" name="Text 29"/>
          <p:cNvSpPr txBox="1"/>
          <p:nvPr/>
        </p:nvSpPr>
        <p:spPr>
          <a:xfrm>
            <a:off x="6457036" y="3641598"/>
            <a:ext cx="384048" cy="384048"/>
          </a:xfrm>
          <a:prstGeom prst="rect">
            <a:avLst/>
          </a:prstGeom>
          <a:noFill/>
          <a:ln/>
        </p:spPr>
        <p:txBody>
          <a:bodyPr wrap="square" lIns="0" tIns="0" rIns="0" bIns="0" rtlCol="0" anchor="ctr"/>
          <a:lstStyle/>
          <a:p>
            <a:pPr marL="0" indent="0" algn="ctr">
              <a:buNone/>
            </a:pPr>
            <a:r>
              <a:rPr lang="en-US" sz="1092" b="1" dirty="0">
                <a:solidFill>
                  <a:srgbClr val="22D3EE"/>
                </a:solidFill>
                <a:latin typeface="Tahoma" panose="020B0604030504040204" pitchFamily="34" charset="0"/>
                <a:ea typeface="Tahoma" panose="020B0604030504040204" pitchFamily="34" charset="0"/>
                <a:cs typeface="Tahoma" panose="020B0604030504040204" pitchFamily="34" charset="0"/>
              </a:rPr>
              <a:t>02</a:t>
            </a:r>
            <a:endParaRPr lang="en-US" sz="1092" dirty="0">
              <a:latin typeface="Tahoma" panose="020B0604030504040204" pitchFamily="34" charset="0"/>
            </a:endParaRPr>
          </a:p>
        </p:txBody>
      </p:sp>
      <p:sp>
        <p:nvSpPr>
          <p:cNvPr id="41" name="Text 30"/>
          <p:cNvSpPr txBox="1"/>
          <p:nvPr/>
        </p:nvSpPr>
        <p:spPr>
          <a:xfrm>
            <a:off x="6987388" y="3154680"/>
            <a:ext cx="4518508" cy="1357884"/>
          </a:xfrm>
          <a:prstGeom prst="rect">
            <a:avLst/>
          </a:prstGeom>
          <a:noFill/>
          <a:ln/>
        </p:spPr>
        <p:txBody>
          <a:bodyPr wrap="square" lIns="0" tIns="0" rIns="0" bIns="0" rtlCol="0" anchor="ctr"/>
          <a:lstStyle/>
          <a:p>
            <a:pPr marL="0" indent="0">
              <a:lnSpc>
                <a:spcPct val="115000"/>
              </a:lnSpc>
              <a:buNone/>
            </a:pPr>
            <a:r>
              <a:rPr lang="en-US" sz="1200" dirty="0">
                <a:solidFill>
                  <a:srgbClr val="EAF0FA"/>
                </a:solidFill>
                <a:latin typeface="Tahoma" panose="020B0604030504040204" pitchFamily="34" charset="0"/>
                <a:ea typeface="Tahoma" panose="020B0604030504040204" pitchFamily="34" charset="0"/>
                <a:cs typeface="Tahoma" panose="020B0604030504040204" pitchFamily="34" charset="0"/>
              </a:rPr>
              <a:t>Use the Google Gemini API to automatically categorize transactions and identify merchants</a:t>
            </a:r>
            <a:endParaRPr lang="en-US" sz="1200" dirty="0">
              <a:latin typeface="Tahoma" panose="020B0604030504040204" pitchFamily="34" charset="0"/>
            </a:endParaRPr>
          </a:p>
        </p:txBody>
      </p:sp>
      <p:sp>
        <p:nvSpPr>
          <p:cNvPr id="42" name="Shape 31"/>
          <p:cNvSpPr/>
          <p:nvPr/>
        </p:nvSpPr>
        <p:spPr>
          <a:xfrm>
            <a:off x="502920" y="4782401"/>
            <a:ext cx="5432908" cy="1540764"/>
          </a:xfrm>
          <a:prstGeom prst="roundRect">
            <a:avLst>
              <a:gd name="adj" fmla="val 5341"/>
            </a:avLst>
          </a:prstGeom>
          <a:solidFill>
            <a:srgbClr val="121B30"/>
          </a:solidFill>
          <a:ln/>
        </p:spPr>
      </p:sp>
      <p:sp>
        <p:nvSpPr>
          <p:cNvPr id="43" name="Shape 32"/>
          <p:cNvSpPr/>
          <p:nvPr/>
        </p:nvSpPr>
        <p:spPr>
          <a:xfrm>
            <a:off x="704088" y="5360759"/>
            <a:ext cx="384048" cy="384048"/>
          </a:xfrm>
          <a:prstGeom prst="ellipse">
            <a:avLst/>
          </a:prstGeom>
          <a:solidFill>
            <a:srgbClr val="18233C"/>
          </a:solidFill>
          <a:ln w="15875">
            <a:solidFill>
              <a:srgbClr val="22D3EE"/>
            </a:solidFill>
            <a:prstDash val="solid"/>
          </a:ln>
        </p:spPr>
      </p:sp>
      <p:sp>
        <p:nvSpPr>
          <p:cNvPr id="44" name="Text 33"/>
          <p:cNvSpPr txBox="1"/>
          <p:nvPr/>
        </p:nvSpPr>
        <p:spPr>
          <a:xfrm>
            <a:off x="704088" y="5360759"/>
            <a:ext cx="384048" cy="384048"/>
          </a:xfrm>
          <a:prstGeom prst="rect">
            <a:avLst/>
          </a:prstGeom>
          <a:noFill/>
          <a:ln/>
        </p:spPr>
        <p:txBody>
          <a:bodyPr wrap="square" lIns="0" tIns="0" rIns="0" bIns="0" rtlCol="0" anchor="ctr"/>
          <a:lstStyle/>
          <a:p>
            <a:pPr marL="0" indent="0" algn="ctr">
              <a:buNone/>
            </a:pPr>
            <a:r>
              <a:rPr lang="en-US" sz="1092" b="1" dirty="0">
                <a:solidFill>
                  <a:srgbClr val="22D3EE"/>
                </a:solidFill>
                <a:latin typeface="Tahoma" panose="020B0604030504040204" pitchFamily="34" charset="0"/>
                <a:ea typeface="Tahoma" panose="020B0604030504040204" pitchFamily="34" charset="0"/>
                <a:cs typeface="Tahoma" panose="020B0604030504040204" pitchFamily="34" charset="0"/>
              </a:rPr>
              <a:t>03</a:t>
            </a:r>
            <a:endParaRPr lang="en-US" sz="1092" dirty="0">
              <a:latin typeface="Tahoma" panose="020B0604030504040204" pitchFamily="34" charset="0"/>
            </a:endParaRPr>
          </a:p>
        </p:txBody>
      </p:sp>
      <p:sp>
        <p:nvSpPr>
          <p:cNvPr id="45" name="Text 34"/>
          <p:cNvSpPr txBox="1"/>
          <p:nvPr/>
        </p:nvSpPr>
        <p:spPr>
          <a:xfrm>
            <a:off x="1234440" y="4873841"/>
            <a:ext cx="4518508" cy="1357884"/>
          </a:xfrm>
          <a:prstGeom prst="rect">
            <a:avLst/>
          </a:prstGeom>
          <a:noFill/>
          <a:ln/>
        </p:spPr>
        <p:txBody>
          <a:bodyPr wrap="square" lIns="0" tIns="0" rIns="0" bIns="0" rtlCol="0" anchor="ctr"/>
          <a:lstStyle/>
          <a:p>
            <a:pPr marL="0" indent="0">
              <a:lnSpc>
                <a:spcPct val="115000"/>
              </a:lnSpc>
              <a:buNone/>
            </a:pPr>
            <a:r>
              <a:rPr lang="en-US" sz="1200" dirty="0">
                <a:solidFill>
                  <a:srgbClr val="EAF0FA"/>
                </a:solidFill>
                <a:latin typeface="Tahoma" panose="020B0604030504040204" pitchFamily="34" charset="0"/>
                <a:ea typeface="Tahoma" panose="020B0604030504040204" pitchFamily="34" charset="0"/>
                <a:cs typeface="Tahoma" panose="020B0604030504040204" pitchFamily="34" charset="0"/>
              </a:rPr>
              <a:t>Secure JWT-based authentication with per-user data isolation</a:t>
            </a:r>
            <a:endParaRPr lang="en-US" sz="1200" dirty="0">
              <a:latin typeface="Tahoma" panose="020B0604030504040204" pitchFamily="34" charset="0"/>
            </a:endParaRPr>
          </a:p>
        </p:txBody>
      </p:sp>
      <p:sp>
        <p:nvSpPr>
          <p:cNvPr id="46" name="Shape 35"/>
          <p:cNvSpPr/>
          <p:nvPr/>
        </p:nvSpPr>
        <p:spPr>
          <a:xfrm>
            <a:off x="6255868" y="4782401"/>
            <a:ext cx="5432908" cy="1540764"/>
          </a:xfrm>
          <a:prstGeom prst="roundRect">
            <a:avLst>
              <a:gd name="adj" fmla="val 5341"/>
            </a:avLst>
          </a:prstGeom>
          <a:solidFill>
            <a:srgbClr val="121B30"/>
          </a:solidFill>
          <a:ln/>
        </p:spPr>
      </p:sp>
      <p:sp>
        <p:nvSpPr>
          <p:cNvPr id="47" name="Shape 36"/>
          <p:cNvSpPr/>
          <p:nvPr/>
        </p:nvSpPr>
        <p:spPr>
          <a:xfrm>
            <a:off x="6457036" y="5360759"/>
            <a:ext cx="384048" cy="384048"/>
          </a:xfrm>
          <a:prstGeom prst="ellipse">
            <a:avLst/>
          </a:prstGeom>
          <a:solidFill>
            <a:srgbClr val="18233C"/>
          </a:solidFill>
          <a:ln w="15875">
            <a:solidFill>
              <a:srgbClr val="22D3EE"/>
            </a:solidFill>
            <a:prstDash val="solid"/>
          </a:ln>
        </p:spPr>
      </p:sp>
      <p:sp>
        <p:nvSpPr>
          <p:cNvPr id="48" name="Text 37"/>
          <p:cNvSpPr txBox="1"/>
          <p:nvPr/>
        </p:nvSpPr>
        <p:spPr>
          <a:xfrm>
            <a:off x="6457036" y="5360759"/>
            <a:ext cx="384048" cy="384048"/>
          </a:xfrm>
          <a:prstGeom prst="rect">
            <a:avLst/>
          </a:prstGeom>
          <a:noFill/>
          <a:ln/>
        </p:spPr>
        <p:txBody>
          <a:bodyPr wrap="square" lIns="0" tIns="0" rIns="0" bIns="0" rtlCol="0" anchor="ctr"/>
          <a:lstStyle/>
          <a:p>
            <a:pPr marL="0" indent="0" algn="ctr">
              <a:buNone/>
            </a:pPr>
            <a:r>
              <a:rPr lang="en-US" sz="1092" b="1" dirty="0">
                <a:solidFill>
                  <a:srgbClr val="22D3EE"/>
                </a:solidFill>
                <a:latin typeface="Tahoma" panose="020B0604030504040204" pitchFamily="34" charset="0"/>
                <a:ea typeface="Tahoma" panose="020B0604030504040204" pitchFamily="34" charset="0"/>
                <a:cs typeface="Tahoma" panose="020B0604030504040204" pitchFamily="34" charset="0"/>
              </a:rPr>
              <a:t>04</a:t>
            </a:r>
            <a:endParaRPr lang="en-US" sz="1092" dirty="0">
              <a:latin typeface="Tahoma" panose="020B0604030504040204" pitchFamily="34" charset="0"/>
            </a:endParaRPr>
          </a:p>
        </p:txBody>
      </p:sp>
      <p:sp>
        <p:nvSpPr>
          <p:cNvPr id="49" name="Text 38"/>
          <p:cNvSpPr txBox="1"/>
          <p:nvPr/>
        </p:nvSpPr>
        <p:spPr>
          <a:xfrm>
            <a:off x="6987388" y="4873841"/>
            <a:ext cx="4518508" cy="1357884"/>
          </a:xfrm>
          <a:prstGeom prst="rect">
            <a:avLst/>
          </a:prstGeom>
          <a:noFill/>
          <a:ln/>
        </p:spPr>
        <p:txBody>
          <a:bodyPr wrap="square" lIns="0" tIns="0" rIns="0" bIns="0" rtlCol="0" anchor="ctr"/>
          <a:lstStyle/>
          <a:p>
            <a:pPr marL="0" indent="0">
              <a:lnSpc>
                <a:spcPct val="115000"/>
              </a:lnSpc>
              <a:buNone/>
            </a:pPr>
            <a:r>
              <a:rPr lang="en-US" sz="1200" dirty="0">
                <a:solidFill>
                  <a:srgbClr val="EAF0FA"/>
                </a:solidFill>
                <a:latin typeface="Tahoma" panose="020B0604030504040204" pitchFamily="34" charset="0"/>
                <a:ea typeface="Tahoma" panose="020B0604030504040204" pitchFamily="34" charset="0"/>
                <a:cs typeface="Tahoma" panose="020B0604030504040204" pitchFamily="34" charset="0"/>
              </a:rPr>
              <a:t>Interactive dashboard with charts, budget alerts, and AI-generated savings tips</a:t>
            </a:r>
            <a:endParaRPr lang="en-US" sz="1200" dirty="0">
              <a:latin typeface="Tahoma" panose="020B0604030504040204" pitchFamily="34" charset="0"/>
            </a:endParaRPr>
          </a:p>
        </p:txBody>
      </p:sp>
      <p:pic>
        <p:nvPicPr>
          <p:cNvPr id="52" name="Picture 51">
            <a:extLst>
              <a:ext uri="{FF2B5EF4-FFF2-40B4-BE49-F238E27FC236}">
                <a16:creationId xmlns:a16="http://schemas.microsoft.com/office/drawing/2014/main" id="{085EACFE-3287-1914-A787-D08254042E66}"/>
              </a:ext>
            </a:extLst>
          </p:cNvPr>
          <p:cNvPicPr>
            <a:picLocks noChangeAspect="1"/>
          </p:cNvPicPr>
          <p:nvPr/>
        </p:nvPicPr>
        <p:blipFill>
          <a:blip r:embed="rId9"/>
          <a:srcRect r="15270" b="26538"/>
          <a:stretch>
            <a:fillRect/>
          </a:stretch>
        </p:blipFill>
        <p:spPr>
          <a:xfrm>
            <a:off x="10416983" y="236798"/>
            <a:ext cx="1440000" cy="527673"/>
          </a:xfrm>
          <a:prstGeom prst="round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F1F"/>
        </a:solidFill>
        <a:effectLst/>
      </p:bgPr>
    </p:bg>
    <p:spTree>
      <p:nvGrpSpPr>
        <p:cNvPr id="1" name=""/>
        <p:cNvGrpSpPr/>
        <p:nvPr/>
      </p:nvGrpSpPr>
      <p:grpSpPr>
        <a:xfrm>
          <a:off x="0" y="0"/>
          <a:ext cx="0" cy="0"/>
          <a:chOff x="0" y="0"/>
          <a:chExt cx="0" cy="0"/>
        </a:xfrm>
      </p:grpSpPr>
      <p:sp>
        <p:nvSpPr>
          <p:cNvPr id="2" name="Shape 0"/>
          <p:cNvSpPr/>
          <p:nvPr/>
        </p:nvSpPr>
        <p:spPr>
          <a:xfrm>
            <a:off x="10637215" y="320040"/>
            <a:ext cx="1051560" cy="384048"/>
          </a:xfrm>
          <a:prstGeom prst="roundRect">
            <a:avLst>
              <a:gd name="adj" fmla="val 14286"/>
            </a:avLst>
          </a:prstGeom>
          <a:solidFill>
            <a:srgbClr val="18233C"/>
          </a:solidFill>
          <a:ln w="9525">
            <a:solidFill>
              <a:srgbClr val="24314F"/>
            </a:solidFill>
            <a:prstDash val="dash"/>
          </a:ln>
        </p:spPr>
      </p:sp>
      <p:sp>
        <p:nvSpPr>
          <p:cNvPr id="3" name="Text 1"/>
          <p:cNvSpPr txBox="1"/>
          <p:nvPr/>
        </p:nvSpPr>
        <p:spPr>
          <a:xfrm>
            <a:off x="10637215" y="320040"/>
            <a:ext cx="1051560" cy="384048"/>
          </a:xfrm>
          <a:prstGeom prst="rect">
            <a:avLst/>
          </a:prstGeom>
          <a:noFill/>
          <a:ln/>
        </p:spPr>
        <p:txBody>
          <a:bodyPr wrap="square" lIns="0" tIns="0" rIns="0" bIns="0" rtlCol="0" anchor="ctr"/>
          <a:lstStyle/>
          <a:p>
            <a:pPr marL="0" indent="0" algn="ctr">
              <a:buNone/>
            </a:pPr>
            <a:r>
              <a:rPr lang="en-US" sz="900" b="1" dirty="0">
                <a:solidFill>
                  <a:srgbClr val="94A3B8"/>
                </a:solidFill>
                <a:latin typeface="Tahoma" panose="020B0604030504040204" pitchFamily="34" charset="0"/>
                <a:ea typeface="Tahoma" panose="020B0604030504040204" pitchFamily="34" charset="0"/>
                <a:cs typeface="Tahoma" panose="020B0604030504040204" pitchFamily="34" charset="0"/>
              </a:rPr>
              <a:t>CVV LOGO</a:t>
            </a:r>
            <a:endParaRPr lang="en-US" sz="900" dirty="0">
              <a:latin typeface="Tahoma" panose="020B0604030504040204" pitchFamily="34" charset="0"/>
            </a:endParaRPr>
          </a:p>
        </p:txBody>
      </p:sp>
      <p:sp>
        <p:nvSpPr>
          <p:cNvPr id="4" name="Text 2"/>
          <p:cNvSpPr txBox="1"/>
          <p:nvPr/>
        </p:nvSpPr>
        <p:spPr>
          <a:xfrm>
            <a:off x="502920" y="292608"/>
            <a:ext cx="9905695" cy="566928"/>
          </a:xfrm>
          <a:prstGeom prst="rect">
            <a:avLst/>
          </a:prstGeom>
          <a:noFill/>
          <a:ln/>
        </p:spPr>
        <p:txBody>
          <a:bodyPr wrap="square" lIns="0" tIns="0" rIns="0" bIns="0" rtlCol="0" anchor="ctr"/>
          <a:lstStyle/>
          <a:p>
            <a:pPr marL="0" indent="0" algn="l">
              <a:buNone/>
            </a:pPr>
            <a:r>
              <a:rPr lang="en-US" sz="3000" b="1" kern="0" spc="50" dirty="0">
                <a:solidFill>
                  <a:srgbClr val="EAF0FA"/>
                </a:solidFill>
                <a:latin typeface="Tahoma" panose="020B0604030504040204" pitchFamily="34" charset="0"/>
                <a:ea typeface="Tahoma" panose="020B0604030504040204" pitchFamily="34" charset="0"/>
                <a:cs typeface="Tahoma" panose="020B0604030504040204" pitchFamily="34" charset="0"/>
              </a:rPr>
              <a:t>Advantages</a:t>
            </a:r>
            <a:endParaRPr lang="en-US" sz="3000" dirty="0">
              <a:latin typeface="Tahoma" panose="020B0604030504040204" pitchFamily="34" charset="0"/>
            </a:endParaRPr>
          </a:p>
        </p:txBody>
      </p:sp>
      <p:sp>
        <p:nvSpPr>
          <p:cNvPr id="5" name="Text 3"/>
          <p:cNvSpPr txBox="1"/>
          <p:nvPr/>
        </p:nvSpPr>
        <p:spPr>
          <a:xfrm>
            <a:off x="502920" y="18288"/>
            <a:ext cx="5486400" cy="256032"/>
          </a:xfrm>
          <a:prstGeom prst="rect">
            <a:avLst/>
          </a:prstGeom>
          <a:noFill/>
          <a:ln/>
        </p:spPr>
        <p:txBody>
          <a:bodyPr wrap="square" lIns="0" tIns="0" rIns="0" bIns="0" rtlCol="0" anchor="ctr"/>
          <a:lstStyle/>
          <a:p>
            <a:pPr marL="0" indent="0" algn="l">
              <a:buNone/>
            </a:pPr>
            <a:r>
              <a:rPr lang="en-US" sz="1100" b="1" kern="0" spc="120" dirty="0">
                <a:solidFill>
                  <a:srgbClr val="22D3EE"/>
                </a:solidFill>
                <a:latin typeface="Tahoma" panose="020B0604030504040204" pitchFamily="34" charset="0"/>
                <a:ea typeface="Tahoma" panose="020B0604030504040204" pitchFamily="34" charset="0"/>
                <a:cs typeface="Tahoma" panose="020B0604030504040204" pitchFamily="34" charset="0"/>
              </a:rPr>
              <a:t>WHY THIS APPROACH WINS</a:t>
            </a:r>
            <a:endParaRPr lang="en-US" sz="1100" dirty="0">
              <a:latin typeface="Tahoma" panose="020B0604030504040204" pitchFamily="34" charset="0"/>
            </a:endParaRPr>
          </a:p>
        </p:txBody>
      </p:sp>
      <p:sp>
        <p:nvSpPr>
          <p:cNvPr id="7" name="Text 5"/>
          <p:cNvSpPr txBox="1"/>
          <p:nvPr/>
        </p:nvSpPr>
        <p:spPr>
          <a:xfrm>
            <a:off x="11140135" y="6473952"/>
            <a:ext cx="548640" cy="274320"/>
          </a:xfrm>
          <a:prstGeom prst="rect">
            <a:avLst/>
          </a:prstGeom>
          <a:noFill/>
          <a:ln/>
        </p:spPr>
        <p:txBody>
          <a:bodyPr wrap="square" lIns="0" tIns="0" rIns="0" bIns="0" rtlCol="0" anchor="ctr"/>
          <a:lstStyle/>
          <a:p>
            <a:pPr marL="0" indent="0" algn="r">
              <a:buNone/>
            </a:pPr>
            <a:r>
              <a:rPr lang="en-US" sz="900" dirty="0">
                <a:solidFill>
                  <a:srgbClr val="5B6B85"/>
                </a:solidFill>
                <a:latin typeface="Tahoma" panose="020B0604030504040204" pitchFamily="34" charset="0"/>
                <a:ea typeface="Tahoma" panose="020B0604030504040204" pitchFamily="34" charset="0"/>
                <a:cs typeface="Tahoma" panose="020B0604030504040204" pitchFamily="34" charset="0"/>
              </a:rPr>
              <a:t>07</a:t>
            </a:r>
            <a:endParaRPr lang="en-US" sz="900" dirty="0">
              <a:latin typeface="Tahoma" panose="020B0604030504040204" pitchFamily="34" charset="0"/>
            </a:endParaRPr>
          </a:p>
        </p:txBody>
      </p:sp>
      <p:sp>
        <p:nvSpPr>
          <p:cNvPr id="8" name="Shape 6"/>
          <p:cNvSpPr/>
          <p:nvPr/>
        </p:nvSpPr>
        <p:spPr>
          <a:xfrm>
            <a:off x="502920" y="6400800"/>
            <a:ext cx="11185855" cy="0"/>
          </a:xfrm>
          <a:prstGeom prst="line">
            <a:avLst/>
          </a:prstGeom>
          <a:noFill/>
          <a:ln w="9525">
            <a:solidFill>
              <a:srgbClr val="24314F"/>
            </a:solidFill>
            <a:prstDash val="solid"/>
          </a:ln>
        </p:spPr>
      </p:sp>
      <p:sp>
        <p:nvSpPr>
          <p:cNvPr id="9" name="Shape 7"/>
          <p:cNvSpPr/>
          <p:nvPr/>
        </p:nvSpPr>
        <p:spPr>
          <a:xfrm>
            <a:off x="502920" y="1143000"/>
            <a:ext cx="5432908" cy="2377440"/>
          </a:xfrm>
          <a:prstGeom prst="roundRect">
            <a:avLst>
              <a:gd name="adj" fmla="val 3846"/>
            </a:avLst>
          </a:prstGeom>
          <a:solidFill>
            <a:srgbClr val="121B30"/>
          </a:solidFill>
          <a:ln/>
        </p:spPr>
      </p:sp>
      <p:sp>
        <p:nvSpPr>
          <p:cNvPr id="10" name="Shape 8"/>
          <p:cNvSpPr/>
          <p:nvPr/>
        </p:nvSpPr>
        <p:spPr>
          <a:xfrm>
            <a:off x="777240" y="1399032"/>
            <a:ext cx="566928" cy="566928"/>
          </a:xfrm>
          <a:prstGeom prst="roundRect">
            <a:avLst>
              <a:gd name="adj" fmla="val 19355"/>
            </a:avLst>
          </a:prstGeom>
          <a:solidFill>
            <a:srgbClr val="18233C"/>
          </a:solidFill>
          <a:ln/>
        </p:spPr>
      </p:sp>
      <p:pic>
        <p:nvPicPr>
          <p:cNvPr id="11" name="Image 0" descr="/home/claude/icons/ic_zap.png"/>
          <p:cNvPicPr>
            <a:picLocks noChangeAspect="1"/>
          </p:cNvPicPr>
          <p:nvPr/>
        </p:nvPicPr>
        <p:blipFill>
          <a:blip r:embed="rId3"/>
          <a:stretch>
            <a:fillRect/>
          </a:stretch>
        </p:blipFill>
        <p:spPr>
          <a:xfrm>
            <a:off x="914400" y="1536192"/>
            <a:ext cx="292608" cy="292608"/>
          </a:xfrm>
          <a:prstGeom prst="rect">
            <a:avLst/>
          </a:prstGeom>
        </p:spPr>
      </p:pic>
      <p:sp>
        <p:nvSpPr>
          <p:cNvPr id="12" name="Text 9"/>
          <p:cNvSpPr txBox="1"/>
          <p:nvPr/>
        </p:nvSpPr>
        <p:spPr>
          <a:xfrm>
            <a:off x="1508760" y="1417320"/>
            <a:ext cx="4152748" cy="502920"/>
          </a:xfrm>
          <a:prstGeom prst="rect">
            <a:avLst/>
          </a:prstGeom>
          <a:noFill/>
          <a:ln/>
        </p:spPr>
        <p:txBody>
          <a:bodyPr wrap="square" lIns="0" tIns="0" rIns="0" bIns="0" rtlCol="0" anchor="ctr"/>
          <a:lstStyle/>
          <a:p>
            <a:pPr marL="0" indent="0">
              <a:buNone/>
            </a:pPr>
            <a:r>
              <a:rPr lang="en-US" sz="1700" b="1" dirty="0">
                <a:solidFill>
                  <a:srgbClr val="EAF0FA"/>
                </a:solidFill>
                <a:latin typeface="Tahoma" panose="020B0604030504040204" pitchFamily="34" charset="0"/>
                <a:ea typeface="Tahoma" panose="020B0604030504040204" pitchFamily="34" charset="0"/>
                <a:cs typeface="Tahoma" panose="020B0604030504040204" pitchFamily="34" charset="0"/>
              </a:rPr>
              <a:t>Automation</a:t>
            </a:r>
            <a:endParaRPr lang="en-US" sz="1700" dirty="0">
              <a:latin typeface="Tahoma" panose="020B0604030504040204" pitchFamily="34" charset="0"/>
            </a:endParaRPr>
          </a:p>
        </p:txBody>
      </p:sp>
      <p:sp>
        <p:nvSpPr>
          <p:cNvPr id="13" name="Text 10"/>
          <p:cNvSpPr txBox="1"/>
          <p:nvPr/>
        </p:nvSpPr>
        <p:spPr>
          <a:xfrm>
            <a:off x="795528" y="2148840"/>
            <a:ext cx="4847692" cy="1188720"/>
          </a:xfrm>
          <a:prstGeom prst="rect">
            <a:avLst/>
          </a:prstGeom>
          <a:noFill/>
          <a:ln/>
        </p:spPr>
        <p:txBody>
          <a:bodyPr wrap="square" lIns="0" tIns="0" rIns="0" bIns="0" rtlCol="0" anchor="t"/>
          <a:lstStyle/>
          <a:p>
            <a:pPr marL="0" indent="0">
              <a:lnSpc>
                <a:spcPct val="125000"/>
              </a:lnSpc>
              <a:buNone/>
            </a:pPr>
            <a:r>
              <a:rPr lang="en-US" sz="1300" dirty="0">
                <a:solidFill>
                  <a:srgbClr val="94A3B8"/>
                </a:solidFill>
                <a:latin typeface="Tahoma" panose="020B0604030504040204" pitchFamily="34" charset="0"/>
                <a:ea typeface="Tahoma" panose="020B0604030504040204" pitchFamily="34" charset="0"/>
                <a:cs typeface="Tahoma" panose="020B0604030504040204" pitchFamily="34" charset="0"/>
              </a:rPr>
              <a:t>Eliminates manual data entry through automated statement parsing</a:t>
            </a:r>
            <a:endParaRPr lang="en-US" sz="1300" dirty="0">
              <a:latin typeface="Tahoma" panose="020B0604030504040204" pitchFamily="34" charset="0"/>
            </a:endParaRPr>
          </a:p>
        </p:txBody>
      </p:sp>
      <p:sp>
        <p:nvSpPr>
          <p:cNvPr id="14" name="Shape 11"/>
          <p:cNvSpPr/>
          <p:nvPr/>
        </p:nvSpPr>
        <p:spPr>
          <a:xfrm>
            <a:off x="6255868" y="1143000"/>
            <a:ext cx="5432908" cy="2377440"/>
          </a:xfrm>
          <a:prstGeom prst="roundRect">
            <a:avLst>
              <a:gd name="adj" fmla="val 3846"/>
            </a:avLst>
          </a:prstGeom>
          <a:solidFill>
            <a:srgbClr val="121B30"/>
          </a:solidFill>
          <a:ln/>
        </p:spPr>
      </p:sp>
      <p:sp>
        <p:nvSpPr>
          <p:cNvPr id="15" name="Shape 12"/>
          <p:cNvSpPr/>
          <p:nvPr/>
        </p:nvSpPr>
        <p:spPr>
          <a:xfrm>
            <a:off x="6530188" y="1399032"/>
            <a:ext cx="566928" cy="566928"/>
          </a:xfrm>
          <a:prstGeom prst="roundRect">
            <a:avLst>
              <a:gd name="adj" fmla="val 19355"/>
            </a:avLst>
          </a:prstGeom>
          <a:solidFill>
            <a:srgbClr val="18233C"/>
          </a:solidFill>
          <a:ln/>
        </p:spPr>
      </p:sp>
      <p:pic>
        <p:nvPicPr>
          <p:cNvPr id="16" name="Image 1" descr="/home/claude/icons/ic_target.png"/>
          <p:cNvPicPr>
            <a:picLocks noChangeAspect="1"/>
          </p:cNvPicPr>
          <p:nvPr/>
        </p:nvPicPr>
        <p:blipFill>
          <a:blip r:embed="rId4"/>
          <a:stretch>
            <a:fillRect/>
          </a:stretch>
        </p:blipFill>
        <p:spPr>
          <a:xfrm>
            <a:off x="6667348" y="1536192"/>
            <a:ext cx="292608" cy="292608"/>
          </a:xfrm>
          <a:prstGeom prst="rect">
            <a:avLst/>
          </a:prstGeom>
        </p:spPr>
      </p:pic>
      <p:sp>
        <p:nvSpPr>
          <p:cNvPr id="17" name="Text 13"/>
          <p:cNvSpPr txBox="1"/>
          <p:nvPr/>
        </p:nvSpPr>
        <p:spPr>
          <a:xfrm>
            <a:off x="7261708" y="1417320"/>
            <a:ext cx="4152748" cy="502920"/>
          </a:xfrm>
          <a:prstGeom prst="rect">
            <a:avLst/>
          </a:prstGeom>
          <a:noFill/>
          <a:ln/>
        </p:spPr>
        <p:txBody>
          <a:bodyPr wrap="square" lIns="0" tIns="0" rIns="0" bIns="0" rtlCol="0" anchor="ctr"/>
          <a:lstStyle/>
          <a:p>
            <a:pPr marL="0" indent="0">
              <a:buNone/>
            </a:pPr>
            <a:r>
              <a:rPr lang="en-US" sz="1700" b="1" dirty="0">
                <a:solidFill>
                  <a:srgbClr val="EAF0FA"/>
                </a:solidFill>
                <a:latin typeface="Tahoma" panose="020B0604030504040204" pitchFamily="34" charset="0"/>
                <a:ea typeface="Tahoma" panose="020B0604030504040204" pitchFamily="34" charset="0"/>
                <a:cs typeface="Tahoma" panose="020B0604030504040204" pitchFamily="34" charset="0"/>
              </a:rPr>
              <a:t>Accuracy</a:t>
            </a:r>
            <a:endParaRPr lang="en-US" sz="1700" dirty="0">
              <a:latin typeface="Tahoma" panose="020B0604030504040204" pitchFamily="34" charset="0"/>
            </a:endParaRPr>
          </a:p>
        </p:txBody>
      </p:sp>
      <p:sp>
        <p:nvSpPr>
          <p:cNvPr id="18" name="Text 14"/>
          <p:cNvSpPr txBox="1"/>
          <p:nvPr/>
        </p:nvSpPr>
        <p:spPr>
          <a:xfrm>
            <a:off x="6548476" y="2148840"/>
            <a:ext cx="4847692" cy="1188720"/>
          </a:xfrm>
          <a:prstGeom prst="rect">
            <a:avLst/>
          </a:prstGeom>
          <a:noFill/>
          <a:ln/>
        </p:spPr>
        <p:txBody>
          <a:bodyPr wrap="square" lIns="0" tIns="0" rIns="0" bIns="0" rtlCol="0" anchor="t"/>
          <a:lstStyle/>
          <a:p>
            <a:pPr marL="0" indent="0">
              <a:lnSpc>
                <a:spcPct val="125000"/>
              </a:lnSpc>
              <a:buNone/>
            </a:pPr>
            <a:r>
              <a:rPr lang="en-US" sz="1300" dirty="0">
                <a:solidFill>
                  <a:srgbClr val="94A3B8"/>
                </a:solidFill>
                <a:latin typeface="Tahoma" panose="020B0604030504040204" pitchFamily="34" charset="0"/>
                <a:ea typeface="Tahoma" panose="020B0604030504040204" pitchFamily="34" charset="0"/>
                <a:cs typeface="Tahoma" panose="020B0604030504040204" pitchFamily="34" charset="0"/>
              </a:rPr>
              <a:t>AI categorization saves time and improves accuracy over manual tagging</a:t>
            </a:r>
            <a:endParaRPr lang="en-US" sz="1300" dirty="0">
              <a:latin typeface="Tahoma" panose="020B0604030504040204" pitchFamily="34" charset="0"/>
            </a:endParaRPr>
          </a:p>
        </p:txBody>
      </p:sp>
      <p:sp>
        <p:nvSpPr>
          <p:cNvPr id="19" name="Shape 15"/>
          <p:cNvSpPr/>
          <p:nvPr/>
        </p:nvSpPr>
        <p:spPr>
          <a:xfrm>
            <a:off x="502920" y="3840480"/>
            <a:ext cx="5432908" cy="2377440"/>
          </a:xfrm>
          <a:prstGeom prst="roundRect">
            <a:avLst>
              <a:gd name="adj" fmla="val 3846"/>
            </a:avLst>
          </a:prstGeom>
          <a:solidFill>
            <a:srgbClr val="121B30"/>
          </a:solidFill>
          <a:ln/>
        </p:spPr>
      </p:sp>
      <p:sp>
        <p:nvSpPr>
          <p:cNvPr id="20" name="Shape 16"/>
          <p:cNvSpPr/>
          <p:nvPr/>
        </p:nvSpPr>
        <p:spPr>
          <a:xfrm>
            <a:off x="777240" y="4096512"/>
            <a:ext cx="566928" cy="566928"/>
          </a:xfrm>
          <a:prstGeom prst="roundRect">
            <a:avLst>
              <a:gd name="adj" fmla="val 19355"/>
            </a:avLst>
          </a:prstGeom>
          <a:solidFill>
            <a:srgbClr val="18233C"/>
          </a:solidFill>
          <a:ln/>
        </p:spPr>
      </p:sp>
      <p:pic>
        <p:nvPicPr>
          <p:cNvPr id="21" name="Image 2" descr="/home/claude/icons/ic_bell.png"/>
          <p:cNvPicPr>
            <a:picLocks noChangeAspect="1"/>
          </p:cNvPicPr>
          <p:nvPr/>
        </p:nvPicPr>
        <p:blipFill>
          <a:blip r:embed="rId5"/>
          <a:stretch>
            <a:fillRect/>
          </a:stretch>
        </p:blipFill>
        <p:spPr>
          <a:xfrm>
            <a:off x="914400" y="4233672"/>
            <a:ext cx="292608" cy="292608"/>
          </a:xfrm>
          <a:prstGeom prst="rect">
            <a:avLst/>
          </a:prstGeom>
        </p:spPr>
      </p:pic>
      <p:sp>
        <p:nvSpPr>
          <p:cNvPr id="22" name="Text 17"/>
          <p:cNvSpPr txBox="1"/>
          <p:nvPr/>
        </p:nvSpPr>
        <p:spPr>
          <a:xfrm>
            <a:off x="1508760" y="4114800"/>
            <a:ext cx="4152748" cy="502920"/>
          </a:xfrm>
          <a:prstGeom prst="rect">
            <a:avLst/>
          </a:prstGeom>
          <a:noFill/>
          <a:ln/>
        </p:spPr>
        <p:txBody>
          <a:bodyPr wrap="square" lIns="0" tIns="0" rIns="0" bIns="0" rtlCol="0" anchor="ctr"/>
          <a:lstStyle/>
          <a:p>
            <a:pPr marL="0" indent="0">
              <a:buNone/>
            </a:pPr>
            <a:r>
              <a:rPr lang="en-US" sz="1700" b="1" dirty="0">
                <a:solidFill>
                  <a:srgbClr val="EAF0FA"/>
                </a:solidFill>
                <a:latin typeface="Tahoma" panose="020B0604030504040204" pitchFamily="34" charset="0"/>
                <a:ea typeface="Tahoma" panose="020B0604030504040204" pitchFamily="34" charset="0"/>
                <a:cs typeface="Tahoma" panose="020B0604030504040204" pitchFamily="34" charset="0"/>
              </a:rPr>
              <a:t>Proactive Budgeting</a:t>
            </a:r>
            <a:endParaRPr lang="en-US" sz="1700" dirty="0">
              <a:latin typeface="Tahoma" panose="020B0604030504040204" pitchFamily="34" charset="0"/>
            </a:endParaRPr>
          </a:p>
        </p:txBody>
      </p:sp>
      <p:sp>
        <p:nvSpPr>
          <p:cNvPr id="23" name="Text 18"/>
          <p:cNvSpPr txBox="1"/>
          <p:nvPr/>
        </p:nvSpPr>
        <p:spPr>
          <a:xfrm>
            <a:off x="795528" y="4846320"/>
            <a:ext cx="4847692" cy="1188720"/>
          </a:xfrm>
          <a:prstGeom prst="rect">
            <a:avLst/>
          </a:prstGeom>
          <a:noFill/>
          <a:ln/>
        </p:spPr>
        <p:txBody>
          <a:bodyPr wrap="square" lIns="0" tIns="0" rIns="0" bIns="0" rtlCol="0" anchor="t"/>
          <a:lstStyle/>
          <a:p>
            <a:pPr marL="0" indent="0">
              <a:lnSpc>
                <a:spcPct val="125000"/>
              </a:lnSpc>
              <a:buNone/>
            </a:pPr>
            <a:r>
              <a:rPr lang="en-US" sz="1300" dirty="0">
                <a:solidFill>
                  <a:srgbClr val="94A3B8"/>
                </a:solidFill>
                <a:latin typeface="Tahoma" panose="020B0604030504040204" pitchFamily="34" charset="0"/>
                <a:ea typeface="Tahoma" panose="020B0604030504040204" pitchFamily="34" charset="0"/>
                <a:cs typeface="Tahoma" panose="020B0604030504040204" pitchFamily="34" charset="0"/>
              </a:rPr>
              <a:t>Real-time budget alerts help users control overspending proactively</a:t>
            </a:r>
            <a:endParaRPr lang="en-US" sz="1300" dirty="0">
              <a:latin typeface="Tahoma" panose="020B0604030504040204" pitchFamily="34" charset="0"/>
            </a:endParaRPr>
          </a:p>
        </p:txBody>
      </p:sp>
      <p:sp>
        <p:nvSpPr>
          <p:cNvPr id="24" name="Shape 19"/>
          <p:cNvSpPr/>
          <p:nvPr/>
        </p:nvSpPr>
        <p:spPr>
          <a:xfrm>
            <a:off x="6255868" y="3840480"/>
            <a:ext cx="5432908" cy="2377440"/>
          </a:xfrm>
          <a:prstGeom prst="roundRect">
            <a:avLst>
              <a:gd name="adj" fmla="val 3846"/>
            </a:avLst>
          </a:prstGeom>
          <a:solidFill>
            <a:srgbClr val="121B30"/>
          </a:solidFill>
          <a:ln/>
        </p:spPr>
      </p:sp>
      <p:sp>
        <p:nvSpPr>
          <p:cNvPr id="25" name="Shape 20"/>
          <p:cNvSpPr/>
          <p:nvPr/>
        </p:nvSpPr>
        <p:spPr>
          <a:xfrm>
            <a:off x="6530188" y="4096512"/>
            <a:ext cx="566928" cy="566928"/>
          </a:xfrm>
          <a:prstGeom prst="roundRect">
            <a:avLst>
              <a:gd name="adj" fmla="val 19355"/>
            </a:avLst>
          </a:prstGeom>
          <a:solidFill>
            <a:srgbClr val="18233C"/>
          </a:solidFill>
          <a:ln/>
        </p:spPr>
      </p:sp>
      <p:pic>
        <p:nvPicPr>
          <p:cNvPr id="26" name="Image 3" descr="/home/claude/icons/ic_pie.png"/>
          <p:cNvPicPr>
            <a:picLocks noChangeAspect="1"/>
          </p:cNvPicPr>
          <p:nvPr/>
        </p:nvPicPr>
        <p:blipFill>
          <a:blip r:embed="rId6"/>
          <a:stretch>
            <a:fillRect/>
          </a:stretch>
        </p:blipFill>
        <p:spPr>
          <a:xfrm>
            <a:off x="6667348" y="4233672"/>
            <a:ext cx="292608" cy="292608"/>
          </a:xfrm>
          <a:prstGeom prst="rect">
            <a:avLst/>
          </a:prstGeom>
        </p:spPr>
      </p:pic>
      <p:sp>
        <p:nvSpPr>
          <p:cNvPr id="27" name="Text 21"/>
          <p:cNvSpPr txBox="1"/>
          <p:nvPr/>
        </p:nvSpPr>
        <p:spPr>
          <a:xfrm>
            <a:off x="7261708" y="4114800"/>
            <a:ext cx="4152748" cy="502920"/>
          </a:xfrm>
          <a:prstGeom prst="rect">
            <a:avLst/>
          </a:prstGeom>
          <a:noFill/>
          <a:ln/>
        </p:spPr>
        <p:txBody>
          <a:bodyPr wrap="square" lIns="0" tIns="0" rIns="0" bIns="0" rtlCol="0" anchor="ctr"/>
          <a:lstStyle/>
          <a:p>
            <a:pPr marL="0" indent="0">
              <a:buNone/>
            </a:pPr>
            <a:r>
              <a:rPr lang="en-US" sz="1700" b="1" dirty="0">
                <a:solidFill>
                  <a:srgbClr val="EAF0FA"/>
                </a:solidFill>
                <a:latin typeface="Tahoma" panose="020B0604030504040204" pitchFamily="34" charset="0"/>
                <a:ea typeface="Tahoma" panose="020B0604030504040204" pitchFamily="34" charset="0"/>
                <a:cs typeface="Tahoma" panose="020B0604030504040204" pitchFamily="34" charset="0"/>
              </a:rPr>
              <a:t>Visual Analytics</a:t>
            </a:r>
            <a:endParaRPr lang="en-US" sz="1700" dirty="0">
              <a:latin typeface="Tahoma" panose="020B0604030504040204" pitchFamily="34" charset="0"/>
            </a:endParaRPr>
          </a:p>
        </p:txBody>
      </p:sp>
      <p:sp>
        <p:nvSpPr>
          <p:cNvPr id="28" name="Text 22"/>
          <p:cNvSpPr txBox="1"/>
          <p:nvPr/>
        </p:nvSpPr>
        <p:spPr>
          <a:xfrm>
            <a:off x="6548476" y="4846320"/>
            <a:ext cx="4847692" cy="1188720"/>
          </a:xfrm>
          <a:prstGeom prst="rect">
            <a:avLst/>
          </a:prstGeom>
          <a:noFill/>
          <a:ln/>
        </p:spPr>
        <p:txBody>
          <a:bodyPr wrap="square" lIns="0" tIns="0" rIns="0" bIns="0" rtlCol="0" anchor="t"/>
          <a:lstStyle/>
          <a:p>
            <a:pPr marL="0" indent="0">
              <a:lnSpc>
                <a:spcPct val="125000"/>
              </a:lnSpc>
              <a:buNone/>
            </a:pPr>
            <a:r>
              <a:rPr lang="en-US" sz="1300" dirty="0">
                <a:solidFill>
                  <a:srgbClr val="94A3B8"/>
                </a:solidFill>
                <a:latin typeface="Tahoma" panose="020B0604030504040204" pitchFamily="34" charset="0"/>
                <a:ea typeface="Tahoma" panose="020B0604030504040204" pitchFamily="34" charset="0"/>
                <a:cs typeface="Tahoma" panose="020B0604030504040204" pitchFamily="34" charset="0"/>
              </a:rPr>
              <a:t>Visual analytics (pie charts, trend charts) make spending patterns easy to understand</a:t>
            </a:r>
            <a:endParaRPr lang="en-US" sz="1300" dirty="0">
              <a:latin typeface="Tahoma" panose="020B0604030504040204" pitchFamily="34" charset="0"/>
            </a:endParaRPr>
          </a:p>
        </p:txBody>
      </p:sp>
      <p:pic>
        <p:nvPicPr>
          <p:cNvPr id="31" name="Picture 30">
            <a:extLst>
              <a:ext uri="{FF2B5EF4-FFF2-40B4-BE49-F238E27FC236}">
                <a16:creationId xmlns:a16="http://schemas.microsoft.com/office/drawing/2014/main" id="{08626B00-F867-2C87-E562-B2A44096C08E}"/>
              </a:ext>
            </a:extLst>
          </p:cNvPr>
          <p:cNvPicPr>
            <a:picLocks noChangeAspect="1"/>
          </p:cNvPicPr>
          <p:nvPr/>
        </p:nvPicPr>
        <p:blipFill>
          <a:blip r:embed="rId7"/>
          <a:srcRect r="15270" b="26538"/>
          <a:stretch>
            <a:fillRect/>
          </a:stretch>
        </p:blipFill>
        <p:spPr>
          <a:xfrm>
            <a:off x="10416983" y="236798"/>
            <a:ext cx="1440000" cy="527673"/>
          </a:xfrm>
          <a:prstGeom prst="round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F1F"/>
        </a:solidFill>
        <a:effectLst/>
      </p:bgPr>
    </p:bg>
    <p:spTree>
      <p:nvGrpSpPr>
        <p:cNvPr id="1" name=""/>
        <p:cNvGrpSpPr/>
        <p:nvPr/>
      </p:nvGrpSpPr>
      <p:grpSpPr>
        <a:xfrm>
          <a:off x="0" y="0"/>
          <a:ext cx="0" cy="0"/>
          <a:chOff x="0" y="0"/>
          <a:chExt cx="0" cy="0"/>
        </a:xfrm>
      </p:grpSpPr>
      <p:sp>
        <p:nvSpPr>
          <p:cNvPr id="2" name="Shape 0"/>
          <p:cNvSpPr/>
          <p:nvPr/>
        </p:nvSpPr>
        <p:spPr>
          <a:xfrm>
            <a:off x="10637215" y="320040"/>
            <a:ext cx="1051560" cy="384048"/>
          </a:xfrm>
          <a:prstGeom prst="roundRect">
            <a:avLst>
              <a:gd name="adj" fmla="val 14286"/>
            </a:avLst>
          </a:prstGeom>
          <a:solidFill>
            <a:srgbClr val="18233C"/>
          </a:solidFill>
          <a:ln w="9525">
            <a:solidFill>
              <a:srgbClr val="24314F"/>
            </a:solidFill>
            <a:prstDash val="dash"/>
          </a:ln>
        </p:spPr>
        <p:txBody>
          <a:bodyPr/>
          <a:lstStyle/>
          <a:p>
            <a:endParaRPr/>
          </a:p>
        </p:txBody>
      </p:sp>
      <p:sp>
        <p:nvSpPr>
          <p:cNvPr id="3" name="Text 1"/>
          <p:cNvSpPr txBox="1"/>
          <p:nvPr/>
        </p:nvSpPr>
        <p:spPr>
          <a:xfrm>
            <a:off x="10637215" y="320040"/>
            <a:ext cx="1051560" cy="384048"/>
          </a:xfrm>
          <a:prstGeom prst="rect">
            <a:avLst/>
          </a:prstGeom>
          <a:noFill/>
          <a:ln/>
        </p:spPr>
        <p:txBody>
          <a:bodyPr wrap="square" lIns="0" tIns="0" rIns="0" bIns="0" rtlCol="0" anchor="ctr"/>
          <a:lstStyle/>
          <a:p>
            <a:pPr marL="0" indent="0" algn="ctr">
              <a:buNone/>
            </a:pPr>
            <a:r>
              <a:rPr lang="en-US" sz="900" b="1" dirty="0">
                <a:solidFill>
                  <a:srgbClr val="94A3B8"/>
                </a:solidFill>
                <a:latin typeface="Tahoma" panose="020B0604030504040204" pitchFamily="34" charset="0"/>
                <a:ea typeface="Tahoma" panose="020B0604030504040204" pitchFamily="34" charset="0"/>
                <a:cs typeface="Tahoma" panose="020B0604030504040204" pitchFamily="34" charset="0"/>
              </a:rPr>
              <a:t>CVV LOGO</a:t>
            </a:r>
            <a:endParaRPr lang="en-US" sz="900" dirty="0">
              <a:latin typeface="Tahoma" panose="020B0604030504040204" pitchFamily="34" charset="0"/>
            </a:endParaRPr>
          </a:p>
        </p:txBody>
      </p:sp>
      <p:sp>
        <p:nvSpPr>
          <p:cNvPr id="4" name="Text 2"/>
          <p:cNvSpPr txBox="1"/>
          <p:nvPr/>
        </p:nvSpPr>
        <p:spPr>
          <a:xfrm>
            <a:off x="502920" y="292608"/>
            <a:ext cx="9905695" cy="566928"/>
          </a:xfrm>
          <a:prstGeom prst="rect">
            <a:avLst/>
          </a:prstGeom>
          <a:noFill/>
          <a:ln/>
        </p:spPr>
        <p:txBody>
          <a:bodyPr wrap="square" lIns="0" tIns="0" rIns="0" bIns="0" rtlCol="0" anchor="ctr"/>
          <a:lstStyle/>
          <a:p>
            <a:pPr marL="0" indent="0" algn="l">
              <a:buNone/>
            </a:pPr>
            <a:r>
              <a:rPr lang="en-US" sz="2400" b="1" kern="0" spc="50" dirty="0">
                <a:solidFill>
                  <a:srgbClr val="EAF0FA"/>
                </a:solidFill>
                <a:latin typeface="Tahoma" panose="020B0604030504040204" pitchFamily="34" charset="0"/>
                <a:ea typeface="Tahoma" panose="020B0604030504040204" pitchFamily="34" charset="0"/>
                <a:cs typeface="Tahoma" panose="020B0604030504040204" pitchFamily="34" charset="0"/>
              </a:rPr>
              <a:t>Hardware and Software</a:t>
            </a:r>
            <a:endParaRPr lang="en-US" sz="2400" dirty="0">
              <a:latin typeface="Tahoma" panose="020B0604030504040204" pitchFamily="34" charset="0"/>
            </a:endParaRPr>
          </a:p>
          <a:p>
            <a:pPr marL="0" indent="0" algn="l">
              <a:buNone/>
            </a:pPr>
            <a:r>
              <a:rPr lang="en-US" sz="2400" b="1" kern="0" spc="50" dirty="0">
                <a:solidFill>
                  <a:srgbClr val="EAF0FA"/>
                </a:solidFill>
                <a:latin typeface="Tahoma" panose="020B0604030504040204" pitchFamily="34" charset="0"/>
                <a:ea typeface="Tahoma" panose="020B0604030504040204" pitchFamily="34" charset="0"/>
                <a:cs typeface="Tahoma" panose="020B0604030504040204" pitchFamily="34" charset="0"/>
              </a:rPr>
              <a:t>Specifications</a:t>
            </a:r>
            <a:endParaRPr lang="en-US" sz="2400" dirty="0">
              <a:latin typeface="Tahoma" panose="020B0604030504040204" pitchFamily="34" charset="0"/>
            </a:endParaRPr>
          </a:p>
        </p:txBody>
      </p:sp>
      <p:sp>
        <p:nvSpPr>
          <p:cNvPr id="5" name="Text 3"/>
          <p:cNvSpPr txBox="1"/>
          <p:nvPr/>
        </p:nvSpPr>
        <p:spPr>
          <a:xfrm>
            <a:off x="502920" y="18288"/>
            <a:ext cx="5486400" cy="256032"/>
          </a:xfrm>
          <a:prstGeom prst="rect">
            <a:avLst/>
          </a:prstGeom>
          <a:noFill/>
          <a:ln/>
        </p:spPr>
        <p:txBody>
          <a:bodyPr wrap="square" lIns="0" tIns="0" rIns="0" bIns="0" rtlCol="0" anchor="ctr"/>
          <a:lstStyle/>
          <a:p>
            <a:pPr marL="0" indent="0" algn="l">
              <a:buNone/>
            </a:pPr>
            <a:r>
              <a:rPr lang="en-US" sz="1100" b="1" kern="0" spc="120" dirty="0">
                <a:solidFill>
                  <a:srgbClr val="22D3EE"/>
                </a:solidFill>
                <a:latin typeface="Tahoma" panose="020B0604030504040204" pitchFamily="34" charset="0"/>
                <a:ea typeface="Tahoma" panose="020B0604030504040204" pitchFamily="34" charset="0"/>
                <a:cs typeface="Tahoma" panose="020B0604030504040204" pitchFamily="34" charset="0"/>
              </a:rPr>
              <a:t>TECHNICAL REQUIREMENTS</a:t>
            </a:r>
            <a:endParaRPr lang="en-US" sz="1100" dirty="0">
              <a:latin typeface="Tahoma" panose="020B0604030504040204" pitchFamily="34" charset="0"/>
            </a:endParaRPr>
          </a:p>
        </p:txBody>
      </p:sp>
      <p:sp>
        <p:nvSpPr>
          <p:cNvPr id="7" name="Text 5"/>
          <p:cNvSpPr txBox="1"/>
          <p:nvPr/>
        </p:nvSpPr>
        <p:spPr>
          <a:xfrm>
            <a:off x="11140135" y="6473952"/>
            <a:ext cx="548640" cy="274320"/>
          </a:xfrm>
          <a:prstGeom prst="rect">
            <a:avLst/>
          </a:prstGeom>
          <a:noFill/>
          <a:ln/>
        </p:spPr>
        <p:txBody>
          <a:bodyPr wrap="square" lIns="0" tIns="0" rIns="0" bIns="0" rtlCol="0" anchor="ctr"/>
          <a:lstStyle/>
          <a:p>
            <a:pPr marL="0" indent="0" algn="r">
              <a:buNone/>
            </a:pPr>
            <a:r>
              <a:rPr lang="en-US" sz="900" dirty="0">
                <a:solidFill>
                  <a:srgbClr val="5B6B85"/>
                </a:solidFill>
                <a:latin typeface="Tahoma" panose="020B0604030504040204" pitchFamily="34" charset="0"/>
                <a:ea typeface="Tahoma" panose="020B0604030504040204" pitchFamily="34" charset="0"/>
                <a:cs typeface="Tahoma" panose="020B0604030504040204" pitchFamily="34" charset="0"/>
              </a:rPr>
              <a:t>08</a:t>
            </a:r>
            <a:endParaRPr lang="en-US" sz="900" dirty="0">
              <a:latin typeface="Tahoma" panose="020B0604030504040204" pitchFamily="34" charset="0"/>
            </a:endParaRPr>
          </a:p>
        </p:txBody>
      </p:sp>
      <p:sp>
        <p:nvSpPr>
          <p:cNvPr id="8" name="Shape 6"/>
          <p:cNvSpPr/>
          <p:nvPr/>
        </p:nvSpPr>
        <p:spPr>
          <a:xfrm>
            <a:off x="502920" y="6400800"/>
            <a:ext cx="11185855" cy="0"/>
          </a:xfrm>
          <a:prstGeom prst="line">
            <a:avLst/>
          </a:prstGeom>
          <a:noFill/>
          <a:ln w="9525">
            <a:solidFill>
              <a:srgbClr val="24314F"/>
            </a:solidFill>
            <a:prstDash val="solid"/>
          </a:ln>
        </p:spPr>
        <p:txBody>
          <a:bodyPr/>
          <a:lstStyle/>
          <a:p>
            <a:endParaRPr/>
          </a:p>
        </p:txBody>
      </p:sp>
      <p:sp>
        <p:nvSpPr>
          <p:cNvPr id="9" name="Shape 7"/>
          <p:cNvSpPr/>
          <p:nvPr/>
        </p:nvSpPr>
        <p:spPr>
          <a:xfrm>
            <a:off x="502920" y="2150561"/>
            <a:ext cx="2017715" cy="2962652"/>
          </a:xfrm>
          <a:prstGeom prst="roundRect">
            <a:avLst>
              <a:gd name="adj" fmla="val 4532"/>
            </a:avLst>
          </a:prstGeom>
          <a:solidFill>
            <a:srgbClr val="121B30"/>
          </a:solidFill>
          <a:ln/>
        </p:spPr>
        <p:txBody>
          <a:bodyPr/>
          <a:lstStyle/>
          <a:p>
            <a:endParaRPr/>
          </a:p>
        </p:txBody>
      </p:sp>
      <p:sp>
        <p:nvSpPr>
          <p:cNvPr id="10" name="Shape 8"/>
          <p:cNvSpPr/>
          <p:nvPr/>
        </p:nvSpPr>
        <p:spPr>
          <a:xfrm>
            <a:off x="1246602" y="2443169"/>
            <a:ext cx="530352" cy="530352"/>
          </a:xfrm>
          <a:prstGeom prst="roundRect">
            <a:avLst>
              <a:gd name="adj" fmla="val 20690"/>
            </a:avLst>
          </a:prstGeom>
          <a:solidFill>
            <a:srgbClr val="18233C"/>
          </a:solidFill>
          <a:ln/>
        </p:spPr>
        <p:txBody>
          <a:bodyPr/>
          <a:lstStyle/>
          <a:p>
            <a:endParaRPr/>
          </a:p>
        </p:txBody>
      </p:sp>
      <p:pic>
        <p:nvPicPr>
          <p:cNvPr id="11" name="Image 0" descr="/home/claude/icons/ic_monitor.png"/>
          <p:cNvPicPr>
            <a:picLocks noChangeAspect="1"/>
          </p:cNvPicPr>
          <p:nvPr/>
        </p:nvPicPr>
        <p:blipFill>
          <a:blip r:embed="rId3"/>
          <a:stretch>
            <a:fillRect/>
          </a:stretch>
        </p:blipFill>
        <p:spPr>
          <a:xfrm>
            <a:off x="1374618" y="2571185"/>
            <a:ext cx="274320" cy="274320"/>
          </a:xfrm>
          <a:prstGeom prst="rect">
            <a:avLst/>
          </a:prstGeom>
        </p:spPr>
      </p:pic>
      <p:sp>
        <p:nvSpPr>
          <p:cNvPr id="12" name="Text 9"/>
          <p:cNvSpPr txBox="1"/>
          <p:nvPr/>
        </p:nvSpPr>
        <p:spPr>
          <a:xfrm>
            <a:off x="630936" y="3110681"/>
            <a:ext cx="1761683" cy="502920"/>
          </a:xfrm>
          <a:prstGeom prst="rect">
            <a:avLst/>
          </a:prstGeom>
          <a:noFill/>
          <a:ln/>
        </p:spPr>
        <p:txBody>
          <a:bodyPr wrap="square" lIns="0" tIns="0" rIns="0" bIns="0" rtlCol="0" anchor="ctr"/>
          <a:lstStyle/>
          <a:p>
            <a:pPr marL="0" indent="0" algn="ctr">
              <a:lnSpc>
                <a:spcPct val="105000"/>
              </a:lnSpc>
              <a:buNone/>
            </a:pPr>
            <a:r>
              <a:rPr lang="en-US" sz="1250" b="1" dirty="0">
                <a:solidFill>
                  <a:srgbClr val="22D3EE"/>
                </a:solidFill>
                <a:latin typeface="Tahoma" panose="020B0604030504040204" pitchFamily="34" charset="0"/>
                <a:ea typeface="Tahoma" panose="020B0604030504040204" pitchFamily="34" charset="0"/>
                <a:cs typeface="Tahoma" panose="020B0604030504040204" pitchFamily="34" charset="0"/>
              </a:rPr>
              <a:t>Hardware</a:t>
            </a:r>
            <a:endParaRPr lang="en-US" sz="1250" dirty="0">
              <a:latin typeface="Tahoma" panose="020B0604030504040204" pitchFamily="34" charset="0"/>
            </a:endParaRPr>
          </a:p>
        </p:txBody>
      </p:sp>
      <p:sp>
        <p:nvSpPr>
          <p:cNvPr id="13" name="Shape 10"/>
          <p:cNvSpPr/>
          <p:nvPr/>
        </p:nvSpPr>
        <p:spPr>
          <a:xfrm>
            <a:off x="1255746" y="3631889"/>
            <a:ext cx="512064" cy="0"/>
          </a:xfrm>
          <a:prstGeom prst="line">
            <a:avLst/>
          </a:prstGeom>
          <a:noFill/>
          <a:ln w="12700">
            <a:solidFill>
              <a:srgbClr val="24314F"/>
            </a:solidFill>
            <a:prstDash val="solid"/>
          </a:ln>
        </p:spPr>
        <p:txBody>
          <a:bodyPr/>
          <a:lstStyle/>
          <a:p>
            <a:endParaRPr/>
          </a:p>
        </p:txBody>
      </p:sp>
      <p:sp>
        <p:nvSpPr>
          <p:cNvPr id="14" name="Text 11"/>
          <p:cNvSpPr txBox="1"/>
          <p:nvPr/>
        </p:nvSpPr>
        <p:spPr>
          <a:xfrm>
            <a:off x="649224" y="3778193"/>
            <a:ext cx="1725107" cy="2880360"/>
          </a:xfrm>
          <a:prstGeom prst="rect">
            <a:avLst/>
          </a:prstGeom>
          <a:noFill/>
          <a:ln/>
        </p:spPr>
        <p:txBody>
          <a:bodyPr wrap="square" lIns="0" tIns="0" rIns="0" bIns="0" rtlCol="0" anchor="t"/>
          <a:lstStyle/>
          <a:p>
            <a:pPr marL="0" indent="0" algn="ctr">
              <a:lnSpc>
                <a:spcPct val="140000"/>
              </a:lnSpc>
              <a:buNone/>
            </a:pPr>
            <a:r>
              <a:rPr lang="en-US" sz="1150" dirty="0">
                <a:solidFill>
                  <a:srgbClr val="EAF0FA"/>
                </a:solidFill>
                <a:latin typeface="Tahoma" panose="020B0604030504040204" pitchFamily="34" charset="0"/>
                <a:ea typeface="Tahoma" panose="020B0604030504040204" pitchFamily="34" charset="0"/>
                <a:cs typeface="Tahoma" panose="020B0604030504040204" pitchFamily="34" charset="0"/>
              </a:rPr>
              <a:t>Standard PC / laptop</a:t>
            </a:r>
            <a:endParaRPr lang="en-US" sz="1150" dirty="0">
              <a:latin typeface="Tahoma" panose="020B0604030504040204" pitchFamily="34" charset="0"/>
            </a:endParaRPr>
          </a:p>
          <a:p>
            <a:pPr marL="0" indent="0" algn="ctr">
              <a:lnSpc>
                <a:spcPct val="140000"/>
              </a:lnSpc>
              <a:buNone/>
            </a:pPr>
            <a:r>
              <a:rPr lang="en-US" sz="1150" dirty="0">
                <a:solidFill>
                  <a:srgbClr val="EAF0FA"/>
                </a:solidFill>
                <a:latin typeface="Tahoma" panose="020B0604030504040204" pitchFamily="34" charset="0"/>
                <a:ea typeface="Tahoma" panose="020B0604030504040204" pitchFamily="34" charset="0"/>
                <a:cs typeface="Tahoma" panose="020B0604030504040204" pitchFamily="34" charset="0"/>
              </a:rPr>
              <a:t>Minimum 4GB RAM</a:t>
            </a:r>
            <a:endParaRPr lang="en-US" sz="1150" dirty="0">
              <a:latin typeface="Tahoma" panose="020B0604030504040204" pitchFamily="34" charset="0"/>
            </a:endParaRPr>
          </a:p>
          <a:p>
            <a:pPr marL="0" indent="0" algn="ctr">
              <a:lnSpc>
                <a:spcPct val="140000"/>
              </a:lnSpc>
              <a:buNone/>
            </a:pPr>
            <a:r>
              <a:rPr lang="en-US" sz="1150" dirty="0">
                <a:solidFill>
                  <a:srgbClr val="EAF0FA"/>
                </a:solidFill>
                <a:latin typeface="Tahoma" panose="020B0604030504040204" pitchFamily="34" charset="0"/>
                <a:ea typeface="Tahoma" panose="020B0604030504040204" pitchFamily="34" charset="0"/>
                <a:cs typeface="Tahoma" panose="020B0604030504040204" pitchFamily="34" charset="0"/>
              </a:rPr>
              <a:t>Stable internet connection</a:t>
            </a:r>
            <a:endParaRPr lang="en-US" sz="1150" dirty="0">
              <a:latin typeface="Tahoma" panose="020B0604030504040204" pitchFamily="34" charset="0"/>
            </a:endParaRPr>
          </a:p>
        </p:txBody>
      </p:sp>
      <p:sp>
        <p:nvSpPr>
          <p:cNvPr id="15" name="Shape 12"/>
          <p:cNvSpPr/>
          <p:nvPr/>
        </p:nvSpPr>
        <p:spPr>
          <a:xfrm>
            <a:off x="2794955" y="2150561"/>
            <a:ext cx="2017715" cy="2962649"/>
          </a:xfrm>
          <a:prstGeom prst="roundRect">
            <a:avLst>
              <a:gd name="adj" fmla="val 4532"/>
            </a:avLst>
          </a:prstGeom>
          <a:solidFill>
            <a:srgbClr val="121B30"/>
          </a:solidFill>
          <a:ln/>
        </p:spPr>
        <p:txBody>
          <a:bodyPr/>
          <a:lstStyle/>
          <a:p>
            <a:endParaRPr/>
          </a:p>
        </p:txBody>
      </p:sp>
      <p:sp>
        <p:nvSpPr>
          <p:cNvPr id="16" name="Shape 13"/>
          <p:cNvSpPr/>
          <p:nvPr/>
        </p:nvSpPr>
        <p:spPr>
          <a:xfrm>
            <a:off x="3538637" y="2443169"/>
            <a:ext cx="530352" cy="530352"/>
          </a:xfrm>
          <a:prstGeom prst="roundRect">
            <a:avLst>
              <a:gd name="adj" fmla="val 20690"/>
            </a:avLst>
          </a:prstGeom>
          <a:solidFill>
            <a:srgbClr val="18233C"/>
          </a:solidFill>
          <a:ln/>
        </p:spPr>
        <p:txBody>
          <a:bodyPr/>
          <a:lstStyle/>
          <a:p>
            <a:endParaRPr/>
          </a:p>
        </p:txBody>
      </p:sp>
      <p:pic>
        <p:nvPicPr>
          <p:cNvPr id="17" name="Image 1" descr="/home/claude/icons/ic_server.png"/>
          <p:cNvPicPr>
            <a:picLocks noChangeAspect="1"/>
          </p:cNvPicPr>
          <p:nvPr/>
        </p:nvPicPr>
        <p:blipFill>
          <a:blip r:embed="rId4"/>
          <a:stretch>
            <a:fillRect/>
          </a:stretch>
        </p:blipFill>
        <p:spPr>
          <a:xfrm>
            <a:off x="3666653" y="2571185"/>
            <a:ext cx="274320" cy="274320"/>
          </a:xfrm>
          <a:prstGeom prst="rect">
            <a:avLst/>
          </a:prstGeom>
        </p:spPr>
      </p:pic>
      <p:sp>
        <p:nvSpPr>
          <p:cNvPr id="18" name="Text 14"/>
          <p:cNvSpPr txBox="1"/>
          <p:nvPr/>
        </p:nvSpPr>
        <p:spPr>
          <a:xfrm>
            <a:off x="2922971" y="3110681"/>
            <a:ext cx="1761683" cy="502920"/>
          </a:xfrm>
          <a:prstGeom prst="rect">
            <a:avLst/>
          </a:prstGeom>
          <a:noFill/>
          <a:ln/>
        </p:spPr>
        <p:txBody>
          <a:bodyPr wrap="square" lIns="0" tIns="0" rIns="0" bIns="0" rtlCol="0" anchor="ctr"/>
          <a:lstStyle/>
          <a:p>
            <a:pPr marL="0" indent="0" algn="ctr">
              <a:lnSpc>
                <a:spcPct val="105000"/>
              </a:lnSpc>
              <a:buNone/>
            </a:pPr>
            <a:r>
              <a:rPr lang="en-US" sz="1250" b="1" dirty="0">
                <a:solidFill>
                  <a:srgbClr val="22D3EE"/>
                </a:solidFill>
                <a:latin typeface="Tahoma" panose="020B0604030504040204" pitchFamily="34" charset="0"/>
                <a:ea typeface="Tahoma" panose="020B0604030504040204" pitchFamily="34" charset="0"/>
                <a:cs typeface="Tahoma" panose="020B0604030504040204" pitchFamily="34" charset="0"/>
              </a:rPr>
              <a:t>Backend</a:t>
            </a:r>
            <a:endParaRPr lang="en-US" sz="1250" dirty="0">
              <a:latin typeface="Tahoma" panose="020B0604030504040204" pitchFamily="34" charset="0"/>
            </a:endParaRPr>
          </a:p>
        </p:txBody>
      </p:sp>
      <p:sp>
        <p:nvSpPr>
          <p:cNvPr id="19" name="Shape 15"/>
          <p:cNvSpPr/>
          <p:nvPr/>
        </p:nvSpPr>
        <p:spPr>
          <a:xfrm>
            <a:off x="3547781" y="3631889"/>
            <a:ext cx="512064" cy="0"/>
          </a:xfrm>
          <a:prstGeom prst="line">
            <a:avLst/>
          </a:prstGeom>
          <a:noFill/>
          <a:ln w="12700">
            <a:solidFill>
              <a:srgbClr val="24314F"/>
            </a:solidFill>
            <a:prstDash val="solid"/>
          </a:ln>
        </p:spPr>
        <p:txBody>
          <a:bodyPr/>
          <a:lstStyle/>
          <a:p>
            <a:endParaRPr/>
          </a:p>
        </p:txBody>
      </p:sp>
      <p:sp>
        <p:nvSpPr>
          <p:cNvPr id="20" name="Text 16"/>
          <p:cNvSpPr txBox="1"/>
          <p:nvPr/>
        </p:nvSpPr>
        <p:spPr>
          <a:xfrm>
            <a:off x="2941259" y="3778193"/>
            <a:ext cx="1725107" cy="2880360"/>
          </a:xfrm>
          <a:prstGeom prst="rect">
            <a:avLst/>
          </a:prstGeom>
          <a:noFill/>
          <a:ln/>
        </p:spPr>
        <p:txBody>
          <a:bodyPr wrap="square" lIns="0" tIns="0" rIns="0" bIns="0" rtlCol="0" anchor="t"/>
          <a:lstStyle/>
          <a:p>
            <a:pPr marL="0" indent="0" algn="ctr">
              <a:lnSpc>
                <a:spcPct val="140000"/>
              </a:lnSpc>
              <a:buNone/>
            </a:pPr>
            <a:r>
              <a:rPr lang="en-US" sz="1150" dirty="0">
                <a:solidFill>
                  <a:srgbClr val="EAF0FA"/>
                </a:solidFill>
                <a:latin typeface="Tahoma" panose="020B0604030504040204" pitchFamily="34" charset="0"/>
                <a:ea typeface="Tahoma" panose="020B0604030504040204" pitchFamily="34" charset="0"/>
                <a:cs typeface="Tahoma" panose="020B0604030504040204" pitchFamily="34" charset="0"/>
              </a:rPr>
              <a:t>Java 21</a:t>
            </a:r>
            <a:endParaRPr lang="en-US" sz="1150" dirty="0">
              <a:latin typeface="Tahoma" panose="020B0604030504040204" pitchFamily="34" charset="0"/>
            </a:endParaRPr>
          </a:p>
          <a:p>
            <a:pPr marL="0" indent="0" algn="ctr">
              <a:lnSpc>
                <a:spcPct val="140000"/>
              </a:lnSpc>
              <a:buNone/>
            </a:pPr>
            <a:r>
              <a:rPr lang="en-US" sz="1150" dirty="0">
                <a:solidFill>
                  <a:srgbClr val="EAF0FA"/>
                </a:solidFill>
                <a:latin typeface="Tahoma" panose="020B0604030504040204" pitchFamily="34" charset="0"/>
                <a:ea typeface="Tahoma" panose="020B0604030504040204" pitchFamily="34" charset="0"/>
                <a:cs typeface="Tahoma" panose="020B0604030504040204" pitchFamily="34" charset="0"/>
              </a:rPr>
              <a:t>Spring Boot 3.5</a:t>
            </a:r>
            <a:endParaRPr lang="en-US" sz="1150" dirty="0">
              <a:latin typeface="Tahoma" panose="020B0604030504040204" pitchFamily="34" charset="0"/>
            </a:endParaRPr>
          </a:p>
          <a:p>
            <a:pPr marL="0" indent="0" algn="ctr">
              <a:lnSpc>
                <a:spcPct val="140000"/>
              </a:lnSpc>
              <a:buNone/>
            </a:pPr>
            <a:r>
              <a:rPr lang="en-US" sz="1150" dirty="0">
                <a:solidFill>
                  <a:srgbClr val="EAF0FA"/>
                </a:solidFill>
                <a:latin typeface="Tahoma" panose="020B0604030504040204" pitchFamily="34" charset="0"/>
                <a:ea typeface="Tahoma" panose="020B0604030504040204" pitchFamily="34" charset="0"/>
                <a:cs typeface="Tahoma" panose="020B0604030504040204" pitchFamily="34" charset="0"/>
              </a:rPr>
              <a:t>MySQL</a:t>
            </a:r>
            <a:endParaRPr lang="en-US" sz="1150" dirty="0">
              <a:latin typeface="Tahoma" panose="020B0604030504040204" pitchFamily="34" charset="0"/>
            </a:endParaRPr>
          </a:p>
        </p:txBody>
      </p:sp>
      <p:sp>
        <p:nvSpPr>
          <p:cNvPr id="21" name="Shape 17"/>
          <p:cNvSpPr/>
          <p:nvPr/>
        </p:nvSpPr>
        <p:spPr>
          <a:xfrm>
            <a:off x="5086990" y="2150561"/>
            <a:ext cx="2017715" cy="2962649"/>
          </a:xfrm>
          <a:prstGeom prst="roundRect">
            <a:avLst>
              <a:gd name="adj" fmla="val 4532"/>
            </a:avLst>
          </a:prstGeom>
          <a:solidFill>
            <a:srgbClr val="121B30"/>
          </a:solidFill>
          <a:ln/>
        </p:spPr>
        <p:txBody>
          <a:bodyPr/>
          <a:lstStyle/>
          <a:p>
            <a:endParaRPr/>
          </a:p>
        </p:txBody>
      </p:sp>
      <p:sp>
        <p:nvSpPr>
          <p:cNvPr id="22" name="Shape 18"/>
          <p:cNvSpPr/>
          <p:nvPr/>
        </p:nvSpPr>
        <p:spPr>
          <a:xfrm>
            <a:off x="5830672" y="2443169"/>
            <a:ext cx="530352" cy="530352"/>
          </a:xfrm>
          <a:prstGeom prst="roundRect">
            <a:avLst>
              <a:gd name="adj" fmla="val 20690"/>
            </a:avLst>
          </a:prstGeom>
          <a:solidFill>
            <a:srgbClr val="18233C"/>
          </a:solidFill>
          <a:ln/>
        </p:spPr>
        <p:txBody>
          <a:bodyPr/>
          <a:lstStyle/>
          <a:p>
            <a:endParaRPr/>
          </a:p>
        </p:txBody>
      </p:sp>
      <p:pic>
        <p:nvPicPr>
          <p:cNvPr id="23" name="Image 2" descr="/home/claude/icons/ic_layout.png"/>
          <p:cNvPicPr>
            <a:picLocks noChangeAspect="1"/>
          </p:cNvPicPr>
          <p:nvPr/>
        </p:nvPicPr>
        <p:blipFill>
          <a:blip r:embed="rId5"/>
          <a:stretch>
            <a:fillRect/>
          </a:stretch>
        </p:blipFill>
        <p:spPr>
          <a:xfrm>
            <a:off x="5958688" y="2571185"/>
            <a:ext cx="274320" cy="274320"/>
          </a:xfrm>
          <a:prstGeom prst="rect">
            <a:avLst/>
          </a:prstGeom>
        </p:spPr>
      </p:pic>
      <p:sp>
        <p:nvSpPr>
          <p:cNvPr id="24" name="Text 19"/>
          <p:cNvSpPr txBox="1"/>
          <p:nvPr/>
        </p:nvSpPr>
        <p:spPr>
          <a:xfrm>
            <a:off x="5215006" y="3110681"/>
            <a:ext cx="1761683" cy="502920"/>
          </a:xfrm>
          <a:prstGeom prst="rect">
            <a:avLst/>
          </a:prstGeom>
          <a:noFill/>
          <a:ln/>
        </p:spPr>
        <p:txBody>
          <a:bodyPr wrap="square" lIns="0" tIns="0" rIns="0" bIns="0" rtlCol="0" anchor="ctr"/>
          <a:lstStyle/>
          <a:p>
            <a:pPr marL="0" indent="0" algn="ctr">
              <a:lnSpc>
                <a:spcPct val="105000"/>
              </a:lnSpc>
              <a:buNone/>
            </a:pPr>
            <a:r>
              <a:rPr lang="en-US" sz="1250" b="1" dirty="0">
                <a:solidFill>
                  <a:srgbClr val="22D3EE"/>
                </a:solidFill>
                <a:latin typeface="Tahoma" panose="020B0604030504040204" pitchFamily="34" charset="0"/>
                <a:ea typeface="Tahoma" panose="020B0604030504040204" pitchFamily="34" charset="0"/>
                <a:cs typeface="Tahoma" panose="020B0604030504040204" pitchFamily="34" charset="0"/>
              </a:rPr>
              <a:t>Frontend</a:t>
            </a:r>
            <a:endParaRPr lang="en-US" sz="1250" dirty="0">
              <a:latin typeface="Tahoma" panose="020B0604030504040204" pitchFamily="34" charset="0"/>
            </a:endParaRPr>
          </a:p>
        </p:txBody>
      </p:sp>
      <p:sp>
        <p:nvSpPr>
          <p:cNvPr id="25" name="Shape 20"/>
          <p:cNvSpPr/>
          <p:nvPr/>
        </p:nvSpPr>
        <p:spPr>
          <a:xfrm>
            <a:off x="5839816" y="3631889"/>
            <a:ext cx="512064" cy="0"/>
          </a:xfrm>
          <a:prstGeom prst="line">
            <a:avLst/>
          </a:prstGeom>
          <a:noFill/>
          <a:ln w="12700">
            <a:solidFill>
              <a:srgbClr val="24314F"/>
            </a:solidFill>
            <a:prstDash val="solid"/>
          </a:ln>
        </p:spPr>
        <p:txBody>
          <a:bodyPr/>
          <a:lstStyle/>
          <a:p>
            <a:endParaRPr/>
          </a:p>
        </p:txBody>
      </p:sp>
      <p:sp>
        <p:nvSpPr>
          <p:cNvPr id="26" name="Text 21"/>
          <p:cNvSpPr txBox="1"/>
          <p:nvPr/>
        </p:nvSpPr>
        <p:spPr>
          <a:xfrm>
            <a:off x="5233294" y="3778193"/>
            <a:ext cx="1725107" cy="2880360"/>
          </a:xfrm>
          <a:prstGeom prst="rect">
            <a:avLst/>
          </a:prstGeom>
          <a:noFill/>
          <a:ln/>
        </p:spPr>
        <p:txBody>
          <a:bodyPr wrap="square" lIns="0" tIns="0" rIns="0" bIns="0" rtlCol="0" anchor="t"/>
          <a:lstStyle/>
          <a:p>
            <a:pPr marL="0" indent="0" algn="ctr">
              <a:lnSpc>
                <a:spcPct val="140000"/>
              </a:lnSpc>
              <a:buNone/>
            </a:pPr>
            <a:r>
              <a:rPr lang="en-US" sz="1150" dirty="0">
                <a:solidFill>
                  <a:srgbClr val="EAF0FA"/>
                </a:solidFill>
                <a:latin typeface="Tahoma" panose="020B0604030504040204" pitchFamily="34" charset="0"/>
                <a:ea typeface="Tahoma" panose="020B0604030504040204" pitchFamily="34" charset="0"/>
                <a:cs typeface="Tahoma" panose="020B0604030504040204" pitchFamily="34" charset="0"/>
              </a:rPr>
              <a:t>React</a:t>
            </a:r>
            <a:endParaRPr lang="en-US" sz="1150" dirty="0">
              <a:latin typeface="Tahoma" panose="020B0604030504040204" pitchFamily="34" charset="0"/>
            </a:endParaRPr>
          </a:p>
          <a:p>
            <a:pPr marL="0" indent="0" algn="ctr">
              <a:lnSpc>
                <a:spcPct val="140000"/>
              </a:lnSpc>
              <a:buNone/>
            </a:pPr>
            <a:r>
              <a:rPr lang="en-US" sz="1150" dirty="0">
                <a:solidFill>
                  <a:srgbClr val="EAF0FA"/>
                </a:solidFill>
                <a:latin typeface="Tahoma" panose="020B0604030504040204" pitchFamily="34" charset="0"/>
                <a:ea typeface="Tahoma" panose="020B0604030504040204" pitchFamily="34" charset="0"/>
                <a:cs typeface="Tahoma" panose="020B0604030504040204" pitchFamily="34" charset="0"/>
              </a:rPr>
              <a:t>Tailwind CSS</a:t>
            </a:r>
            <a:endParaRPr lang="en-US" sz="1150" dirty="0">
              <a:latin typeface="Tahoma" panose="020B0604030504040204" pitchFamily="34" charset="0"/>
            </a:endParaRPr>
          </a:p>
          <a:p>
            <a:pPr marL="0" indent="0" algn="ctr">
              <a:lnSpc>
                <a:spcPct val="140000"/>
              </a:lnSpc>
              <a:buNone/>
            </a:pPr>
            <a:r>
              <a:rPr lang="en-US" sz="1150" dirty="0">
                <a:solidFill>
                  <a:srgbClr val="EAF0FA"/>
                </a:solidFill>
                <a:latin typeface="Tahoma" panose="020B0604030504040204" pitchFamily="34" charset="0"/>
                <a:ea typeface="Tahoma" panose="020B0604030504040204" pitchFamily="34" charset="0"/>
                <a:cs typeface="Tahoma" panose="020B0604030504040204" pitchFamily="34" charset="0"/>
              </a:rPr>
              <a:t>Recharts</a:t>
            </a:r>
            <a:endParaRPr lang="en-US" sz="1150" dirty="0">
              <a:latin typeface="Tahoma" panose="020B0604030504040204" pitchFamily="34" charset="0"/>
            </a:endParaRPr>
          </a:p>
        </p:txBody>
      </p:sp>
      <p:sp>
        <p:nvSpPr>
          <p:cNvPr id="27" name="Shape 22"/>
          <p:cNvSpPr/>
          <p:nvPr/>
        </p:nvSpPr>
        <p:spPr>
          <a:xfrm>
            <a:off x="7379025" y="2150561"/>
            <a:ext cx="2017715" cy="2962652"/>
          </a:xfrm>
          <a:prstGeom prst="roundRect">
            <a:avLst>
              <a:gd name="adj" fmla="val 4532"/>
            </a:avLst>
          </a:prstGeom>
          <a:solidFill>
            <a:srgbClr val="121B30"/>
          </a:solidFill>
          <a:ln/>
        </p:spPr>
        <p:txBody>
          <a:bodyPr/>
          <a:lstStyle/>
          <a:p>
            <a:endParaRPr/>
          </a:p>
        </p:txBody>
      </p:sp>
      <p:sp>
        <p:nvSpPr>
          <p:cNvPr id="28" name="Shape 23"/>
          <p:cNvSpPr/>
          <p:nvPr/>
        </p:nvSpPr>
        <p:spPr>
          <a:xfrm>
            <a:off x="8122707" y="2443169"/>
            <a:ext cx="530352" cy="530352"/>
          </a:xfrm>
          <a:prstGeom prst="roundRect">
            <a:avLst>
              <a:gd name="adj" fmla="val 20690"/>
            </a:avLst>
          </a:prstGeom>
          <a:solidFill>
            <a:srgbClr val="18233C"/>
          </a:solidFill>
          <a:ln/>
        </p:spPr>
        <p:txBody>
          <a:bodyPr/>
          <a:lstStyle/>
          <a:p>
            <a:endParaRPr/>
          </a:p>
        </p:txBody>
      </p:sp>
      <p:pic>
        <p:nvPicPr>
          <p:cNvPr id="29" name="Image 3" descr="/home/claude/icons/ic_package.png"/>
          <p:cNvPicPr>
            <a:picLocks noChangeAspect="1"/>
          </p:cNvPicPr>
          <p:nvPr/>
        </p:nvPicPr>
        <p:blipFill>
          <a:blip r:embed="rId6"/>
          <a:stretch>
            <a:fillRect/>
          </a:stretch>
        </p:blipFill>
        <p:spPr>
          <a:xfrm>
            <a:off x="8250723" y="2571185"/>
            <a:ext cx="274320" cy="274320"/>
          </a:xfrm>
          <a:prstGeom prst="rect">
            <a:avLst/>
          </a:prstGeom>
        </p:spPr>
      </p:pic>
      <p:sp>
        <p:nvSpPr>
          <p:cNvPr id="30" name="Text 24"/>
          <p:cNvSpPr txBox="1"/>
          <p:nvPr/>
        </p:nvSpPr>
        <p:spPr>
          <a:xfrm>
            <a:off x="7507041" y="3110681"/>
            <a:ext cx="1761683" cy="502920"/>
          </a:xfrm>
          <a:prstGeom prst="rect">
            <a:avLst/>
          </a:prstGeom>
          <a:noFill/>
          <a:ln/>
        </p:spPr>
        <p:txBody>
          <a:bodyPr wrap="square" lIns="0" tIns="0" rIns="0" bIns="0" rtlCol="0" anchor="ctr"/>
          <a:lstStyle/>
          <a:p>
            <a:pPr marL="0" indent="0" algn="ctr">
              <a:lnSpc>
                <a:spcPct val="105000"/>
              </a:lnSpc>
              <a:buNone/>
            </a:pPr>
            <a:r>
              <a:rPr lang="en-US" sz="1250" b="1" dirty="0">
                <a:solidFill>
                  <a:srgbClr val="22D3EE"/>
                </a:solidFill>
                <a:latin typeface="Tahoma" panose="020B0604030504040204" pitchFamily="34" charset="0"/>
                <a:ea typeface="Tahoma" panose="020B0604030504040204" pitchFamily="34" charset="0"/>
                <a:cs typeface="Tahoma" panose="020B0604030504040204" pitchFamily="34" charset="0"/>
              </a:rPr>
              <a:t>APIs and Libraries</a:t>
            </a:r>
            <a:endParaRPr lang="en-US" sz="1250" dirty="0">
              <a:latin typeface="Tahoma" panose="020B0604030504040204" pitchFamily="34" charset="0"/>
            </a:endParaRPr>
          </a:p>
        </p:txBody>
      </p:sp>
      <p:sp>
        <p:nvSpPr>
          <p:cNvPr id="31" name="Shape 25"/>
          <p:cNvSpPr/>
          <p:nvPr/>
        </p:nvSpPr>
        <p:spPr>
          <a:xfrm>
            <a:off x="8131851" y="3631889"/>
            <a:ext cx="512064" cy="0"/>
          </a:xfrm>
          <a:prstGeom prst="line">
            <a:avLst/>
          </a:prstGeom>
          <a:noFill/>
          <a:ln w="12700">
            <a:solidFill>
              <a:srgbClr val="24314F"/>
            </a:solidFill>
            <a:prstDash val="solid"/>
          </a:ln>
        </p:spPr>
        <p:txBody>
          <a:bodyPr/>
          <a:lstStyle/>
          <a:p>
            <a:endParaRPr/>
          </a:p>
        </p:txBody>
      </p:sp>
      <p:sp>
        <p:nvSpPr>
          <p:cNvPr id="32" name="Text 26"/>
          <p:cNvSpPr txBox="1"/>
          <p:nvPr/>
        </p:nvSpPr>
        <p:spPr>
          <a:xfrm>
            <a:off x="7525329" y="3778193"/>
            <a:ext cx="1725107" cy="2880360"/>
          </a:xfrm>
          <a:prstGeom prst="rect">
            <a:avLst/>
          </a:prstGeom>
          <a:noFill/>
          <a:ln/>
        </p:spPr>
        <p:txBody>
          <a:bodyPr wrap="square" lIns="0" tIns="0" rIns="0" bIns="0" rtlCol="0" anchor="t"/>
          <a:lstStyle/>
          <a:p>
            <a:pPr marL="0" indent="0" algn="ctr">
              <a:lnSpc>
                <a:spcPct val="140000"/>
              </a:lnSpc>
              <a:buNone/>
            </a:pPr>
            <a:r>
              <a:rPr lang="en-US" sz="1150" dirty="0">
                <a:solidFill>
                  <a:srgbClr val="EAF0FA"/>
                </a:solidFill>
                <a:latin typeface="Tahoma" panose="020B0604030504040204" pitchFamily="34" charset="0"/>
                <a:ea typeface="Tahoma" panose="020B0604030504040204" pitchFamily="34" charset="0"/>
                <a:cs typeface="Tahoma" panose="020B0604030504040204" pitchFamily="34" charset="0"/>
              </a:rPr>
              <a:t>Google Gemini API</a:t>
            </a:r>
            <a:endParaRPr lang="en-US" sz="1150" dirty="0">
              <a:latin typeface="Tahoma" panose="020B0604030504040204" pitchFamily="34" charset="0"/>
            </a:endParaRPr>
          </a:p>
          <a:p>
            <a:pPr marL="0" indent="0" algn="ctr">
              <a:lnSpc>
                <a:spcPct val="140000"/>
              </a:lnSpc>
              <a:buNone/>
            </a:pPr>
            <a:r>
              <a:rPr lang="en-US" sz="1150" dirty="0">
                <a:solidFill>
                  <a:srgbClr val="EAF0FA"/>
                </a:solidFill>
                <a:latin typeface="Tahoma" panose="020B0604030504040204" pitchFamily="34" charset="0"/>
                <a:ea typeface="Tahoma" panose="020B0604030504040204" pitchFamily="34" charset="0"/>
                <a:cs typeface="Tahoma" panose="020B0604030504040204" pitchFamily="34" charset="0"/>
              </a:rPr>
              <a:t>Apache PDFBox</a:t>
            </a:r>
            <a:endParaRPr lang="en-US" sz="1150" dirty="0">
              <a:latin typeface="Tahoma" panose="020B0604030504040204" pitchFamily="34" charset="0"/>
            </a:endParaRPr>
          </a:p>
          <a:p>
            <a:pPr marL="0" indent="0" algn="ctr">
              <a:lnSpc>
                <a:spcPct val="140000"/>
              </a:lnSpc>
              <a:buNone/>
            </a:pPr>
            <a:r>
              <a:rPr lang="en-US" sz="1150" dirty="0">
                <a:solidFill>
                  <a:srgbClr val="EAF0FA"/>
                </a:solidFill>
                <a:latin typeface="Tahoma" panose="020B0604030504040204" pitchFamily="34" charset="0"/>
                <a:ea typeface="Tahoma" panose="020B0604030504040204" pitchFamily="34" charset="0"/>
                <a:cs typeface="Tahoma" panose="020B0604030504040204" pitchFamily="34" charset="0"/>
              </a:rPr>
              <a:t>Apache Commons CSV</a:t>
            </a:r>
            <a:endParaRPr lang="en-US" sz="1150" dirty="0">
              <a:latin typeface="Tahoma" panose="020B0604030504040204" pitchFamily="34" charset="0"/>
            </a:endParaRPr>
          </a:p>
        </p:txBody>
      </p:sp>
      <p:sp>
        <p:nvSpPr>
          <p:cNvPr id="33" name="Shape 27"/>
          <p:cNvSpPr/>
          <p:nvPr/>
        </p:nvSpPr>
        <p:spPr>
          <a:xfrm>
            <a:off x="9671060" y="2150561"/>
            <a:ext cx="2017715" cy="2962648"/>
          </a:xfrm>
          <a:prstGeom prst="roundRect">
            <a:avLst>
              <a:gd name="adj" fmla="val 4532"/>
            </a:avLst>
          </a:prstGeom>
          <a:solidFill>
            <a:srgbClr val="121B30"/>
          </a:solidFill>
          <a:ln/>
        </p:spPr>
        <p:txBody>
          <a:bodyPr/>
          <a:lstStyle/>
          <a:p>
            <a:endParaRPr/>
          </a:p>
        </p:txBody>
      </p:sp>
      <p:sp>
        <p:nvSpPr>
          <p:cNvPr id="34" name="Shape 28"/>
          <p:cNvSpPr/>
          <p:nvPr/>
        </p:nvSpPr>
        <p:spPr>
          <a:xfrm>
            <a:off x="10414742" y="2443169"/>
            <a:ext cx="530352" cy="530352"/>
          </a:xfrm>
          <a:prstGeom prst="roundRect">
            <a:avLst>
              <a:gd name="adj" fmla="val 20690"/>
            </a:avLst>
          </a:prstGeom>
          <a:solidFill>
            <a:srgbClr val="18233C"/>
          </a:solidFill>
          <a:ln/>
        </p:spPr>
        <p:txBody>
          <a:bodyPr/>
          <a:lstStyle/>
          <a:p>
            <a:endParaRPr/>
          </a:p>
        </p:txBody>
      </p:sp>
      <p:pic>
        <p:nvPicPr>
          <p:cNvPr id="35" name="Image 4" descr="/home/claude/icons/ic_terminal.png"/>
          <p:cNvPicPr>
            <a:picLocks noChangeAspect="1"/>
          </p:cNvPicPr>
          <p:nvPr/>
        </p:nvPicPr>
        <p:blipFill>
          <a:blip r:embed="rId7"/>
          <a:stretch>
            <a:fillRect/>
          </a:stretch>
        </p:blipFill>
        <p:spPr>
          <a:xfrm>
            <a:off x="10542758" y="2571185"/>
            <a:ext cx="274320" cy="274320"/>
          </a:xfrm>
          <a:prstGeom prst="rect">
            <a:avLst/>
          </a:prstGeom>
        </p:spPr>
      </p:pic>
      <p:sp>
        <p:nvSpPr>
          <p:cNvPr id="36" name="Text 29"/>
          <p:cNvSpPr txBox="1"/>
          <p:nvPr/>
        </p:nvSpPr>
        <p:spPr>
          <a:xfrm>
            <a:off x="9799076" y="3110681"/>
            <a:ext cx="1761683" cy="502920"/>
          </a:xfrm>
          <a:prstGeom prst="rect">
            <a:avLst/>
          </a:prstGeom>
          <a:noFill/>
          <a:ln/>
        </p:spPr>
        <p:txBody>
          <a:bodyPr wrap="square" lIns="0" tIns="0" rIns="0" bIns="0" rtlCol="0" anchor="ctr"/>
          <a:lstStyle/>
          <a:p>
            <a:pPr marL="0" indent="0" algn="ctr">
              <a:lnSpc>
                <a:spcPct val="105000"/>
              </a:lnSpc>
              <a:buNone/>
            </a:pPr>
            <a:r>
              <a:rPr lang="en-US" sz="1250" b="1" dirty="0">
                <a:solidFill>
                  <a:srgbClr val="22D3EE"/>
                </a:solidFill>
                <a:latin typeface="Tahoma" panose="020B0604030504040204" pitchFamily="34" charset="0"/>
                <a:ea typeface="Tahoma" panose="020B0604030504040204" pitchFamily="34" charset="0"/>
                <a:cs typeface="Tahoma" panose="020B0604030504040204" pitchFamily="34" charset="0"/>
              </a:rPr>
              <a:t>Development Tools</a:t>
            </a:r>
            <a:endParaRPr lang="en-US" sz="1250" dirty="0">
              <a:latin typeface="Tahoma" panose="020B0604030504040204" pitchFamily="34" charset="0"/>
            </a:endParaRPr>
          </a:p>
        </p:txBody>
      </p:sp>
      <p:sp>
        <p:nvSpPr>
          <p:cNvPr id="37" name="Shape 30"/>
          <p:cNvSpPr/>
          <p:nvPr/>
        </p:nvSpPr>
        <p:spPr>
          <a:xfrm>
            <a:off x="10423886" y="3631889"/>
            <a:ext cx="512064" cy="0"/>
          </a:xfrm>
          <a:prstGeom prst="line">
            <a:avLst/>
          </a:prstGeom>
          <a:noFill/>
          <a:ln w="12700">
            <a:solidFill>
              <a:srgbClr val="24314F"/>
            </a:solidFill>
            <a:prstDash val="solid"/>
          </a:ln>
        </p:spPr>
        <p:txBody>
          <a:bodyPr/>
          <a:lstStyle/>
          <a:p>
            <a:endParaRPr/>
          </a:p>
        </p:txBody>
      </p:sp>
      <p:sp>
        <p:nvSpPr>
          <p:cNvPr id="38" name="Text 31"/>
          <p:cNvSpPr txBox="1"/>
          <p:nvPr/>
        </p:nvSpPr>
        <p:spPr>
          <a:xfrm>
            <a:off x="9817364" y="3778193"/>
            <a:ext cx="1725107" cy="2880360"/>
          </a:xfrm>
          <a:prstGeom prst="rect">
            <a:avLst/>
          </a:prstGeom>
          <a:noFill/>
          <a:ln/>
        </p:spPr>
        <p:txBody>
          <a:bodyPr wrap="square" lIns="0" tIns="0" rIns="0" bIns="0" rtlCol="0" anchor="t"/>
          <a:lstStyle/>
          <a:p>
            <a:pPr marL="0" indent="0" algn="ctr">
              <a:lnSpc>
                <a:spcPct val="140000"/>
              </a:lnSpc>
              <a:buNone/>
            </a:pPr>
            <a:r>
              <a:rPr lang="en-US" sz="1150" dirty="0">
                <a:solidFill>
                  <a:srgbClr val="EAF0FA"/>
                </a:solidFill>
                <a:latin typeface="Tahoma" panose="020B0604030504040204" pitchFamily="34" charset="0"/>
                <a:ea typeface="Tahoma" panose="020B0604030504040204" pitchFamily="34" charset="0"/>
                <a:cs typeface="Tahoma" panose="020B0604030504040204" pitchFamily="34" charset="0"/>
              </a:rPr>
              <a:t>IntelliJ IDEA</a:t>
            </a:r>
            <a:endParaRPr lang="en-US" sz="1150" dirty="0">
              <a:latin typeface="Tahoma" panose="020B0604030504040204" pitchFamily="34" charset="0"/>
            </a:endParaRPr>
          </a:p>
          <a:p>
            <a:pPr marL="0" indent="0" algn="ctr">
              <a:lnSpc>
                <a:spcPct val="140000"/>
              </a:lnSpc>
              <a:buNone/>
            </a:pPr>
            <a:r>
              <a:rPr lang="en-US" sz="1150" dirty="0">
                <a:solidFill>
                  <a:srgbClr val="EAF0FA"/>
                </a:solidFill>
                <a:latin typeface="Tahoma" panose="020B0604030504040204" pitchFamily="34" charset="0"/>
                <a:ea typeface="Tahoma" panose="020B0604030504040204" pitchFamily="34" charset="0"/>
                <a:cs typeface="Tahoma" panose="020B0604030504040204" pitchFamily="34" charset="0"/>
              </a:rPr>
              <a:t>VS Code</a:t>
            </a:r>
            <a:endParaRPr lang="en-US" sz="1150" dirty="0">
              <a:latin typeface="Tahoma" panose="020B0604030504040204" pitchFamily="34" charset="0"/>
            </a:endParaRPr>
          </a:p>
          <a:p>
            <a:pPr marL="0" indent="0" algn="ctr">
              <a:lnSpc>
                <a:spcPct val="140000"/>
              </a:lnSpc>
              <a:buNone/>
            </a:pPr>
            <a:r>
              <a:rPr lang="en-US" sz="1150" dirty="0">
                <a:solidFill>
                  <a:srgbClr val="EAF0FA"/>
                </a:solidFill>
                <a:latin typeface="Tahoma" panose="020B0604030504040204" pitchFamily="34" charset="0"/>
                <a:ea typeface="Tahoma" panose="020B0604030504040204" pitchFamily="34" charset="0"/>
                <a:cs typeface="Tahoma" panose="020B0604030504040204" pitchFamily="34" charset="0"/>
              </a:rPr>
              <a:t>Postman, Git</a:t>
            </a:r>
            <a:endParaRPr lang="en-US" sz="1150" dirty="0">
              <a:latin typeface="Tahoma" panose="020B0604030504040204" pitchFamily="34" charset="0"/>
            </a:endParaRPr>
          </a:p>
        </p:txBody>
      </p:sp>
      <p:pic>
        <p:nvPicPr>
          <p:cNvPr id="41" name="Picture 40">
            <a:extLst>
              <a:ext uri="{FF2B5EF4-FFF2-40B4-BE49-F238E27FC236}">
                <a16:creationId xmlns:a16="http://schemas.microsoft.com/office/drawing/2014/main" id="{DB6265C2-79D6-A320-798D-93FFEEB7D16D}"/>
              </a:ext>
            </a:extLst>
          </p:cNvPr>
          <p:cNvPicPr>
            <a:picLocks noChangeAspect="1"/>
          </p:cNvPicPr>
          <p:nvPr/>
        </p:nvPicPr>
        <p:blipFill>
          <a:blip r:embed="rId8"/>
          <a:srcRect r="15270" b="26538"/>
          <a:stretch>
            <a:fillRect/>
          </a:stretch>
        </p:blipFill>
        <p:spPr>
          <a:xfrm>
            <a:off x="10416983" y="236798"/>
            <a:ext cx="1440000" cy="527673"/>
          </a:xfrm>
          <a:prstGeom prst="round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0F1F"/>
        </a:solidFill>
        <a:effectLst/>
      </p:bgPr>
    </p:bg>
    <p:spTree>
      <p:nvGrpSpPr>
        <p:cNvPr id="1" name=""/>
        <p:cNvGrpSpPr/>
        <p:nvPr/>
      </p:nvGrpSpPr>
      <p:grpSpPr>
        <a:xfrm>
          <a:off x="0" y="0"/>
          <a:ext cx="0" cy="0"/>
          <a:chOff x="0" y="0"/>
          <a:chExt cx="0" cy="0"/>
        </a:xfrm>
      </p:grpSpPr>
      <p:sp>
        <p:nvSpPr>
          <p:cNvPr id="16" name="Shape 14"/>
          <p:cNvSpPr/>
          <p:nvPr/>
        </p:nvSpPr>
        <p:spPr>
          <a:xfrm>
            <a:off x="722376" y="3585249"/>
            <a:ext cx="0" cy="1260000"/>
          </a:xfrm>
          <a:prstGeom prst="line">
            <a:avLst/>
          </a:prstGeom>
          <a:noFill/>
          <a:ln w="15875">
            <a:solidFill>
              <a:srgbClr val="24314F"/>
            </a:solidFill>
            <a:prstDash val="solid"/>
          </a:ln>
        </p:spPr>
        <p:txBody>
          <a:bodyPr/>
          <a:lstStyle/>
          <a:p>
            <a:endParaRPr/>
          </a:p>
        </p:txBody>
      </p:sp>
      <p:sp>
        <p:nvSpPr>
          <p:cNvPr id="11" name="Shape 9"/>
          <p:cNvSpPr/>
          <p:nvPr/>
        </p:nvSpPr>
        <p:spPr>
          <a:xfrm>
            <a:off x="722376" y="1908849"/>
            <a:ext cx="0" cy="1260000"/>
          </a:xfrm>
          <a:prstGeom prst="line">
            <a:avLst/>
          </a:prstGeom>
          <a:noFill/>
          <a:ln w="15875">
            <a:solidFill>
              <a:srgbClr val="24314F"/>
            </a:solidFill>
            <a:prstDash val="solid"/>
          </a:ln>
        </p:spPr>
        <p:txBody>
          <a:bodyPr/>
          <a:lstStyle/>
          <a:p>
            <a:endParaRPr/>
          </a:p>
        </p:txBody>
      </p:sp>
      <p:sp>
        <p:nvSpPr>
          <p:cNvPr id="30" name="Shape 28"/>
          <p:cNvSpPr/>
          <p:nvPr/>
        </p:nvSpPr>
        <p:spPr>
          <a:xfrm>
            <a:off x="6543904" y="3585249"/>
            <a:ext cx="0" cy="1260000"/>
          </a:xfrm>
          <a:prstGeom prst="line">
            <a:avLst/>
          </a:prstGeom>
          <a:noFill/>
          <a:ln w="15875">
            <a:solidFill>
              <a:srgbClr val="24314F"/>
            </a:solidFill>
            <a:prstDash val="solid"/>
          </a:ln>
        </p:spPr>
        <p:txBody>
          <a:bodyPr/>
          <a:lstStyle/>
          <a:p>
            <a:endParaRPr/>
          </a:p>
        </p:txBody>
      </p:sp>
      <p:sp>
        <p:nvSpPr>
          <p:cNvPr id="25" name="Shape 23"/>
          <p:cNvSpPr/>
          <p:nvPr/>
        </p:nvSpPr>
        <p:spPr>
          <a:xfrm>
            <a:off x="6543904" y="1908849"/>
            <a:ext cx="0" cy="1260000"/>
          </a:xfrm>
          <a:prstGeom prst="line">
            <a:avLst/>
          </a:prstGeom>
          <a:noFill/>
          <a:ln w="15875">
            <a:solidFill>
              <a:srgbClr val="24314F"/>
            </a:solidFill>
            <a:prstDash val="solid"/>
          </a:ln>
        </p:spPr>
        <p:txBody>
          <a:bodyPr/>
          <a:lstStyle/>
          <a:p>
            <a:endParaRPr/>
          </a:p>
        </p:txBody>
      </p:sp>
      <p:sp>
        <p:nvSpPr>
          <p:cNvPr id="2" name="Shape 0"/>
          <p:cNvSpPr/>
          <p:nvPr/>
        </p:nvSpPr>
        <p:spPr>
          <a:xfrm>
            <a:off x="10637215" y="320040"/>
            <a:ext cx="1051560" cy="384048"/>
          </a:xfrm>
          <a:prstGeom prst="roundRect">
            <a:avLst>
              <a:gd name="adj" fmla="val 14286"/>
            </a:avLst>
          </a:prstGeom>
          <a:solidFill>
            <a:srgbClr val="18233C"/>
          </a:solidFill>
          <a:ln w="9525">
            <a:solidFill>
              <a:srgbClr val="24314F"/>
            </a:solidFill>
            <a:prstDash val="dash"/>
          </a:ln>
        </p:spPr>
        <p:txBody>
          <a:bodyPr/>
          <a:lstStyle/>
          <a:p>
            <a:endParaRPr/>
          </a:p>
        </p:txBody>
      </p:sp>
      <p:sp>
        <p:nvSpPr>
          <p:cNvPr id="3" name="Text 1"/>
          <p:cNvSpPr txBox="1"/>
          <p:nvPr/>
        </p:nvSpPr>
        <p:spPr>
          <a:xfrm>
            <a:off x="10637215" y="320040"/>
            <a:ext cx="1051560" cy="384048"/>
          </a:xfrm>
          <a:prstGeom prst="rect">
            <a:avLst/>
          </a:prstGeom>
          <a:noFill/>
          <a:ln/>
        </p:spPr>
        <p:txBody>
          <a:bodyPr wrap="square" lIns="0" tIns="0" rIns="0" bIns="0" rtlCol="0" anchor="ctr"/>
          <a:lstStyle/>
          <a:p>
            <a:pPr marL="0" indent="0" algn="ctr">
              <a:buNone/>
            </a:pPr>
            <a:r>
              <a:rPr lang="en-US" sz="900" b="1" dirty="0">
                <a:solidFill>
                  <a:srgbClr val="94A3B8"/>
                </a:solidFill>
                <a:latin typeface="Tahoma" panose="020B0604030504040204" pitchFamily="34" charset="0"/>
                <a:ea typeface="Tahoma" panose="020B0604030504040204" pitchFamily="34" charset="0"/>
                <a:cs typeface="Tahoma" panose="020B0604030504040204" pitchFamily="34" charset="0"/>
              </a:rPr>
              <a:t>CVV LOGO</a:t>
            </a:r>
            <a:endParaRPr lang="en-US" sz="900" dirty="0">
              <a:latin typeface="Tahoma" panose="020B0604030504040204" pitchFamily="34" charset="0"/>
            </a:endParaRPr>
          </a:p>
        </p:txBody>
      </p:sp>
      <p:sp>
        <p:nvSpPr>
          <p:cNvPr id="4" name="Text 2"/>
          <p:cNvSpPr txBox="1"/>
          <p:nvPr/>
        </p:nvSpPr>
        <p:spPr>
          <a:xfrm>
            <a:off x="502920" y="292608"/>
            <a:ext cx="9905695" cy="566928"/>
          </a:xfrm>
          <a:prstGeom prst="rect">
            <a:avLst/>
          </a:prstGeom>
          <a:noFill/>
          <a:ln/>
        </p:spPr>
        <p:txBody>
          <a:bodyPr wrap="square" lIns="0" tIns="0" rIns="0" bIns="0" rtlCol="0" anchor="ctr"/>
          <a:lstStyle/>
          <a:p>
            <a:pPr marL="0" indent="0" algn="l">
              <a:buNone/>
            </a:pPr>
            <a:r>
              <a:rPr lang="en-US" sz="3000" b="1" kern="0" spc="50" dirty="0">
                <a:solidFill>
                  <a:srgbClr val="EAF0FA"/>
                </a:solidFill>
                <a:latin typeface="Tahoma" panose="020B0604030504040204" pitchFamily="34" charset="0"/>
                <a:ea typeface="Tahoma" panose="020B0604030504040204" pitchFamily="34" charset="0"/>
                <a:cs typeface="Tahoma" panose="020B0604030504040204" pitchFamily="34" charset="0"/>
              </a:rPr>
              <a:t>Methodology</a:t>
            </a:r>
            <a:endParaRPr lang="en-US" sz="3000" dirty="0">
              <a:latin typeface="Tahoma" panose="020B0604030504040204" pitchFamily="34" charset="0"/>
            </a:endParaRPr>
          </a:p>
        </p:txBody>
      </p:sp>
      <p:sp>
        <p:nvSpPr>
          <p:cNvPr id="5" name="Text 3"/>
          <p:cNvSpPr txBox="1"/>
          <p:nvPr/>
        </p:nvSpPr>
        <p:spPr>
          <a:xfrm>
            <a:off x="502920" y="18288"/>
            <a:ext cx="5486400" cy="256032"/>
          </a:xfrm>
          <a:prstGeom prst="rect">
            <a:avLst/>
          </a:prstGeom>
          <a:noFill/>
          <a:ln/>
        </p:spPr>
        <p:txBody>
          <a:bodyPr wrap="square" lIns="0" tIns="0" rIns="0" bIns="0" rtlCol="0" anchor="ctr"/>
          <a:lstStyle/>
          <a:p>
            <a:pPr marL="0" indent="0" algn="l">
              <a:buNone/>
            </a:pPr>
            <a:r>
              <a:rPr lang="en-US" sz="1100" b="1" kern="0" spc="120" dirty="0">
                <a:solidFill>
                  <a:srgbClr val="22D3EE"/>
                </a:solidFill>
                <a:latin typeface="Tahoma" panose="020B0604030504040204" pitchFamily="34" charset="0"/>
                <a:ea typeface="Tahoma" panose="020B0604030504040204" pitchFamily="34" charset="0"/>
                <a:cs typeface="Tahoma" panose="020B0604030504040204" pitchFamily="34" charset="0"/>
              </a:rPr>
              <a:t>SIX-STAGE DEVELOPMENT PIPELINE</a:t>
            </a:r>
            <a:endParaRPr lang="en-US" sz="1100" dirty="0">
              <a:latin typeface="Tahoma" panose="020B0604030504040204" pitchFamily="34" charset="0"/>
            </a:endParaRPr>
          </a:p>
        </p:txBody>
      </p:sp>
      <p:sp>
        <p:nvSpPr>
          <p:cNvPr id="7" name="Text 5"/>
          <p:cNvSpPr txBox="1"/>
          <p:nvPr/>
        </p:nvSpPr>
        <p:spPr>
          <a:xfrm>
            <a:off x="11140135" y="6473952"/>
            <a:ext cx="548640" cy="274320"/>
          </a:xfrm>
          <a:prstGeom prst="rect">
            <a:avLst/>
          </a:prstGeom>
          <a:noFill/>
          <a:ln/>
        </p:spPr>
        <p:txBody>
          <a:bodyPr wrap="square" lIns="0" tIns="0" rIns="0" bIns="0" rtlCol="0" anchor="ctr"/>
          <a:lstStyle/>
          <a:p>
            <a:pPr marL="0" indent="0" algn="r">
              <a:buNone/>
            </a:pPr>
            <a:r>
              <a:rPr lang="en-US" sz="900" dirty="0">
                <a:solidFill>
                  <a:srgbClr val="5B6B85"/>
                </a:solidFill>
                <a:latin typeface="Tahoma" panose="020B0604030504040204" pitchFamily="34" charset="0"/>
                <a:ea typeface="Tahoma" panose="020B0604030504040204" pitchFamily="34" charset="0"/>
                <a:cs typeface="Tahoma" panose="020B0604030504040204" pitchFamily="34" charset="0"/>
              </a:rPr>
              <a:t>09</a:t>
            </a:r>
            <a:endParaRPr lang="en-US" sz="900" dirty="0">
              <a:latin typeface="Tahoma" panose="020B0604030504040204" pitchFamily="34" charset="0"/>
            </a:endParaRPr>
          </a:p>
        </p:txBody>
      </p:sp>
      <p:sp>
        <p:nvSpPr>
          <p:cNvPr id="8" name="Shape 6"/>
          <p:cNvSpPr/>
          <p:nvPr/>
        </p:nvSpPr>
        <p:spPr>
          <a:xfrm>
            <a:off x="502920" y="6400800"/>
            <a:ext cx="11185855" cy="0"/>
          </a:xfrm>
          <a:prstGeom prst="line">
            <a:avLst/>
          </a:prstGeom>
          <a:noFill/>
          <a:ln w="9525">
            <a:solidFill>
              <a:srgbClr val="24314F"/>
            </a:solidFill>
            <a:prstDash val="solid"/>
          </a:ln>
        </p:spPr>
        <p:txBody>
          <a:bodyPr/>
          <a:lstStyle/>
          <a:p>
            <a:endParaRPr/>
          </a:p>
        </p:txBody>
      </p:sp>
      <p:sp>
        <p:nvSpPr>
          <p:cNvPr id="9" name="Shape 7"/>
          <p:cNvSpPr/>
          <p:nvPr/>
        </p:nvSpPr>
        <p:spPr>
          <a:xfrm>
            <a:off x="502920" y="1451649"/>
            <a:ext cx="457200" cy="457200"/>
          </a:xfrm>
          <a:prstGeom prst="ellipse">
            <a:avLst/>
          </a:prstGeom>
          <a:solidFill>
            <a:srgbClr val="18233C"/>
          </a:solidFill>
          <a:ln w="15875">
            <a:solidFill>
              <a:srgbClr val="3B82F6"/>
            </a:solidFill>
            <a:prstDash val="solid"/>
          </a:ln>
        </p:spPr>
        <p:txBody>
          <a:bodyPr/>
          <a:lstStyle/>
          <a:p>
            <a:endParaRPr/>
          </a:p>
        </p:txBody>
      </p:sp>
      <p:sp>
        <p:nvSpPr>
          <p:cNvPr id="10" name="Text 8"/>
          <p:cNvSpPr txBox="1"/>
          <p:nvPr/>
        </p:nvSpPr>
        <p:spPr>
          <a:xfrm>
            <a:off x="502920" y="1451649"/>
            <a:ext cx="457200" cy="457200"/>
          </a:xfrm>
          <a:prstGeom prst="rect">
            <a:avLst/>
          </a:prstGeom>
          <a:noFill/>
          <a:ln/>
        </p:spPr>
        <p:txBody>
          <a:bodyPr wrap="square" lIns="0" tIns="0" rIns="0" bIns="0" rtlCol="0" anchor="ctr"/>
          <a:lstStyle/>
          <a:p>
            <a:pPr marL="0" indent="0" algn="ctr">
              <a:buNone/>
            </a:pPr>
            <a:r>
              <a:rPr lang="en-US" sz="1300" b="1" dirty="0">
                <a:solidFill>
                  <a:srgbClr val="3B82F6"/>
                </a:solidFill>
                <a:latin typeface="Tahoma" panose="020B0604030504040204" pitchFamily="34" charset="0"/>
                <a:ea typeface="Tahoma" panose="020B0604030504040204" pitchFamily="34" charset="0"/>
                <a:cs typeface="Tahoma" panose="020B0604030504040204" pitchFamily="34" charset="0"/>
              </a:rPr>
              <a:t>01</a:t>
            </a:r>
            <a:endParaRPr lang="en-US" sz="1300" dirty="0">
              <a:latin typeface="Tahoma" panose="020B0604030504040204" pitchFamily="34" charset="0"/>
            </a:endParaRPr>
          </a:p>
        </p:txBody>
      </p:sp>
      <p:sp>
        <p:nvSpPr>
          <p:cNvPr id="12" name="Text 10"/>
          <p:cNvSpPr txBox="1"/>
          <p:nvPr/>
        </p:nvSpPr>
        <p:spPr>
          <a:xfrm>
            <a:off x="1143000" y="1378497"/>
            <a:ext cx="4724248" cy="347472"/>
          </a:xfrm>
          <a:prstGeom prst="rect">
            <a:avLst/>
          </a:prstGeom>
          <a:noFill/>
          <a:ln/>
        </p:spPr>
        <p:txBody>
          <a:bodyPr wrap="square" lIns="0" tIns="0" rIns="0" bIns="0" rtlCol="0" anchor="ctr"/>
          <a:lstStyle/>
          <a:p>
            <a:pPr marL="0" indent="0">
              <a:buNone/>
            </a:pPr>
            <a:r>
              <a:rPr lang="en-US" sz="1500" b="1" dirty="0">
                <a:solidFill>
                  <a:srgbClr val="EAF0FA"/>
                </a:solidFill>
                <a:latin typeface="Tahoma" panose="020B0604030504040204" pitchFamily="34" charset="0"/>
                <a:ea typeface="Tahoma" panose="020B0604030504040204" pitchFamily="34" charset="0"/>
                <a:cs typeface="Tahoma" panose="020B0604030504040204" pitchFamily="34" charset="0"/>
              </a:rPr>
              <a:t>Requirement Analysis</a:t>
            </a:r>
            <a:endParaRPr lang="en-US" sz="1500" dirty="0">
              <a:latin typeface="Tahoma" panose="020B0604030504040204" pitchFamily="34" charset="0"/>
            </a:endParaRPr>
          </a:p>
        </p:txBody>
      </p:sp>
      <p:sp>
        <p:nvSpPr>
          <p:cNvPr id="13" name="Text 11"/>
          <p:cNvSpPr txBox="1"/>
          <p:nvPr/>
        </p:nvSpPr>
        <p:spPr>
          <a:xfrm>
            <a:off x="1143000" y="1744257"/>
            <a:ext cx="4724248" cy="1173480"/>
          </a:xfrm>
          <a:prstGeom prst="rect">
            <a:avLst/>
          </a:prstGeom>
          <a:noFill/>
          <a:ln/>
        </p:spPr>
        <p:txBody>
          <a:bodyPr wrap="square" lIns="0" tIns="0" rIns="0" bIns="0" rtlCol="0" anchor="t"/>
          <a:lstStyle/>
          <a:p>
            <a:pPr marL="0" indent="0">
              <a:lnSpc>
                <a:spcPct val="122000"/>
              </a:lnSpc>
              <a:buNone/>
            </a:pPr>
            <a:r>
              <a:rPr lang="en-US" sz="1150" dirty="0">
                <a:solidFill>
                  <a:srgbClr val="94A3B8"/>
                </a:solidFill>
                <a:latin typeface="Tahoma" panose="020B0604030504040204" pitchFamily="34" charset="0"/>
                <a:ea typeface="Tahoma" panose="020B0604030504040204" pitchFamily="34" charset="0"/>
                <a:cs typeface="Tahoma" panose="020B0604030504040204" pitchFamily="34" charset="0"/>
              </a:rPr>
              <a:t>Requirement analysis and technology stack finalization</a:t>
            </a:r>
            <a:endParaRPr lang="en-US" sz="1150" dirty="0">
              <a:latin typeface="Tahoma" panose="020B0604030504040204" pitchFamily="34" charset="0"/>
            </a:endParaRPr>
          </a:p>
        </p:txBody>
      </p:sp>
      <p:sp>
        <p:nvSpPr>
          <p:cNvPr id="14" name="Shape 12"/>
          <p:cNvSpPr/>
          <p:nvPr/>
        </p:nvSpPr>
        <p:spPr>
          <a:xfrm>
            <a:off x="502920" y="3128049"/>
            <a:ext cx="457200" cy="457200"/>
          </a:xfrm>
          <a:prstGeom prst="ellipse">
            <a:avLst/>
          </a:prstGeom>
          <a:solidFill>
            <a:srgbClr val="18233C"/>
          </a:solidFill>
          <a:ln w="15875">
            <a:solidFill>
              <a:srgbClr val="3B82F6"/>
            </a:solidFill>
            <a:prstDash val="solid"/>
          </a:ln>
        </p:spPr>
        <p:txBody>
          <a:bodyPr/>
          <a:lstStyle/>
          <a:p>
            <a:endParaRPr/>
          </a:p>
        </p:txBody>
      </p:sp>
      <p:sp>
        <p:nvSpPr>
          <p:cNvPr id="15" name="Text 13"/>
          <p:cNvSpPr txBox="1"/>
          <p:nvPr/>
        </p:nvSpPr>
        <p:spPr>
          <a:xfrm>
            <a:off x="502920" y="3128049"/>
            <a:ext cx="457200" cy="457200"/>
          </a:xfrm>
          <a:prstGeom prst="rect">
            <a:avLst/>
          </a:prstGeom>
          <a:noFill/>
          <a:ln/>
        </p:spPr>
        <p:txBody>
          <a:bodyPr wrap="square" lIns="0" tIns="0" rIns="0" bIns="0" rtlCol="0" anchor="ctr"/>
          <a:lstStyle/>
          <a:p>
            <a:pPr marL="0" indent="0" algn="ctr">
              <a:buNone/>
            </a:pPr>
            <a:r>
              <a:rPr lang="en-US" sz="1300" b="1" dirty="0">
                <a:solidFill>
                  <a:srgbClr val="3B82F6"/>
                </a:solidFill>
                <a:latin typeface="Tahoma" panose="020B0604030504040204" pitchFamily="34" charset="0"/>
                <a:ea typeface="Tahoma" panose="020B0604030504040204" pitchFamily="34" charset="0"/>
                <a:cs typeface="Tahoma" panose="020B0604030504040204" pitchFamily="34" charset="0"/>
              </a:rPr>
              <a:t>02</a:t>
            </a:r>
            <a:endParaRPr lang="en-US" sz="1300" dirty="0">
              <a:latin typeface="Tahoma" panose="020B0604030504040204" pitchFamily="34" charset="0"/>
            </a:endParaRPr>
          </a:p>
        </p:txBody>
      </p:sp>
      <p:sp>
        <p:nvSpPr>
          <p:cNvPr id="17" name="Text 15"/>
          <p:cNvSpPr txBox="1"/>
          <p:nvPr/>
        </p:nvSpPr>
        <p:spPr>
          <a:xfrm>
            <a:off x="1143000" y="3054897"/>
            <a:ext cx="4724248" cy="347472"/>
          </a:xfrm>
          <a:prstGeom prst="rect">
            <a:avLst/>
          </a:prstGeom>
          <a:noFill/>
          <a:ln/>
        </p:spPr>
        <p:txBody>
          <a:bodyPr wrap="square" lIns="0" tIns="0" rIns="0" bIns="0" rtlCol="0" anchor="ctr"/>
          <a:lstStyle/>
          <a:p>
            <a:pPr marL="0" indent="0">
              <a:buNone/>
            </a:pPr>
            <a:r>
              <a:rPr lang="en-US" sz="1500" b="1" dirty="0">
                <a:solidFill>
                  <a:srgbClr val="EAF0FA"/>
                </a:solidFill>
                <a:latin typeface="Tahoma" panose="020B0604030504040204" pitchFamily="34" charset="0"/>
                <a:ea typeface="Tahoma" panose="020B0604030504040204" pitchFamily="34" charset="0"/>
                <a:cs typeface="Tahoma" panose="020B0604030504040204" pitchFamily="34" charset="0"/>
              </a:rPr>
              <a:t>Backend Development</a:t>
            </a:r>
            <a:endParaRPr lang="en-US" sz="1500" dirty="0">
              <a:latin typeface="Tahoma" panose="020B0604030504040204" pitchFamily="34" charset="0"/>
            </a:endParaRPr>
          </a:p>
        </p:txBody>
      </p:sp>
      <p:sp>
        <p:nvSpPr>
          <p:cNvPr id="18" name="Text 16"/>
          <p:cNvSpPr txBox="1"/>
          <p:nvPr/>
        </p:nvSpPr>
        <p:spPr>
          <a:xfrm>
            <a:off x="1143000" y="3420657"/>
            <a:ext cx="4724248" cy="1173480"/>
          </a:xfrm>
          <a:prstGeom prst="rect">
            <a:avLst/>
          </a:prstGeom>
          <a:noFill/>
          <a:ln/>
        </p:spPr>
        <p:txBody>
          <a:bodyPr wrap="square" lIns="0" tIns="0" rIns="0" bIns="0" rtlCol="0" anchor="t"/>
          <a:lstStyle/>
          <a:p>
            <a:pPr marL="0" indent="0">
              <a:lnSpc>
                <a:spcPct val="122000"/>
              </a:lnSpc>
              <a:buNone/>
            </a:pPr>
            <a:r>
              <a:rPr lang="en-US" sz="1150" dirty="0">
                <a:solidFill>
                  <a:srgbClr val="94A3B8"/>
                </a:solidFill>
                <a:latin typeface="Tahoma" panose="020B0604030504040204" pitchFamily="34" charset="0"/>
                <a:ea typeface="Tahoma" panose="020B0604030504040204" pitchFamily="34" charset="0"/>
                <a:cs typeface="Tahoma" panose="020B0604030504040204" pitchFamily="34" charset="0"/>
              </a:rPr>
              <a:t>Backend development: entity design, JWT authentication, transaction CRUD APIs</a:t>
            </a:r>
            <a:endParaRPr lang="en-US" sz="1150" dirty="0">
              <a:latin typeface="Tahoma" panose="020B0604030504040204" pitchFamily="34" charset="0"/>
            </a:endParaRPr>
          </a:p>
        </p:txBody>
      </p:sp>
      <p:sp>
        <p:nvSpPr>
          <p:cNvPr id="19" name="Shape 17"/>
          <p:cNvSpPr/>
          <p:nvPr/>
        </p:nvSpPr>
        <p:spPr>
          <a:xfrm>
            <a:off x="502920" y="4804449"/>
            <a:ext cx="457200" cy="457200"/>
          </a:xfrm>
          <a:prstGeom prst="ellipse">
            <a:avLst/>
          </a:prstGeom>
          <a:solidFill>
            <a:srgbClr val="18233C"/>
          </a:solidFill>
          <a:ln w="15875">
            <a:solidFill>
              <a:srgbClr val="3B82F6"/>
            </a:solidFill>
            <a:prstDash val="solid"/>
          </a:ln>
        </p:spPr>
        <p:txBody>
          <a:bodyPr/>
          <a:lstStyle/>
          <a:p>
            <a:endParaRPr/>
          </a:p>
        </p:txBody>
      </p:sp>
      <p:sp>
        <p:nvSpPr>
          <p:cNvPr id="20" name="Text 18"/>
          <p:cNvSpPr txBox="1"/>
          <p:nvPr/>
        </p:nvSpPr>
        <p:spPr>
          <a:xfrm>
            <a:off x="502920" y="4804449"/>
            <a:ext cx="457200" cy="457200"/>
          </a:xfrm>
          <a:prstGeom prst="rect">
            <a:avLst/>
          </a:prstGeom>
          <a:noFill/>
          <a:ln/>
        </p:spPr>
        <p:txBody>
          <a:bodyPr wrap="square" lIns="0" tIns="0" rIns="0" bIns="0" rtlCol="0" anchor="ctr"/>
          <a:lstStyle/>
          <a:p>
            <a:pPr marL="0" indent="0" algn="ctr">
              <a:buNone/>
            </a:pPr>
            <a:r>
              <a:rPr lang="en-US" sz="1300" b="1" dirty="0">
                <a:solidFill>
                  <a:srgbClr val="3B82F6"/>
                </a:solidFill>
                <a:latin typeface="Tahoma" panose="020B0604030504040204" pitchFamily="34" charset="0"/>
                <a:ea typeface="Tahoma" panose="020B0604030504040204" pitchFamily="34" charset="0"/>
                <a:cs typeface="Tahoma" panose="020B0604030504040204" pitchFamily="34" charset="0"/>
              </a:rPr>
              <a:t>03</a:t>
            </a:r>
            <a:endParaRPr lang="en-US" sz="1300" dirty="0">
              <a:latin typeface="Tahoma" panose="020B0604030504040204" pitchFamily="34" charset="0"/>
            </a:endParaRPr>
          </a:p>
        </p:txBody>
      </p:sp>
      <p:sp>
        <p:nvSpPr>
          <p:cNvPr id="21" name="Text 19"/>
          <p:cNvSpPr txBox="1"/>
          <p:nvPr/>
        </p:nvSpPr>
        <p:spPr>
          <a:xfrm>
            <a:off x="1143000" y="4731297"/>
            <a:ext cx="4724248" cy="347472"/>
          </a:xfrm>
          <a:prstGeom prst="rect">
            <a:avLst/>
          </a:prstGeom>
          <a:noFill/>
          <a:ln/>
        </p:spPr>
        <p:txBody>
          <a:bodyPr wrap="square" lIns="0" tIns="0" rIns="0" bIns="0" rtlCol="0" anchor="ctr"/>
          <a:lstStyle/>
          <a:p>
            <a:pPr marL="0" indent="0">
              <a:buNone/>
            </a:pPr>
            <a:r>
              <a:rPr lang="en-US" sz="1500" b="1" dirty="0">
                <a:solidFill>
                  <a:srgbClr val="EAF0FA"/>
                </a:solidFill>
                <a:latin typeface="Tahoma" panose="020B0604030504040204" pitchFamily="34" charset="0"/>
                <a:ea typeface="Tahoma" panose="020B0604030504040204" pitchFamily="34" charset="0"/>
                <a:cs typeface="Tahoma" panose="020B0604030504040204" pitchFamily="34" charset="0"/>
              </a:rPr>
              <a:t>Statement Parsing</a:t>
            </a:r>
            <a:endParaRPr lang="en-US" sz="1500" dirty="0">
              <a:latin typeface="Tahoma" panose="020B0604030504040204" pitchFamily="34" charset="0"/>
            </a:endParaRPr>
          </a:p>
        </p:txBody>
      </p:sp>
      <p:sp>
        <p:nvSpPr>
          <p:cNvPr id="22" name="Text 20"/>
          <p:cNvSpPr txBox="1"/>
          <p:nvPr/>
        </p:nvSpPr>
        <p:spPr>
          <a:xfrm>
            <a:off x="1143000" y="5097057"/>
            <a:ext cx="4724248" cy="1173480"/>
          </a:xfrm>
          <a:prstGeom prst="rect">
            <a:avLst/>
          </a:prstGeom>
          <a:noFill/>
          <a:ln/>
        </p:spPr>
        <p:txBody>
          <a:bodyPr wrap="square" lIns="0" tIns="0" rIns="0" bIns="0" rtlCol="0" anchor="t"/>
          <a:lstStyle/>
          <a:p>
            <a:pPr marL="0" indent="0">
              <a:lnSpc>
                <a:spcPct val="122000"/>
              </a:lnSpc>
              <a:buNone/>
            </a:pPr>
            <a:r>
              <a:rPr lang="en-US" sz="1150" dirty="0">
                <a:solidFill>
                  <a:srgbClr val="94A3B8"/>
                </a:solidFill>
                <a:latin typeface="Tahoma" panose="020B0604030504040204" pitchFamily="34" charset="0"/>
                <a:ea typeface="Tahoma" panose="020B0604030504040204" pitchFamily="34" charset="0"/>
                <a:cs typeface="Tahoma" panose="020B0604030504040204" pitchFamily="34" charset="0"/>
              </a:rPr>
              <a:t>Statement parsing module: PDF and CSV parsers converging into a unified transaction format</a:t>
            </a:r>
            <a:endParaRPr lang="en-US" sz="1150" dirty="0">
              <a:latin typeface="Tahoma" panose="020B0604030504040204" pitchFamily="34" charset="0"/>
            </a:endParaRPr>
          </a:p>
        </p:txBody>
      </p:sp>
      <p:sp>
        <p:nvSpPr>
          <p:cNvPr id="23" name="Shape 21"/>
          <p:cNvSpPr/>
          <p:nvPr/>
        </p:nvSpPr>
        <p:spPr>
          <a:xfrm>
            <a:off x="6324448" y="1451649"/>
            <a:ext cx="457200" cy="457200"/>
          </a:xfrm>
          <a:prstGeom prst="ellipse">
            <a:avLst/>
          </a:prstGeom>
          <a:solidFill>
            <a:srgbClr val="18233C"/>
          </a:solidFill>
          <a:ln w="15875">
            <a:solidFill>
              <a:srgbClr val="3B82F6"/>
            </a:solidFill>
            <a:prstDash val="solid"/>
          </a:ln>
        </p:spPr>
        <p:txBody>
          <a:bodyPr/>
          <a:lstStyle/>
          <a:p>
            <a:endParaRPr/>
          </a:p>
        </p:txBody>
      </p:sp>
      <p:sp>
        <p:nvSpPr>
          <p:cNvPr id="24" name="Text 22"/>
          <p:cNvSpPr txBox="1"/>
          <p:nvPr/>
        </p:nvSpPr>
        <p:spPr>
          <a:xfrm>
            <a:off x="6324448" y="1451649"/>
            <a:ext cx="457200" cy="457200"/>
          </a:xfrm>
          <a:prstGeom prst="rect">
            <a:avLst/>
          </a:prstGeom>
          <a:noFill/>
          <a:ln/>
        </p:spPr>
        <p:txBody>
          <a:bodyPr wrap="square" lIns="0" tIns="0" rIns="0" bIns="0" rtlCol="0" anchor="ctr"/>
          <a:lstStyle/>
          <a:p>
            <a:pPr marL="0" indent="0" algn="ctr">
              <a:buNone/>
            </a:pPr>
            <a:r>
              <a:rPr lang="en-US" sz="1300" b="1" dirty="0">
                <a:solidFill>
                  <a:srgbClr val="3B82F6"/>
                </a:solidFill>
                <a:latin typeface="Tahoma" panose="020B0604030504040204" pitchFamily="34" charset="0"/>
                <a:ea typeface="Tahoma" panose="020B0604030504040204" pitchFamily="34" charset="0"/>
                <a:cs typeface="Tahoma" panose="020B0604030504040204" pitchFamily="34" charset="0"/>
              </a:rPr>
              <a:t>04</a:t>
            </a:r>
            <a:endParaRPr lang="en-US" sz="1300" dirty="0">
              <a:latin typeface="Tahoma" panose="020B0604030504040204" pitchFamily="34" charset="0"/>
            </a:endParaRPr>
          </a:p>
        </p:txBody>
      </p:sp>
      <p:sp>
        <p:nvSpPr>
          <p:cNvPr id="26" name="Text 24"/>
          <p:cNvSpPr txBox="1"/>
          <p:nvPr/>
        </p:nvSpPr>
        <p:spPr>
          <a:xfrm>
            <a:off x="6964528" y="1378497"/>
            <a:ext cx="4724248" cy="347472"/>
          </a:xfrm>
          <a:prstGeom prst="rect">
            <a:avLst/>
          </a:prstGeom>
          <a:noFill/>
          <a:ln/>
        </p:spPr>
        <p:txBody>
          <a:bodyPr wrap="square" lIns="0" tIns="0" rIns="0" bIns="0" rtlCol="0" anchor="ctr"/>
          <a:lstStyle/>
          <a:p>
            <a:pPr marL="0" indent="0">
              <a:buNone/>
            </a:pPr>
            <a:r>
              <a:rPr lang="en-US" sz="1500" b="1" dirty="0">
                <a:solidFill>
                  <a:srgbClr val="EAF0FA"/>
                </a:solidFill>
                <a:latin typeface="Tahoma" panose="020B0604030504040204" pitchFamily="34" charset="0"/>
                <a:ea typeface="Tahoma" panose="020B0604030504040204" pitchFamily="34" charset="0"/>
                <a:cs typeface="Tahoma" panose="020B0604030504040204" pitchFamily="34" charset="0"/>
              </a:rPr>
              <a:t>AI Integration</a:t>
            </a:r>
            <a:endParaRPr lang="en-US" sz="1500" dirty="0">
              <a:latin typeface="Tahoma" panose="020B0604030504040204" pitchFamily="34" charset="0"/>
            </a:endParaRPr>
          </a:p>
        </p:txBody>
      </p:sp>
      <p:sp>
        <p:nvSpPr>
          <p:cNvPr id="27" name="Text 25"/>
          <p:cNvSpPr txBox="1"/>
          <p:nvPr/>
        </p:nvSpPr>
        <p:spPr>
          <a:xfrm>
            <a:off x="6964528" y="1744257"/>
            <a:ext cx="4724248" cy="1173480"/>
          </a:xfrm>
          <a:prstGeom prst="rect">
            <a:avLst/>
          </a:prstGeom>
          <a:noFill/>
          <a:ln/>
        </p:spPr>
        <p:txBody>
          <a:bodyPr wrap="square" lIns="0" tIns="0" rIns="0" bIns="0" rtlCol="0" anchor="t"/>
          <a:lstStyle/>
          <a:p>
            <a:pPr marL="0" indent="0">
              <a:lnSpc>
                <a:spcPct val="122000"/>
              </a:lnSpc>
              <a:buNone/>
            </a:pPr>
            <a:r>
              <a:rPr lang="en-US" sz="1150" dirty="0">
                <a:solidFill>
                  <a:srgbClr val="94A3B8"/>
                </a:solidFill>
                <a:latin typeface="Tahoma" panose="020B0604030504040204" pitchFamily="34" charset="0"/>
                <a:ea typeface="Tahoma" panose="020B0604030504040204" pitchFamily="34" charset="0"/>
                <a:cs typeface="Tahoma" panose="020B0604030504040204" pitchFamily="34" charset="0"/>
              </a:rPr>
              <a:t>AI integration: Gemini API for categorization, merchant extraction, and savings suggestions</a:t>
            </a:r>
            <a:endParaRPr lang="en-US" sz="1150" dirty="0">
              <a:latin typeface="Tahoma" panose="020B0604030504040204" pitchFamily="34" charset="0"/>
            </a:endParaRPr>
          </a:p>
        </p:txBody>
      </p:sp>
      <p:sp>
        <p:nvSpPr>
          <p:cNvPr id="28" name="Shape 26"/>
          <p:cNvSpPr/>
          <p:nvPr/>
        </p:nvSpPr>
        <p:spPr>
          <a:xfrm>
            <a:off x="6324448" y="3128049"/>
            <a:ext cx="457200" cy="457200"/>
          </a:xfrm>
          <a:prstGeom prst="ellipse">
            <a:avLst/>
          </a:prstGeom>
          <a:solidFill>
            <a:srgbClr val="18233C"/>
          </a:solidFill>
          <a:ln w="15875">
            <a:solidFill>
              <a:srgbClr val="3B82F6"/>
            </a:solidFill>
            <a:prstDash val="solid"/>
          </a:ln>
        </p:spPr>
        <p:txBody>
          <a:bodyPr/>
          <a:lstStyle/>
          <a:p>
            <a:endParaRPr/>
          </a:p>
        </p:txBody>
      </p:sp>
      <p:sp>
        <p:nvSpPr>
          <p:cNvPr id="29" name="Text 27"/>
          <p:cNvSpPr txBox="1"/>
          <p:nvPr/>
        </p:nvSpPr>
        <p:spPr>
          <a:xfrm>
            <a:off x="6324448" y="3128049"/>
            <a:ext cx="457200" cy="457200"/>
          </a:xfrm>
          <a:prstGeom prst="rect">
            <a:avLst/>
          </a:prstGeom>
          <a:noFill/>
          <a:ln/>
        </p:spPr>
        <p:txBody>
          <a:bodyPr wrap="square" lIns="0" tIns="0" rIns="0" bIns="0" rtlCol="0" anchor="ctr"/>
          <a:lstStyle/>
          <a:p>
            <a:pPr marL="0" indent="0" algn="ctr">
              <a:buNone/>
            </a:pPr>
            <a:r>
              <a:rPr lang="en-US" sz="1300" b="1" dirty="0">
                <a:solidFill>
                  <a:srgbClr val="3B82F6"/>
                </a:solidFill>
                <a:latin typeface="Tahoma" panose="020B0604030504040204" pitchFamily="34" charset="0"/>
                <a:ea typeface="Tahoma" panose="020B0604030504040204" pitchFamily="34" charset="0"/>
                <a:cs typeface="Tahoma" panose="020B0604030504040204" pitchFamily="34" charset="0"/>
              </a:rPr>
              <a:t>05</a:t>
            </a:r>
            <a:endParaRPr lang="en-US" sz="1300" dirty="0">
              <a:latin typeface="Tahoma" panose="020B0604030504040204" pitchFamily="34" charset="0"/>
            </a:endParaRPr>
          </a:p>
        </p:txBody>
      </p:sp>
      <p:sp>
        <p:nvSpPr>
          <p:cNvPr id="31" name="Text 29"/>
          <p:cNvSpPr txBox="1"/>
          <p:nvPr/>
        </p:nvSpPr>
        <p:spPr>
          <a:xfrm>
            <a:off x="6964528" y="3054897"/>
            <a:ext cx="4724248" cy="347472"/>
          </a:xfrm>
          <a:prstGeom prst="rect">
            <a:avLst/>
          </a:prstGeom>
          <a:noFill/>
          <a:ln/>
        </p:spPr>
        <p:txBody>
          <a:bodyPr wrap="square" lIns="0" tIns="0" rIns="0" bIns="0" rtlCol="0" anchor="ctr"/>
          <a:lstStyle/>
          <a:p>
            <a:pPr marL="0" indent="0">
              <a:buNone/>
            </a:pPr>
            <a:r>
              <a:rPr lang="en-US" sz="1500" b="1" dirty="0">
                <a:solidFill>
                  <a:srgbClr val="EAF0FA"/>
                </a:solidFill>
                <a:latin typeface="Tahoma" panose="020B0604030504040204" pitchFamily="34" charset="0"/>
                <a:ea typeface="Tahoma" panose="020B0604030504040204" pitchFamily="34" charset="0"/>
                <a:cs typeface="Tahoma" panose="020B0604030504040204" pitchFamily="34" charset="0"/>
              </a:rPr>
              <a:t>Frontend Development</a:t>
            </a:r>
            <a:endParaRPr lang="en-US" sz="1500" dirty="0">
              <a:latin typeface="Tahoma" panose="020B0604030504040204" pitchFamily="34" charset="0"/>
            </a:endParaRPr>
          </a:p>
        </p:txBody>
      </p:sp>
      <p:sp>
        <p:nvSpPr>
          <p:cNvPr id="32" name="Text 30"/>
          <p:cNvSpPr txBox="1"/>
          <p:nvPr/>
        </p:nvSpPr>
        <p:spPr>
          <a:xfrm>
            <a:off x="6964528" y="3420657"/>
            <a:ext cx="4724248" cy="1173480"/>
          </a:xfrm>
          <a:prstGeom prst="rect">
            <a:avLst/>
          </a:prstGeom>
          <a:noFill/>
          <a:ln/>
        </p:spPr>
        <p:txBody>
          <a:bodyPr wrap="square" lIns="0" tIns="0" rIns="0" bIns="0" rtlCol="0" anchor="t"/>
          <a:lstStyle/>
          <a:p>
            <a:pPr marL="0" indent="0">
              <a:lnSpc>
                <a:spcPct val="122000"/>
              </a:lnSpc>
              <a:buNone/>
            </a:pPr>
            <a:r>
              <a:rPr lang="en-US" sz="1150" dirty="0">
                <a:solidFill>
                  <a:srgbClr val="94A3B8"/>
                </a:solidFill>
                <a:latin typeface="Tahoma" panose="020B0604030504040204" pitchFamily="34" charset="0"/>
                <a:ea typeface="Tahoma" panose="020B0604030504040204" pitchFamily="34" charset="0"/>
                <a:cs typeface="Tahoma" panose="020B0604030504040204" pitchFamily="34" charset="0"/>
              </a:rPr>
              <a:t>Frontend development: dashboard, analytics, budget alerts and insights UI</a:t>
            </a:r>
            <a:endParaRPr lang="en-US" sz="1150" dirty="0">
              <a:latin typeface="Tahoma" panose="020B0604030504040204" pitchFamily="34" charset="0"/>
            </a:endParaRPr>
          </a:p>
        </p:txBody>
      </p:sp>
      <p:sp>
        <p:nvSpPr>
          <p:cNvPr id="33" name="Shape 31"/>
          <p:cNvSpPr/>
          <p:nvPr/>
        </p:nvSpPr>
        <p:spPr>
          <a:xfrm>
            <a:off x="6324448" y="4804449"/>
            <a:ext cx="457200" cy="457200"/>
          </a:xfrm>
          <a:prstGeom prst="ellipse">
            <a:avLst/>
          </a:prstGeom>
          <a:solidFill>
            <a:srgbClr val="18233C"/>
          </a:solidFill>
          <a:ln w="15875">
            <a:solidFill>
              <a:srgbClr val="3B82F6"/>
            </a:solidFill>
            <a:prstDash val="solid"/>
          </a:ln>
        </p:spPr>
        <p:txBody>
          <a:bodyPr/>
          <a:lstStyle/>
          <a:p>
            <a:endParaRPr/>
          </a:p>
        </p:txBody>
      </p:sp>
      <p:sp>
        <p:nvSpPr>
          <p:cNvPr id="34" name="Text 32"/>
          <p:cNvSpPr txBox="1"/>
          <p:nvPr/>
        </p:nvSpPr>
        <p:spPr>
          <a:xfrm>
            <a:off x="6324448" y="4804449"/>
            <a:ext cx="457200" cy="457200"/>
          </a:xfrm>
          <a:prstGeom prst="rect">
            <a:avLst/>
          </a:prstGeom>
          <a:noFill/>
          <a:ln/>
        </p:spPr>
        <p:txBody>
          <a:bodyPr wrap="square" lIns="0" tIns="0" rIns="0" bIns="0" rtlCol="0" anchor="ctr"/>
          <a:lstStyle/>
          <a:p>
            <a:pPr marL="0" indent="0" algn="ctr">
              <a:buNone/>
            </a:pPr>
            <a:r>
              <a:rPr lang="en-US" sz="1300" b="1" dirty="0">
                <a:solidFill>
                  <a:srgbClr val="3B82F6"/>
                </a:solidFill>
                <a:latin typeface="Tahoma" panose="020B0604030504040204" pitchFamily="34" charset="0"/>
                <a:ea typeface="Tahoma" panose="020B0604030504040204" pitchFamily="34" charset="0"/>
                <a:cs typeface="Tahoma" panose="020B0604030504040204" pitchFamily="34" charset="0"/>
              </a:rPr>
              <a:t>06</a:t>
            </a:r>
            <a:endParaRPr lang="en-US" sz="1300" dirty="0">
              <a:latin typeface="Tahoma" panose="020B0604030504040204" pitchFamily="34" charset="0"/>
            </a:endParaRPr>
          </a:p>
        </p:txBody>
      </p:sp>
      <p:sp>
        <p:nvSpPr>
          <p:cNvPr id="35" name="Text 33"/>
          <p:cNvSpPr txBox="1"/>
          <p:nvPr/>
        </p:nvSpPr>
        <p:spPr>
          <a:xfrm>
            <a:off x="6964528" y="4731297"/>
            <a:ext cx="4724248" cy="347472"/>
          </a:xfrm>
          <a:prstGeom prst="rect">
            <a:avLst/>
          </a:prstGeom>
          <a:noFill/>
          <a:ln/>
        </p:spPr>
        <p:txBody>
          <a:bodyPr wrap="square" lIns="0" tIns="0" rIns="0" bIns="0" rtlCol="0" anchor="ctr"/>
          <a:lstStyle/>
          <a:p>
            <a:pPr marL="0" indent="0">
              <a:buNone/>
            </a:pPr>
            <a:r>
              <a:rPr lang="en-US" sz="1500" b="1" dirty="0">
                <a:solidFill>
                  <a:srgbClr val="EAF0FA"/>
                </a:solidFill>
                <a:latin typeface="Tahoma" panose="020B0604030504040204" pitchFamily="34" charset="0"/>
                <a:ea typeface="Tahoma" panose="020B0604030504040204" pitchFamily="34" charset="0"/>
                <a:cs typeface="Tahoma" panose="020B0604030504040204" pitchFamily="34" charset="0"/>
              </a:rPr>
              <a:t>Testing &amp; Refinement</a:t>
            </a:r>
            <a:endParaRPr lang="en-US" sz="1500" dirty="0">
              <a:latin typeface="Tahoma" panose="020B0604030504040204" pitchFamily="34" charset="0"/>
            </a:endParaRPr>
          </a:p>
        </p:txBody>
      </p:sp>
      <p:sp>
        <p:nvSpPr>
          <p:cNvPr id="36" name="Text 34"/>
          <p:cNvSpPr txBox="1"/>
          <p:nvPr/>
        </p:nvSpPr>
        <p:spPr>
          <a:xfrm>
            <a:off x="6964528" y="5097057"/>
            <a:ext cx="4724248" cy="1173480"/>
          </a:xfrm>
          <a:prstGeom prst="rect">
            <a:avLst/>
          </a:prstGeom>
          <a:noFill/>
          <a:ln/>
        </p:spPr>
        <p:txBody>
          <a:bodyPr wrap="square" lIns="0" tIns="0" rIns="0" bIns="0" rtlCol="0" anchor="t"/>
          <a:lstStyle/>
          <a:p>
            <a:pPr marL="0" indent="0">
              <a:lnSpc>
                <a:spcPct val="122000"/>
              </a:lnSpc>
              <a:buNone/>
            </a:pPr>
            <a:r>
              <a:rPr lang="en-US" sz="1150" dirty="0">
                <a:solidFill>
                  <a:srgbClr val="94A3B8"/>
                </a:solidFill>
                <a:latin typeface="Tahoma" panose="020B0604030504040204" pitchFamily="34" charset="0"/>
                <a:ea typeface="Tahoma" panose="020B0604030504040204" pitchFamily="34" charset="0"/>
                <a:cs typeface="Tahoma" panose="020B0604030504040204" pitchFamily="34" charset="0"/>
              </a:rPr>
              <a:t>End-to-end testing and iterative refinement of each module</a:t>
            </a:r>
            <a:endParaRPr lang="en-US" sz="1150" dirty="0">
              <a:latin typeface="Tahoma" panose="020B0604030504040204" pitchFamily="34" charset="0"/>
            </a:endParaRPr>
          </a:p>
        </p:txBody>
      </p:sp>
      <p:pic>
        <p:nvPicPr>
          <p:cNvPr id="39" name="Picture 38">
            <a:extLst>
              <a:ext uri="{FF2B5EF4-FFF2-40B4-BE49-F238E27FC236}">
                <a16:creationId xmlns:a16="http://schemas.microsoft.com/office/drawing/2014/main" id="{A3BAAC83-B2C3-FEDE-7DD6-A38DEE924287}"/>
              </a:ext>
            </a:extLst>
          </p:cNvPr>
          <p:cNvPicPr>
            <a:picLocks noChangeAspect="1"/>
          </p:cNvPicPr>
          <p:nvPr/>
        </p:nvPicPr>
        <p:blipFill>
          <a:blip r:embed="rId3"/>
          <a:srcRect r="15270" b="26538"/>
          <a:stretch>
            <a:fillRect/>
          </a:stretch>
        </p:blipFill>
        <p:spPr>
          <a:xfrm>
            <a:off x="10416983" y="236798"/>
            <a:ext cx="1440000" cy="527673"/>
          </a:xfrm>
          <a:prstGeom prst="round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0F1F"/>
        </a:solidFill>
        <a:effectLst/>
      </p:bgPr>
    </p:bg>
    <p:spTree>
      <p:nvGrpSpPr>
        <p:cNvPr id="1" name=""/>
        <p:cNvGrpSpPr/>
        <p:nvPr/>
      </p:nvGrpSpPr>
      <p:grpSpPr>
        <a:xfrm>
          <a:off x="0" y="0"/>
          <a:ext cx="0" cy="0"/>
          <a:chOff x="0" y="0"/>
          <a:chExt cx="0" cy="0"/>
        </a:xfrm>
      </p:grpSpPr>
      <p:sp>
        <p:nvSpPr>
          <p:cNvPr id="2" name="Shape 0"/>
          <p:cNvSpPr/>
          <p:nvPr/>
        </p:nvSpPr>
        <p:spPr>
          <a:xfrm>
            <a:off x="10637215" y="320040"/>
            <a:ext cx="1051560" cy="384048"/>
          </a:xfrm>
          <a:prstGeom prst="roundRect">
            <a:avLst>
              <a:gd name="adj" fmla="val 14286"/>
            </a:avLst>
          </a:prstGeom>
          <a:solidFill>
            <a:srgbClr val="18233C"/>
          </a:solidFill>
          <a:ln w="9525">
            <a:solidFill>
              <a:srgbClr val="24314F"/>
            </a:solidFill>
            <a:prstDash val="dash"/>
          </a:ln>
        </p:spPr>
        <p:txBody>
          <a:bodyPr/>
          <a:lstStyle/>
          <a:p>
            <a:endParaRPr/>
          </a:p>
        </p:txBody>
      </p:sp>
      <p:sp>
        <p:nvSpPr>
          <p:cNvPr id="3" name="Text 1"/>
          <p:cNvSpPr txBox="1"/>
          <p:nvPr/>
        </p:nvSpPr>
        <p:spPr>
          <a:xfrm>
            <a:off x="10637215" y="320040"/>
            <a:ext cx="1051560" cy="384048"/>
          </a:xfrm>
          <a:prstGeom prst="rect">
            <a:avLst/>
          </a:prstGeom>
          <a:noFill/>
          <a:ln/>
        </p:spPr>
        <p:txBody>
          <a:bodyPr wrap="square" lIns="0" tIns="0" rIns="0" bIns="0" rtlCol="0" anchor="ctr"/>
          <a:lstStyle/>
          <a:p>
            <a:pPr marL="0" indent="0" algn="ctr">
              <a:buNone/>
            </a:pPr>
            <a:r>
              <a:rPr lang="en-US" sz="900" b="1" dirty="0">
                <a:solidFill>
                  <a:srgbClr val="94A3B8"/>
                </a:solidFill>
                <a:latin typeface="Tahoma" panose="020B0604030504040204" pitchFamily="34" charset="0"/>
                <a:ea typeface="Tahoma" panose="020B0604030504040204" pitchFamily="34" charset="0"/>
                <a:cs typeface="Tahoma" panose="020B0604030504040204" pitchFamily="34" charset="0"/>
              </a:rPr>
              <a:t>CVV LOGO</a:t>
            </a:r>
            <a:endParaRPr lang="en-US" sz="900" dirty="0">
              <a:latin typeface="Tahoma" panose="020B0604030504040204" pitchFamily="34" charset="0"/>
            </a:endParaRPr>
          </a:p>
        </p:txBody>
      </p:sp>
      <p:sp>
        <p:nvSpPr>
          <p:cNvPr id="4" name="Text 2"/>
          <p:cNvSpPr txBox="1"/>
          <p:nvPr/>
        </p:nvSpPr>
        <p:spPr>
          <a:xfrm>
            <a:off x="502920" y="292608"/>
            <a:ext cx="9905695" cy="566928"/>
          </a:xfrm>
          <a:prstGeom prst="rect">
            <a:avLst/>
          </a:prstGeom>
          <a:noFill/>
          <a:ln/>
        </p:spPr>
        <p:txBody>
          <a:bodyPr wrap="square" lIns="0" tIns="0" rIns="0" bIns="0" rtlCol="0" anchor="ctr"/>
          <a:lstStyle/>
          <a:p>
            <a:pPr marL="0" indent="0" algn="l">
              <a:buNone/>
            </a:pPr>
            <a:r>
              <a:rPr lang="en-US" sz="3000" b="1" kern="0" spc="50" dirty="0">
                <a:solidFill>
                  <a:srgbClr val="EAF0FA"/>
                </a:solidFill>
                <a:latin typeface="Tahoma" panose="020B0604030504040204" pitchFamily="34" charset="0"/>
                <a:ea typeface="Tahoma" panose="020B0604030504040204" pitchFamily="34" charset="0"/>
                <a:cs typeface="Tahoma" panose="020B0604030504040204" pitchFamily="34" charset="0"/>
              </a:rPr>
              <a:t>Tools Used</a:t>
            </a:r>
            <a:endParaRPr lang="en-US" sz="3000" dirty="0">
              <a:latin typeface="Tahoma" panose="020B0604030504040204" pitchFamily="34" charset="0"/>
            </a:endParaRPr>
          </a:p>
        </p:txBody>
      </p:sp>
      <p:sp>
        <p:nvSpPr>
          <p:cNvPr id="5" name="Text 3"/>
          <p:cNvSpPr txBox="1"/>
          <p:nvPr/>
        </p:nvSpPr>
        <p:spPr>
          <a:xfrm>
            <a:off x="502920" y="18288"/>
            <a:ext cx="5486400" cy="256032"/>
          </a:xfrm>
          <a:prstGeom prst="rect">
            <a:avLst/>
          </a:prstGeom>
          <a:noFill/>
          <a:ln/>
        </p:spPr>
        <p:txBody>
          <a:bodyPr wrap="square" lIns="0" tIns="0" rIns="0" bIns="0" rtlCol="0" anchor="ctr"/>
          <a:lstStyle/>
          <a:p>
            <a:pPr marL="0" indent="0" algn="l">
              <a:buNone/>
            </a:pPr>
            <a:r>
              <a:rPr lang="en-US" sz="1100" b="1" kern="0" spc="120" dirty="0">
                <a:solidFill>
                  <a:srgbClr val="22D3EE"/>
                </a:solidFill>
                <a:latin typeface="Tahoma" panose="020B0604030504040204" pitchFamily="34" charset="0"/>
                <a:ea typeface="Tahoma" panose="020B0604030504040204" pitchFamily="34" charset="0"/>
                <a:cs typeface="Tahoma" panose="020B0604030504040204" pitchFamily="34" charset="0"/>
              </a:rPr>
              <a:t>TECHNOLOGY ECOSYSTEM</a:t>
            </a:r>
            <a:endParaRPr lang="en-US" sz="1100" dirty="0">
              <a:latin typeface="Tahoma" panose="020B0604030504040204" pitchFamily="34" charset="0"/>
            </a:endParaRPr>
          </a:p>
        </p:txBody>
      </p:sp>
      <p:sp>
        <p:nvSpPr>
          <p:cNvPr id="7" name="Text 5"/>
          <p:cNvSpPr txBox="1"/>
          <p:nvPr/>
        </p:nvSpPr>
        <p:spPr>
          <a:xfrm>
            <a:off x="11140135" y="6473952"/>
            <a:ext cx="548640" cy="274320"/>
          </a:xfrm>
          <a:prstGeom prst="rect">
            <a:avLst/>
          </a:prstGeom>
          <a:noFill/>
          <a:ln/>
        </p:spPr>
        <p:txBody>
          <a:bodyPr wrap="square" lIns="0" tIns="0" rIns="0" bIns="0" rtlCol="0" anchor="ctr"/>
          <a:lstStyle/>
          <a:p>
            <a:pPr marL="0" indent="0" algn="r">
              <a:buNone/>
            </a:pPr>
            <a:r>
              <a:rPr lang="en-US" sz="900" dirty="0">
                <a:solidFill>
                  <a:srgbClr val="5B6B85"/>
                </a:solidFill>
                <a:latin typeface="Tahoma" panose="020B0604030504040204" pitchFamily="34" charset="0"/>
                <a:ea typeface="Tahoma" panose="020B0604030504040204" pitchFamily="34" charset="0"/>
                <a:cs typeface="Tahoma" panose="020B0604030504040204" pitchFamily="34" charset="0"/>
              </a:rPr>
              <a:t>10</a:t>
            </a:r>
            <a:endParaRPr lang="en-US" sz="900" dirty="0">
              <a:latin typeface="Tahoma" panose="020B0604030504040204" pitchFamily="34" charset="0"/>
            </a:endParaRPr>
          </a:p>
        </p:txBody>
      </p:sp>
      <p:sp>
        <p:nvSpPr>
          <p:cNvPr id="8" name="Shape 6"/>
          <p:cNvSpPr/>
          <p:nvPr/>
        </p:nvSpPr>
        <p:spPr>
          <a:xfrm>
            <a:off x="502920" y="6400800"/>
            <a:ext cx="11185855" cy="0"/>
          </a:xfrm>
          <a:prstGeom prst="line">
            <a:avLst/>
          </a:prstGeom>
          <a:noFill/>
          <a:ln w="9525">
            <a:solidFill>
              <a:srgbClr val="24314F"/>
            </a:solidFill>
            <a:prstDash val="solid"/>
          </a:ln>
        </p:spPr>
        <p:txBody>
          <a:bodyPr/>
          <a:lstStyle/>
          <a:p>
            <a:endParaRPr/>
          </a:p>
        </p:txBody>
      </p:sp>
      <p:sp>
        <p:nvSpPr>
          <p:cNvPr id="9" name="Shape 7"/>
          <p:cNvSpPr/>
          <p:nvPr/>
        </p:nvSpPr>
        <p:spPr>
          <a:xfrm>
            <a:off x="502920" y="1143000"/>
            <a:ext cx="5432908" cy="2377440"/>
          </a:xfrm>
          <a:prstGeom prst="roundRect">
            <a:avLst>
              <a:gd name="adj" fmla="val 3846"/>
            </a:avLst>
          </a:prstGeom>
          <a:solidFill>
            <a:srgbClr val="121B30"/>
          </a:solidFill>
          <a:ln/>
        </p:spPr>
        <p:txBody>
          <a:bodyPr/>
          <a:lstStyle/>
          <a:p>
            <a:endParaRPr/>
          </a:p>
        </p:txBody>
      </p:sp>
      <p:sp>
        <p:nvSpPr>
          <p:cNvPr id="10" name="Shape 8"/>
          <p:cNvSpPr/>
          <p:nvPr/>
        </p:nvSpPr>
        <p:spPr>
          <a:xfrm>
            <a:off x="777240" y="1399032"/>
            <a:ext cx="530352" cy="530352"/>
          </a:xfrm>
          <a:prstGeom prst="roundRect">
            <a:avLst>
              <a:gd name="adj" fmla="val 20690"/>
            </a:avLst>
          </a:prstGeom>
          <a:solidFill>
            <a:srgbClr val="18233C"/>
          </a:solidFill>
          <a:ln/>
        </p:spPr>
        <p:txBody>
          <a:bodyPr/>
          <a:lstStyle/>
          <a:p>
            <a:endParaRPr/>
          </a:p>
        </p:txBody>
      </p:sp>
      <p:pic>
        <p:nvPicPr>
          <p:cNvPr id="11" name="Image 0" descr="/home/claude/icons/ic_server.png"/>
          <p:cNvPicPr>
            <a:picLocks noChangeAspect="1"/>
          </p:cNvPicPr>
          <p:nvPr/>
        </p:nvPicPr>
        <p:blipFill>
          <a:blip r:embed="rId3"/>
          <a:stretch>
            <a:fillRect/>
          </a:stretch>
        </p:blipFill>
        <p:spPr>
          <a:xfrm>
            <a:off x="905256" y="1527048"/>
            <a:ext cx="274320" cy="274320"/>
          </a:xfrm>
          <a:prstGeom prst="rect">
            <a:avLst/>
          </a:prstGeom>
        </p:spPr>
      </p:pic>
      <p:sp>
        <p:nvSpPr>
          <p:cNvPr id="12" name="Text 9"/>
          <p:cNvSpPr txBox="1"/>
          <p:nvPr/>
        </p:nvSpPr>
        <p:spPr>
          <a:xfrm>
            <a:off x="1463040" y="1417320"/>
            <a:ext cx="4198468" cy="530352"/>
          </a:xfrm>
          <a:prstGeom prst="rect">
            <a:avLst/>
          </a:prstGeom>
          <a:noFill/>
          <a:ln/>
        </p:spPr>
        <p:txBody>
          <a:bodyPr wrap="square" lIns="0" tIns="0" rIns="0" bIns="0" rtlCol="0" anchor="ctr"/>
          <a:lstStyle/>
          <a:p>
            <a:pPr marL="0" indent="0">
              <a:buNone/>
            </a:pPr>
            <a:r>
              <a:rPr lang="en-US" sz="1700" b="1" dirty="0">
                <a:solidFill>
                  <a:srgbClr val="EAF0FA"/>
                </a:solidFill>
                <a:latin typeface="Tahoma" panose="020B0604030504040204" pitchFamily="34" charset="0"/>
                <a:ea typeface="Tahoma" panose="020B0604030504040204" pitchFamily="34" charset="0"/>
                <a:cs typeface="Tahoma" panose="020B0604030504040204" pitchFamily="34" charset="0"/>
              </a:rPr>
              <a:t>Backend</a:t>
            </a:r>
            <a:endParaRPr lang="en-US" sz="1700" dirty="0">
              <a:latin typeface="Tahoma" panose="020B0604030504040204" pitchFamily="34" charset="0"/>
            </a:endParaRPr>
          </a:p>
        </p:txBody>
      </p:sp>
      <p:sp>
        <p:nvSpPr>
          <p:cNvPr id="13" name="Shape 10"/>
          <p:cNvSpPr/>
          <p:nvPr/>
        </p:nvSpPr>
        <p:spPr>
          <a:xfrm>
            <a:off x="795528" y="2194560"/>
            <a:ext cx="667512" cy="384048"/>
          </a:xfrm>
          <a:prstGeom prst="roundRect">
            <a:avLst>
              <a:gd name="adj" fmla="val 50000"/>
            </a:avLst>
          </a:prstGeom>
          <a:solidFill>
            <a:srgbClr val="18233C"/>
          </a:solidFill>
          <a:ln w="9525">
            <a:solidFill>
              <a:srgbClr val="24314F"/>
            </a:solidFill>
            <a:prstDash val="solid"/>
          </a:ln>
        </p:spPr>
        <p:txBody>
          <a:bodyPr/>
          <a:lstStyle/>
          <a:p>
            <a:endParaRPr/>
          </a:p>
        </p:txBody>
      </p:sp>
      <p:sp>
        <p:nvSpPr>
          <p:cNvPr id="14" name="Text 11"/>
          <p:cNvSpPr txBox="1"/>
          <p:nvPr/>
        </p:nvSpPr>
        <p:spPr>
          <a:xfrm>
            <a:off x="848964" y="2187314"/>
            <a:ext cx="609333" cy="384048"/>
          </a:xfrm>
          <a:prstGeom prst="rect">
            <a:avLst/>
          </a:prstGeom>
          <a:noFill/>
          <a:ln/>
        </p:spPr>
        <p:txBody>
          <a:bodyPr wrap="square" lIns="0" tIns="0" rIns="0" bIns="0" rtlCol="0" anchor="ctr"/>
          <a:lstStyle/>
          <a:p>
            <a:pPr marL="0" indent="0" algn="ctr">
              <a:buNone/>
            </a:pPr>
            <a:r>
              <a:rPr lang="en-US" sz="1100" dirty="0">
                <a:solidFill>
                  <a:srgbClr val="EAF0FA"/>
                </a:solidFill>
                <a:latin typeface="Tahoma" panose="020B0604030504040204" pitchFamily="34" charset="0"/>
                <a:ea typeface="Tahoma" panose="020B0604030504040204" pitchFamily="34" charset="0"/>
                <a:cs typeface="Tahoma" panose="020B0604030504040204" pitchFamily="34" charset="0"/>
              </a:rPr>
              <a:t>    Java</a:t>
            </a:r>
            <a:endParaRPr lang="en-US" sz="1100" dirty="0">
              <a:latin typeface="Tahoma" panose="020B0604030504040204" pitchFamily="34" charset="0"/>
            </a:endParaRPr>
          </a:p>
        </p:txBody>
      </p:sp>
      <p:sp>
        <p:nvSpPr>
          <p:cNvPr id="15" name="Shape 12"/>
          <p:cNvSpPr/>
          <p:nvPr/>
        </p:nvSpPr>
        <p:spPr>
          <a:xfrm>
            <a:off x="1543540" y="2194560"/>
            <a:ext cx="1276892" cy="384048"/>
          </a:xfrm>
          <a:prstGeom prst="roundRect">
            <a:avLst>
              <a:gd name="adj" fmla="val 50000"/>
            </a:avLst>
          </a:prstGeom>
          <a:solidFill>
            <a:srgbClr val="18233C"/>
          </a:solidFill>
          <a:ln w="9525">
            <a:solidFill>
              <a:srgbClr val="24314F"/>
            </a:solidFill>
            <a:prstDash val="solid"/>
          </a:ln>
        </p:spPr>
        <p:txBody>
          <a:bodyPr/>
          <a:lstStyle/>
          <a:p>
            <a:endParaRPr/>
          </a:p>
        </p:txBody>
      </p:sp>
      <p:sp>
        <p:nvSpPr>
          <p:cNvPr id="16" name="Text 13"/>
          <p:cNvSpPr txBox="1"/>
          <p:nvPr/>
        </p:nvSpPr>
        <p:spPr>
          <a:xfrm>
            <a:off x="1543540" y="2185934"/>
            <a:ext cx="1186891" cy="384048"/>
          </a:xfrm>
          <a:prstGeom prst="rect">
            <a:avLst/>
          </a:prstGeom>
          <a:noFill/>
          <a:ln/>
        </p:spPr>
        <p:txBody>
          <a:bodyPr wrap="square" lIns="0" tIns="0" rIns="0" bIns="0" rtlCol="0" anchor="ctr"/>
          <a:lstStyle/>
          <a:p>
            <a:pPr marL="0" indent="0" algn="ctr">
              <a:buNone/>
            </a:pPr>
            <a:r>
              <a:rPr lang="en-US" sz="1100" dirty="0">
                <a:solidFill>
                  <a:srgbClr val="EAF0FA"/>
                </a:solidFill>
                <a:latin typeface="Tahoma" panose="020B0604030504040204" pitchFamily="34" charset="0"/>
                <a:ea typeface="Tahoma" panose="020B0604030504040204" pitchFamily="34" charset="0"/>
                <a:cs typeface="Tahoma" panose="020B0604030504040204" pitchFamily="34" charset="0"/>
              </a:rPr>
              <a:t>        Spring Boot</a:t>
            </a:r>
            <a:endParaRPr lang="en-US" sz="1100" dirty="0">
              <a:latin typeface="Tahoma" panose="020B0604030504040204" pitchFamily="34" charset="0"/>
            </a:endParaRPr>
          </a:p>
        </p:txBody>
      </p:sp>
      <p:sp>
        <p:nvSpPr>
          <p:cNvPr id="17" name="Shape 14"/>
          <p:cNvSpPr/>
          <p:nvPr/>
        </p:nvSpPr>
        <p:spPr>
          <a:xfrm>
            <a:off x="2884324" y="2194560"/>
            <a:ext cx="873511" cy="384048"/>
          </a:xfrm>
          <a:prstGeom prst="roundRect">
            <a:avLst>
              <a:gd name="adj" fmla="val 50000"/>
            </a:avLst>
          </a:prstGeom>
          <a:solidFill>
            <a:srgbClr val="18233C"/>
          </a:solidFill>
          <a:ln w="9525">
            <a:solidFill>
              <a:srgbClr val="24314F"/>
            </a:solidFill>
            <a:prstDash val="solid"/>
          </a:ln>
        </p:spPr>
        <p:txBody>
          <a:bodyPr/>
          <a:lstStyle/>
          <a:p>
            <a:endParaRPr/>
          </a:p>
        </p:txBody>
      </p:sp>
      <p:sp>
        <p:nvSpPr>
          <p:cNvPr id="18" name="Text 15"/>
          <p:cNvSpPr txBox="1"/>
          <p:nvPr/>
        </p:nvSpPr>
        <p:spPr>
          <a:xfrm>
            <a:off x="3166350" y="2187314"/>
            <a:ext cx="649224" cy="384048"/>
          </a:xfrm>
          <a:prstGeom prst="rect">
            <a:avLst/>
          </a:prstGeom>
          <a:noFill/>
          <a:ln/>
        </p:spPr>
        <p:txBody>
          <a:bodyPr wrap="square" lIns="0" tIns="0" rIns="0" bIns="0" rtlCol="0" anchor="ctr"/>
          <a:lstStyle/>
          <a:p>
            <a:pPr marL="0" indent="0" algn="ctr">
              <a:buNone/>
            </a:pPr>
            <a:r>
              <a:rPr lang="en-US" sz="1100" dirty="0">
                <a:solidFill>
                  <a:srgbClr val="EAF0FA"/>
                </a:solidFill>
                <a:latin typeface="Tahoma" panose="020B0604030504040204" pitchFamily="34" charset="0"/>
                <a:ea typeface="Tahoma" panose="020B0604030504040204" pitchFamily="34" charset="0"/>
                <a:cs typeface="Tahoma" panose="020B0604030504040204" pitchFamily="34" charset="0"/>
              </a:rPr>
              <a:t>MySQL</a:t>
            </a:r>
            <a:endParaRPr lang="en-US" sz="1100" dirty="0">
              <a:latin typeface="Tahoma" panose="020B0604030504040204" pitchFamily="34" charset="0"/>
            </a:endParaRPr>
          </a:p>
        </p:txBody>
      </p:sp>
      <p:sp>
        <p:nvSpPr>
          <p:cNvPr id="19" name="Shape 16"/>
          <p:cNvSpPr/>
          <p:nvPr/>
        </p:nvSpPr>
        <p:spPr>
          <a:xfrm>
            <a:off x="3859971" y="2194560"/>
            <a:ext cx="772416" cy="384048"/>
          </a:xfrm>
          <a:prstGeom prst="roundRect">
            <a:avLst>
              <a:gd name="adj" fmla="val 50000"/>
            </a:avLst>
          </a:prstGeom>
          <a:solidFill>
            <a:srgbClr val="18233C"/>
          </a:solidFill>
          <a:ln w="9525">
            <a:solidFill>
              <a:srgbClr val="24314F"/>
            </a:solidFill>
            <a:prstDash val="solid"/>
          </a:ln>
        </p:spPr>
        <p:txBody>
          <a:bodyPr/>
          <a:lstStyle/>
          <a:p>
            <a:endParaRPr/>
          </a:p>
        </p:txBody>
      </p:sp>
      <p:sp>
        <p:nvSpPr>
          <p:cNvPr id="20" name="Text 17"/>
          <p:cNvSpPr txBox="1"/>
          <p:nvPr/>
        </p:nvSpPr>
        <p:spPr>
          <a:xfrm>
            <a:off x="3937605" y="2177307"/>
            <a:ext cx="649224" cy="384048"/>
          </a:xfrm>
          <a:prstGeom prst="rect">
            <a:avLst/>
          </a:prstGeom>
          <a:noFill/>
          <a:ln/>
        </p:spPr>
        <p:txBody>
          <a:bodyPr wrap="square" lIns="0" tIns="0" rIns="0" bIns="0" rtlCol="0" anchor="ctr"/>
          <a:lstStyle/>
          <a:p>
            <a:pPr marL="0" indent="0" algn="ctr">
              <a:buNone/>
            </a:pPr>
            <a:r>
              <a:rPr lang="en-US" sz="1400" b="1" i="1" dirty="0">
                <a:solidFill>
                  <a:srgbClr val="EAF0FA"/>
                </a:solidFill>
                <a:latin typeface="Bookman Old Style" panose="02050604050505020204" pitchFamily="18" charset="0"/>
                <a:ea typeface="Tahoma" panose="020B0604030504040204" pitchFamily="34" charset="0"/>
                <a:cs typeface="Tahoma" panose="020B0604030504040204" pitchFamily="34" charset="0"/>
              </a:rPr>
              <a:t>m</a:t>
            </a:r>
            <a:r>
              <a:rPr lang="en-US" sz="1100" dirty="0">
                <a:solidFill>
                  <a:srgbClr val="EAF0FA"/>
                </a:solidFill>
                <a:latin typeface="Tahoma" panose="020B0604030504040204" pitchFamily="34" charset="0"/>
                <a:ea typeface="Tahoma" panose="020B0604030504040204" pitchFamily="34" charset="0"/>
                <a:cs typeface="Tahoma" panose="020B0604030504040204" pitchFamily="34" charset="0"/>
              </a:rPr>
              <a:t> Maven</a:t>
            </a:r>
            <a:endParaRPr lang="en-US" sz="1100" dirty="0">
              <a:latin typeface="Tahoma" panose="020B0604030504040204" pitchFamily="34" charset="0"/>
            </a:endParaRPr>
          </a:p>
        </p:txBody>
      </p:sp>
      <p:sp>
        <p:nvSpPr>
          <p:cNvPr id="21" name="Shape 18"/>
          <p:cNvSpPr/>
          <p:nvPr/>
        </p:nvSpPr>
        <p:spPr>
          <a:xfrm>
            <a:off x="6255868" y="1143000"/>
            <a:ext cx="5432908" cy="2377440"/>
          </a:xfrm>
          <a:prstGeom prst="roundRect">
            <a:avLst>
              <a:gd name="adj" fmla="val 3846"/>
            </a:avLst>
          </a:prstGeom>
          <a:solidFill>
            <a:srgbClr val="121B30"/>
          </a:solidFill>
          <a:ln/>
        </p:spPr>
        <p:txBody>
          <a:bodyPr/>
          <a:lstStyle/>
          <a:p>
            <a:endParaRPr/>
          </a:p>
        </p:txBody>
      </p:sp>
      <p:sp>
        <p:nvSpPr>
          <p:cNvPr id="22" name="Shape 19"/>
          <p:cNvSpPr/>
          <p:nvPr/>
        </p:nvSpPr>
        <p:spPr>
          <a:xfrm>
            <a:off x="6530188" y="1399032"/>
            <a:ext cx="530352" cy="530352"/>
          </a:xfrm>
          <a:prstGeom prst="roundRect">
            <a:avLst>
              <a:gd name="adj" fmla="val 20690"/>
            </a:avLst>
          </a:prstGeom>
          <a:solidFill>
            <a:srgbClr val="18233C"/>
          </a:solidFill>
          <a:ln/>
        </p:spPr>
        <p:txBody>
          <a:bodyPr/>
          <a:lstStyle/>
          <a:p>
            <a:endParaRPr/>
          </a:p>
        </p:txBody>
      </p:sp>
      <p:pic>
        <p:nvPicPr>
          <p:cNvPr id="23" name="Image 1" descr="/home/claude/icons/ic_layout.png"/>
          <p:cNvPicPr>
            <a:picLocks noChangeAspect="1"/>
          </p:cNvPicPr>
          <p:nvPr/>
        </p:nvPicPr>
        <p:blipFill>
          <a:blip r:embed="rId4"/>
          <a:stretch>
            <a:fillRect/>
          </a:stretch>
        </p:blipFill>
        <p:spPr>
          <a:xfrm>
            <a:off x="6658204" y="1527048"/>
            <a:ext cx="274320" cy="274320"/>
          </a:xfrm>
          <a:prstGeom prst="rect">
            <a:avLst/>
          </a:prstGeom>
        </p:spPr>
      </p:pic>
      <p:sp>
        <p:nvSpPr>
          <p:cNvPr id="24" name="Text 20"/>
          <p:cNvSpPr txBox="1"/>
          <p:nvPr/>
        </p:nvSpPr>
        <p:spPr>
          <a:xfrm>
            <a:off x="7215988" y="1417320"/>
            <a:ext cx="4198468" cy="530352"/>
          </a:xfrm>
          <a:prstGeom prst="rect">
            <a:avLst/>
          </a:prstGeom>
          <a:noFill/>
          <a:ln/>
        </p:spPr>
        <p:txBody>
          <a:bodyPr wrap="square" lIns="0" tIns="0" rIns="0" bIns="0" rtlCol="0" anchor="ctr"/>
          <a:lstStyle/>
          <a:p>
            <a:pPr marL="0" indent="0">
              <a:buNone/>
            </a:pPr>
            <a:r>
              <a:rPr lang="en-US" sz="1700" b="1" dirty="0">
                <a:solidFill>
                  <a:srgbClr val="EAF0FA"/>
                </a:solidFill>
                <a:latin typeface="Tahoma" panose="020B0604030504040204" pitchFamily="34" charset="0"/>
                <a:ea typeface="Tahoma" panose="020B0604030504040204" pitchFamily="34" charset="0"/>
                <a:cs typeface="Tahoma" panose="020B0604030504040204" pitchFamily="34" charset="0"/>
              </a:rPr>
              <a:t>Frontend</a:t>
            </a:r>
            <a:endParaRPr lang="en-US" sz="1700" dirty="0">
              <a:latin typeface="Tahoma" panose="020B0604030504040204" pitchFamily="34" charset="0"/>
            </a:endParaRPr>
          </a:p>
        </p:txBody>
      </p:sp>
      <p:sp>
        <p:nvSpPr>
          <p:cNvPr id="25" name="Shape 21"/>
          <p:cNvSpPr/>
          <p:nvPr/>
        </p:nvSpPr>
        <p:spPr>
          <a:xfrm>
            <a:off x="6548476" y="2194560"/>
            <a:ext cx="814136" cy="384048"/>
          </a:xfrm>
          <a:prstGeom prst="roundRect">
            <a:avLst>
              <a:gd name="adj" fmla="val 50000"/>
            </a:avLst>
          </a:prstGeom>
          <a:solidFill>
            <a:srgbClr val="18233C"/>
          </a:solidFill>
          <a:ln w="9525">
            <a:solidFill>
              <a:srgbClr val="24314F"/>
            </a:solidFill>
            <a:prstDash val="solid"/>
          </a:ln>
        </p:spPr>
        <p:txBody>
          <a:bodyPr/>
          <a:lstStyle/>
          <a:p>
            <a:endParaRPr/>
          </a:p>
        </p:txBody>
      </p:sp>
      <p:sp>
        <p:nvSpPr>
          <p:cNvPr id="26" name="Text 22"/>
          <p:cNvSpPr txBox="1"/>
          <p:nvPr/>
        </p:nvSpPr>
        <p:spPr>
          <a:xfrm>
            <a:off x="6775614" y="2193059"/>
            <a:ext cx="649224" cy="384048"/>
          </a:xfrm>
          <a:prstGeom prst="rect">
            <a:avLst/>
          </a:prstGeom>
          <a:noFill/>
          <a:ln/>
        </p:spPr>
        <p:txBody>
          <a:bodyPr wrap="square" lIns="0" tIns="0" rIns="0" bIns="0" rtlCol="0" anchor="ctr"/>
          <a:lstStyle/>
          <a:p>
            <a:pPr marL="0" indent="0" algn="ctr">
              <a:buNone/>
            </a:pPr>
            <a:r>
              <a:rPr lang="en-US" sz="1100" dirty="0">
                <a:solidFill>
                  <a:srgbClr val="EAF0FA"/>
                </a:solidFill>
                <a:latin typeface="Tahoma" panose="020B0604030504040204" pitchFamily="34" charset="0"/>
                <a:ea typeface="Tahoma" panose="020B0604030504040204" pitchFamily="34" charset="0"/>
                <a:cs typeface="Tahoma" panose="020B0604030504040204" pitchFamily="34" charset="0"/>
              </a:rPr>
              <a:t>React</a:t>
            </a:r>
            <a:endParaRPr lang="en-US" sz="1100" dirty="0">
              <a:latin typeface="Tahoma" panose="020B0604030504040204" pitchFamily="34" charset="0"/>
            </a:endParaRPr>
          </a:p>
        </p:txBody>
      </p:sp>
      <p:sp>
        <p:nvSpPr>
          <p:cNvPr id="27" name="Shape 23"/>
          <p:cNvSpPr/>
          <p:nvPr/>
        </p:nvSpPr>
        <p:spPr>
          <a:xfrm>
            <a:off x="7408172" y="2194560"/>
            <a:ext cx="1276502" cy="384048"/>
          </a:xfrm>
          <a:prstGeom prst="roundRect">
            <a:avLst>
              <a:gd name="adj" fmla="val 50000"/>
            </a:avLst>
          </a:prstGeom>
          <a:solidFill>
            <a:srgbClr val="18233C"/>
          </a:solidFill>
          <a:ln w="9525">
            <a:solidFill>
              <a:srgbClr val="24314F"/>
            </a:solidFill>
            <a:prstDash val="solid"/>
          </a:ln>
        </p:spPr>
        <p:txBody>
          <a:bodyPr/>
          <a:lstStyle/>
          <a:p>
            <a:endParaRPr/>
          </a:p>
        </p:txBody>
      </p:sp>
      <p:sp>
        <p:nvSpPr>
          <p:cNvPr id="28" name="Text 24"/>
          <p:cNvSpPr txBox="1"/>
          <p:nvPr/>
        </p:nvSpPr>
        <p:spPr>
          <a:xfrm>
            <a:off x="7571202" y="2195677"/>
            <a:ext cx="1276502" cy="384048"/>
          </a:xfrm>
          <a:prstGeom prst="rect">
            <a:avLst/>
          </a:prstGeom>
          <a:noFill/>
          <a:ln/>
        </p:spPr>
        <p:txBody>
          <a:bodyPr wrap="square" lIns="0" tIns="0" rIns="0" bIns="0" rtlCol="0" anchor="ctr"/>
          <a:lstStyle/>
          <a:p>
            <a:pPr marL="0" indent="0" algn="ctr">
              <a:buNone/>
            </a:pPr>
            <a:r>
              <a:rPr lang="en-US" sz="1100" dirty="0">
                <a:solidFill>
                  <a:srgbClr val="EAF0FA"/>
                </a:solidFill>
                <a:latin typeface="Tahoma" panose="020B0604030504040204" pitchFamily="34" charset="0"/>
                <a:ea typeface="Tahoma" panose="020B0604030504040204" pitchFamily="34" charset="0"/>
                <a:cs typeface="Tahoma" panose="020B0604030504040204" pitchFamily="34" charset="0"/>
              </a:rPr>
              <a:t>Tailwind CSS</a:t>
            </a:r>
            <a:endParaRPr lang="en-US" sz="1100" dirty="0">
              <a:latin typeface="Tahoma" panose="020B0604030504040204" pitchFamily="34" charset="0"/>
            </a:endParaRPr>
          </a:p>
        </p:txBody>
      </p:sp>
      <p:sp>
        <p:nvSpPr>
          <p:cNvPr id="29" name="Shape 25"/>
          <p:cNvSpPr/>
          <p:nvPr/>
        </p:nvSpPr>
        <p:spPr>
          <a:xfrm>
            <a:off x="8730234" y="2194560"/>
            <a:ext cx="1039004" cy="384048"/>
          </a:xfrm>
          <a:prstGeom prst="roundRect">
            <a:avLst>
              <a:gd name="adj" fmla="val 50000"/>
            </a:avLst>
          </a:prstGeom>
          <a:solidFill>
            <a:srgbClr val="18233C"/>
          </a:solidFill>
          <a:ln w="9525">
            <a:solidFill>
              <a:srgbClr val="24314F"/>
            </a:solidFill>
            <a:prstDash val="solid"/>
          </a:ln>
        </p:spPr>
        <p:txBody>
          <a:bodyPr/>
          <a:lstStyle/>
          <a:p>
            <a:endParaRPr/>
          </a:p>
        </p:txBody>
      </p:sp>
      <p:sp>
        <p:nvSpPr>
          <p:cNvPr id="30" name="Text 26"/>
          <p:cNvSpPr txBox="1"/>
          <p:nvPr/>
        </p:nvSpPr>
        <p:spPr>
          <a:xfrm>
            <a:off x="8913795" y="2187314"/>
            <a:ext cx="1004500" cy="384048"/>
          </a:xfrm>
          <a:prstGeom prst="rect">
            <a:avLst/>
          </a:prstGeom>
          <a:noFill/>
          <a:ln/>
        </p:spPr>
        <p:txBody>
          <a:bodyPr wrap="square" lIns="0" tIns="0" rIns="0" bIns="0" rtlCol="0" anchor="ctr"/>
          <a:lstStyle/>
          <a:p>
            <a:pPr marL="0" indent="0" algn="ctr">
              <a:buNone/>
            </a:pPr>
            <a:r>
              <a:rPr lang="en-US" sz="1100" dirty="0">
                <a:solidFill>
                  <a:srgbClr val="EAF0FA"/>
                </a:solidFill>
                <a:latin typeface="Tahoma" panose="020B0604030504040204" pitchFamily="34" charset="0"/>
                <a:ea typeface="Tahoma" panose="020B0604030504040204" pitchFamily="34" charset="0"/>
                <a:cs typeface="Tahoma" panose="020B0604030504040204" pitchFamily="34" charset="0"/>
              </a:rPr>
              <a:t>Recharts</a:t>
            </a:r>
            <a:endParaRPr lang="en-US" sz="1100" dirty="0">
              <a:latin typeface="Tahoma" panose="020B0604030504040204" pitchFamily="34" charset="0"/>
            </a:endParaRPr>
          </a:p>
        </p:txBody>
      </p:sp>
      <p:sp>
        <p:nvSpPr>
          <p:cNvPr id="31" name="Shape 27"/>
          <p:cNvSpPr/>
          <p:nvPr/>
        </p:nvSpPr>
        <p:spPr>
          <a:xfrm>
            <a:off x="9810812" y="2194560"/>
            <a:ext cx="747918" cy="384048"/>
          </a:xfrm>
          <a:prstGeom prst="roundRect">
            <a:avLst>
              <a:gd name="adj" fmla="val 50000"/>
            </a:avLst>
          </a:prstGeom>
          <a:solidFill>
            <a:srgbClr val="18233C"/>
          </a:solidFill>
          <a:ln w="9525">
            <a:solidFill>
              <a:srgbClr val="24314F"/>
            </a:solidFill>
            <a:prstDash val="solid"/>
          </a:ln>
        </p:spPr>
        <p:txBody>
          <a:bodyPr/>
          <a:lstStyle/>
          <a:p>
            <a:endParaRPr/>
          </a:p>
        </p:txBody>
      </p:sp>
      <p:sp>
        <p:nvSpPr>
          <p:cNvPr id="32" name="Text 28"/>
          <p:cNvSpPr txBox="1"/>
          <p:nvPr/>
        </p:nvSpPr>
        <p:spPr>
          <a:xfrm>
            <a:off x="9951080" y="2194560"/>
            <a:ext cx="649224" cy="384048"/>
          </a:xfrm>
          <a:prstGeom prst="rect">
            <a:avLst/>
          </a:prstGeom>
          <a:noFill/>
          <a:ln/>
        </p:spPr>
        <p:txBody>
          <a:bodyPr wrap="square" lIns="0" tIns="0" rIns="0" bIns="0" rtlCol="0" anchor="ctr"/>
          <a:lstStyle/>
          <a:p>
            <a:pPr marL="0" indent="0" algn="ctr">
              <a:buNone/>
            </a:pPr>
            <a:r>
              <a:rPr lang="en-US" sz="1100" dirty="0">
                <a:solidFill>
                  <a:srgbClr val="EAF0FA"/>
                </a:solidFill>
                <a:latin typeface="Tahoma" panose="020B0604030504040204" pitchFamily="34" charset="0"/>
                <a:ea typeface="Tahoma" panose="020B0604030504040204" pitchFamily="34" charset="0"/>
                <a:cs typeface="Tahoma" panose="020B0604030504040204" pitchFamily="34" charset="0"/>
              </a:rPr>
              <a:t>Axios</a:t>
            </a:r>
            <a:endParaRPr lang="en-US" sz="1100" dirty="0">
              <a:latin typeface="Tahoma" panose="020B0604030504040204" pitchFamily="34" charset="0"/>
            </a:endParaRPr>
          </a:p>
        </p:txBody>
      </p:sp>
      <p:sp>
        <p:nvSpPr>
          <p:cNvPr id="33" name="Shape 29"/>
          <p:cNvSpPr/>
          <p:nvPr/>
        </p:nvSpPr>
        <p:spPr>
          <a:xfrm>
            <a:off x="502920" y="3840480"/>
            <a:ext cx="5432908" cy="2377440"/>
          </a:xfrm>
          <a:prstGeom prst="roundRect">
            <a:avLst>
              <a:gd name="adj" fmla="val 3846"/>
            </a:avLst>
          </a:prstGeom>
          <a:solidFill>
            <a:srgbClr val="121B30"/>
          </a:solidFill>
          <a:ln/>
        </p:spPr>
        <p:txBody>
          <a:bodyPr/>
          <a:lstStyle/>
          <a:p>
            <a:endParaRPr/>
          </a:p>
        </p:txBody>
      </p:sp>
      <p:sp>
        <p:nvSpPr>
          <p:cNvPr id="34" name="Shape 30"/>
          <p:cNvSpPr/>
          <p:nvPr/>
        </p:nvSpPr>
        <p:spPr>
          <a:xfrm>
            <a:off x="777240" y="4096512"/>
            <a:ext cx="530352" cy="530352"/>
          </a:xfrm>
          <a:prstGeom prst="roundRect">
            <a:avLst>
              <a:gd name="adj" fmla="val 20690"/>
            </a:avLst>
          </a:prstGeom>
          <a:solidFill>
            <a:srgbClr val="18233C"/>
          </a:solidFill>
          <a:ln/>
        </p:spPr>
        <p:txBody>
          <a:bodyPr/>
          <a:lstStyle/>
          <a:p>
            <a:endParaRPr/>
          </a:p>
        </p:txBody>
      </p:sp>
      <p:pic>
        <p:nvPicPr>
          <p:cNvPr id="35" name="Image 2" descr="/home/claude/icons/ic_cpu.png"/>
          <p:cNvPicPr>
            <a:picLocks noChangeAspect="1"/>
          </p:cNvPicPr>
          <p:nvPr/>
        </p:nvPicPr>
        <p:blipFill>
          <a:blip r:embed="rId5">
            <a:duotone>
              <a:prstClr val="black"/>
              <a:schemeClr val="accent5">
                <a:tint val="45000"/>
                <a:satMod val="400000"/>
              </a:schemeClr>
            </a:duotone>
          </a:blip>
          <a:stretch>
            <a:fillRect/>
          </a:stretch>
        </p:blipFill>
        <p:spPr>
          <a:xfrm>
            <a:off x="905256" y="4224528"/>
            <a:ext cx="274320" cy="274320"/>
          </a:xfrm>
          <a:prstGeom prst="rect">
            <a:avLst/>
          </a:prstGeom>
        </p:spPr>
      </p:pic>
      <p:sp>
        <p:nvSpPr>
          <p:cNvPr id="36" name="Text 31"/>
          <p:cNvSpPr txBox="1"/>
          <p:nvPr/>
        </p:nvSpPr>
        <p:spPr>
          <a:xfrm>
            <a:off x="1463040" y="4114800"/>
            <a:ext cx="4198468" cy="530352"/>
          </a:xfrm>
          <a:prstGeom prst="rect">
            <a:avLst/>
          </a:prstGeom>
          <a:noFill/>
          <a:ln/>
        </p:spPr>
        <p:txBody>
          <a:bodyPr wrap="square" lIns="0" tIns="0" rIns="0" bIns="0" rtlCol="0" anchor="ctr"/>
          <a:lstStyle/>
          <a:p>
            <a:pPr marL="0" indent="0">
              <a:buNone/>
            </a:pPr>
            <a:r>
              <a:rPr lang="en-US" sz="1700" b="1" dirty="0">
                <a:solidFill>
                  <a:srgbClr val="EAF0FA"/>
                </a:solidFill>
                <a:latin typeface="Tahoma" panose="020B0604030504040204" pitchFamily="34" charset="0"/>
                <a:ea typeface="Tahoma" panose="020B0604030504040204" pitchFamily="34" charset="0"/>
                <a:cs typeface="Tahoma" panose="020B0604030504040204" pitchFamily="34" charset="0"/>
              </a:rPr>
              <a:t>AI &amp; Parsing</a:t>
            </a:r>
            <a:endParaRPr lang="en-US" sz="1700" dirty="0">
              <a:latin typeface="Tahoma" panose="020B0604030504040204" pitchFamily="34" charset="0"/>
            </a:endParaRPr>
          </a:p>
        </p:txBody>
      </p:sp>
      <p:sp>
        <p:nvSpPr>
          <p:cNvPr id="37" name="Shape 32"/>
          <p:cNvSpPr/>
          <p:nvPr/>
        </p:nvSpPr>
        <p:spPr>
          <a:xfrm>
            <a:off x="795528" y="4892040"/>
            <a:ext cx="1724558" cy="384048"/>
          </a:xfrm>
          <a:prstGeom prst="roundRect">
            <a:avLst>
              <a:gd name="adj" fmla="val 50000"/>
            </a:avLst>
          </a:prstGeom>
          <a:solidFill>
            <a:srgbClr val="18233C"/>
          </a:solidFill>
          <a:ln w="9525">
            <a:solidFill>
              <a:srgbClr val="24314F"/>
            </a:solidFill>
            <a:prstDash val="solid"/>
          </a:ln>
        </p:spPr>
        <p:txBody>
          <a:bodyPr/>
          <a:lstStyle/>
          <a:p>
            <a:endParaRPr/>
          </a:p>
        </p:txBody>
      </p:sp>
      <p:sp>
        <p:nvSpPr>
          <p:cNvPr id="38" name="Text 33"/>
          <p:cNvSpPr txBox="1"/>
          <p:nvPr/>
        </p:nvSpPr>
        <p:spPr>
          <a:xfrm>
            <a:off x="907670" y="4892040"/>
            <a:ext cx="1724558" cy="384048"/>
          </a:xfrm>
          <a:prstGeom prst="rect">
            <a:avLst/>
          </a:prstGeom>
          <a:noFill/>
          <a:ln/>
        </p:spPr>
        <p:txBody>
          <a:bodyPr wrap="square" lIns="0" tIns="0" rIns="0" bIns="0" rtlCol="0" anchor="ctr"/>
          <a:lstStyle/>
          <a:p>
            <a:pPr marL="0" indent="0" algn="ctr">
              <a:buNone/>
            </a:pPr>
            <a:r>
              <a:rPr lang="en-US" sz="1100" dirty="0">
                <a:solidFill>
                  <a:srgbClr val="EAF0FA"/>
                </a:solidFill>
                <a:latin typeface="Tahoma" panose="020B0604030504040204" pitchFamily="34" charset="0"/>
                <a:ea typeface="Tahoma" panose="020B0604030504040204" pitchFamily="34" charset="0"/>
                <a:cs typeface="Tahoma" panose="020B0604030504040204" pitchFamily="34" charset="0"/>
              </a:rPr>
              <a:t>Google Gemini API</a:t>
            </a:r>
            <a:endParaRPr lang="en-US" sz="1100" dirty="0">
              <a:latin typeface="Tahoma" panose="020B0604030504040204" pitchFamily="34" charset="0"/>
            </a:endParaRPr>
          </a:p>
        </p:txBody>
      </p:sp>
      <p:sp>
        <p:nvSpPr>
          <p:cNvPr id="39" name="Shape 34"/>
          <p:cNvSpPr/>
          <p:nvPr/>
        </p:nvSpPr>
        <p:spPr>
          <a:xfrm>
            <a:off x="2648102" y="4892040"/>
            <a:ext cx="1486884" cy="384048"/>
          </a:xfrm>
          <a:prstGeom prst="roundRect">
            <a:avLst>
              <a:gd name="adj" fmla="val 50000"/>
            </a:avLst>
          </a:prstGeom>
          <a:solidFill>
            <a:srgbClr val="18233C"/>
          </a:solidFill>
          <a:ln w="9525">
            <a:solidFill>
              <a:srgbClr val="24314F"/>
            </a:solidFill>
            <a:prstDash val="solid"/>
          </a:ln>
        </p:spPr>
        <p:txBody>
          <a:bodyPr/>
          <a:lstStyle/>
          <a:p>
            <a:endParaRPr/>
          </a:p>
        </p:txBody>
      </p:sp>
      <p:sp>
        <p:nvSpPr>
          <p:cNvPr id="40" name="Text 35"/>
          <p:cNvSpPr txBox="1"/>
          <p:nvPr/>
        </p:nvSpPr>
        <p:spPr>
          <a:xfrm>
            <a:off x="2859244" y="4883414"/>
            <a:ext cx="1366114" cy="384048"/>
          </a:xfrm>
          <a:prstGeom prst="rect">
            <a:avLst/>
          </a:prstGeom>
          <a:noFill/>
          <a:ln/>
        </p:spPr>
        <p:txBody>
          <a:bodyPr wrap="square" lIns="0" tIns="0" rIns="0" bIns="0" rtlCol="0" anchor="ctr"/>
          <a:lstStyle/>
          <a:p>
            <a:pPr marL="0" indent="0" algn="ctr">
              <a:buNone/>
            </a:pPr>
            <a:r>
              <a:rPr lang="en-US" sz="1100" dirty="0">
                <a:solidFill>
                  <a:srgbClr val="EAF0FA"/>
                </a:solidFill>
                <a:latin typeface="Tahoma" panose="020B0604030504040204" pitchFamily="34" charset="0"/>
                <a:ea typeface="Tahoma" panose="020B0604030504040204" pitchFamily="34" charset="0"/>
                <a:cs typeface="Tahoma" panose="020B0604030504040204" pitchFamily="34" charset="0"/>
              </a:rPr>
              <a:t>Apache PDFBox</a:t>
            </a:r>
            <a:endParaRPr lang="en-US" sz="1100" dirty="0">
              <a:latin typeface="Tahoma" panose="020B0604030504040204" pitchFamily="34" charset="0"/>
            </a:endParaRPr>
          </a:p>
        </p:txBody>
      </p:sp>
      <p:sp>
        <p:nvSpPr>
          <p:cNvPr id="41" name="Shape 36"/>
          <p:cNvSpPr/>
          <p:nvPr/>
        </p:nvSpPr>
        <p:spPr>
          <a:xfrm>
            <a:off x="795527" y="5367528"/>
            <a:ext cx="1934903" cy="384048"/>
          </a:xfrm>
          <a:prstGeom prst="roundRect">
            <a:avLst>
              <a:gd name="adj" fmla="val 50000"/>
            </a:avLst>
          </a:prstGeom>
          <a:solidFill>
            <a:srgbClr val="18233C"/>
          </a:solidFill>
          <a:ln w="9525">
            <a:solidFill>
              <a:srgbClr val="24314F"/>
            </a:solidFill>
            <a:prstDash val="solid"/>
          </a:ln>
        </p:spPr>
        <p:txBody>
          <a:bodyPr/>
          <a:lstStyle/>
          <a:p>
            <a:endParaRPr/>
          </a:p>
        </p:txBody>
      </p:sp>
      <p:sp>
        <p:nvSpPr>
          <p:cNvPr id="42" name="Text 37"/>
          <p:cNvSpPr txBox="1"/>
          <p:nvPr/>
        </p:nvSpPr>
        <p:spPr>
          <a:xfrm>
            <a:off x="1023287" y="5375636"/>
            <a:ext cx="1814170" cy="384048"/>
          </a:xfrm>
          <a:prstGeom prst="rect">
            <a:avLst/>
          </a:prstGeom>
          <a:noFill/>
          <a:ln/>
        </p:spPr>
        <p:txBody>
          <a:bodyPr wrap="square" lIns="0" tIns="0" rIns="0" bIns="0" rtlCol="0" anchor="ctr"/>
          <a:lstStyle/>
          <a:p>
            <a:pPr marL="0" indent="0" algn="ctr">
              <a:buNone/>
            </a:pPr>
            <a:r>
              <a:rPr lang="en-US" sz="1100" dirty="0">
                <a:solidFill>
                  <a:srgbClr val="EAF0FA"/>
                </a:solidFill>
                <a:latin typeface="Tahoma" panose="020B0604030504040204" pitchFamily="34" charset="0"/>
                <a:ea typeface="Tahoma" panose="020B0604030504040204" pitchFamily="34" charset="0"/>
                <a:cs typeface="Tahoma" panose="020B0604030504040204" pitchFamily="34" charset="0"/>
              </a:rPr>
              <a:t>Apache Commons CSV</a:t>
            </a:r>
            <a:endParaRPr lang="en-US" sz="1100" dirty="0">
              <a:latin typeface="Tahoma" panose="020B0604030504040204" pitchFamily="34" charset="0"/>
            </a:endParaRPr>
          </a:p>
        </p:txBody>
      </p:sp>
      <p:sp>
        <p:nvSpPr>
          <p:cNvPr id="43" name="Shape 38"/>
          <p:cNvSpPr/>
          <p:nvPr/>
        </p:nvSpPr>
        <p:spPr>
          <a:xfrm>
            <a:off x="6255868" y="3840480"/>
            <a:ext cx="5432908" cy="2377440"/>
          </a:xfrm>
          <a:prstGeom prst="roundRect">
            <a:avLst>
              <a:gd name="adj" fmla="val 3846"/>
            </a:avLst>
          </a:prstGeom>
          <a:solidFill>
            <a:srgbClr val="121B30"/>
          </a:solidFill>
          <a:ln/>
        </p:spPr>
        <p:txBody>
          <a:bodyPr/>
          <a:lstStyle/>
          <a:p>
            <a:endParaRPr/>
          </a:p>
        </p:txBody>
      </p:sp>
      <p:sp>
        <p:nvSpPr>
          <p:cNvPr id="44" name="Shape 39"/>
          <p:cNvSpPr/>
          <p:nvPr/>
        </p:nvSpPr>
        <p:spPr>
          <a:xfrm>
            <a:off x="6530188" y="4096512"/>
            <a:ext cx="530352" cy="530352"/>
          </a:xfrm>
          <a:prstGeom prst="roundRect">
            <a:avLst>
              <a:gd name="adj" fmla="val 20690"/>
            </a:avLst>
          </a:prstGeom>
          <a:solidFill>
            <a:srgbClr val="18233C"/>
          </a:solidFill>
          <a:ln/>
        </p:spPr>
        <p:txBody>
          <a:bodyPr/>
          <a:lstStyle/>
          <a:p>
            <a:endParaRPr/>
          </a:p>
        </p:txBody>
      </p:sp>
      <p:pic>
        <p:nvPicPr>
          <p:cNvPr id="45" name="Image 3" descr="/home/claude/icons/ic_terminal.png"/>
          <p:cNvPicPr>
            <a:picLocks noChangeAspect="1"/>
          </p:cNvPicPr>
          <p:nvPr/>
        </p:nvPicPr>
        <p:blipFill>
          <a:blip r:embed="rId6"/>
          <a:stretch>
            <a:fillRect/>
          </a:stretch>
        </p:blipFill>
        <p:spPr>
          <a:xfrm>
            <a:off x="6658204" y="4224528"/>
            <a:ext cx="274320" cy="274320"/>
          </a:xfrm>
          <a:prstGeom prst="rect">
            <a:avLst/>
          </a:prstGeom>
        </p:spPr>
      </p:pic>
      <p:sp>
        <p:nvSpPr>
          <p:cNvPr id="46" name="Text 40"/>
          <p:cNvSpPr txBox="1"/>
          <p:nvPr/>
        </p:nvSpPr>
        <p:spPr>
          <a:xfrm>
            <a:off x="7215988" y="4114800"/>
            <a:ext cx="4198468" cy="530352"/>
          </a:xfrm>
          <a:prstGeom prst="rect">
            <a:avLst/>
          </a:prstGeom>
          <a:noFill/>
          <a:ln/>
        </p:spPr>
        <p:txBody>
          <a:bodyPr wrap="square" lIns="0" tIns="0" rIns="0" bIns="0" rtlCol="0" anchor="ctr"/>
          <a:lstStyle/>
          <a:p>
            <a:pPr marL="0" indent="0">
              <a:buNone/>
            </a:pPr>
            <a:r>
              <a:rPr lang="en-US" sz="1700" b="1" dirty="0">
                <a:solidFill>
                  <a:srgbClr val="EAF0FA"/>
                </a:solidFill>
                <a:latin typeface="Tahoma" panose="020B0604030504040204" pitchFamily="34" charset="0"/>
                <a:ea typeface="Tahoma" panose="020B0604030504040204" pitchFamily="34" charset="0"/>
                <a:cs typeface="Tahoma" panose="020B0604030504040204" pitchFamily="34" charset="0"/>
              </a:rPr>
              <a:t>Development</a:t>
            </a:r>
            <a:endParaRPr lang="en-US" sz="1700" dirty="0">
              <a:latin typeface="Tahoma" panose="020B0604030504040204" pitchFamily="34" charset="0"/>
            </a:endParaRPr>
          </a:p>
        </p:txBody>
      </p:sp>
      <p:sp>
        <p:nvSpPr>
          <p:cNvPr id="47" name="Shape 41"/>
          <p:cNvSpPr/>
          <p:nvPr/>
        </p:nvSpPr>
        <p:spPr>
          <a:xfrm>
            <a:off x="6548476" y="4892040"/>
            <a:ext cx="1196402" cy="384048"/>
          </a:xfrm>
          <a:prstGeom prst="roundRect">
            <a:avLst>
              <a:gd name="adj" fmla="val 50000"/>
            </a:avLst>
          </a:prstGeom>
          <a:solidFill>
            <a:srgbClr val="18233C"/>
          </a:solidFill>
          <a:ln w="9525">
            <a:solidFill>
              <a:srgbClr val="24314F"/>
            </a:solidFill>
            <a:prstDash val="solid"/>
          </a:ln>
        </p:spPr>
        <p:txBody>
          <a:bodyPr/>
          <a:lstStyle/>
          <a:p>
            <a:endParaRPr/>
          </a:p>
        </p:txBody>
      </p:sp>
      <p:sp>
        <p:nvSpPr>
          <p:cNvPr id="48" name="Text 42"/>
          <p:cNvSpPr txBox="1"/>
          <p:nvPr/>
        </p:nvSpPr>
        <p:spPr>
          <a:xfrm>
            <a:off x="6612483" y="4892040"/>
            <a:ext cx="1366114" cy="384048"/>
          </a:xfrm>
          <a:prstGeom prst="rect">
            <a:avLst/>
          </a:prstGeom>
          <a:noFill/>
          <a:ln/>
        </p:spPr>
        <p:txBody>
          <a:bodyPr wrap="square" lIns="0" tIns="0" rIns="0" bIns="0" rtlCol="0" anchor="ctr"/>
          <a:lstStyle/>
          <a:p>
            <a:pPr marL="0" indent="0" algn="ctr">
              <a:buNone/>
            </a:pPr>
            <a:r>
              <a:rPr lang="en-US" sz="1100" dirty="0">
                <a:solidFill>
                  <a:srgbClr val="EAF0FA"/>
                </a:solidFill>
                <a:latin typeface="Tahoma" panose="020B0604030504040204" pitchFamily="34" charset="0"/>
                <a:ea typeface="Tahoma" panose="020B0604030504040204" pitchFamily="34" charset="0"/>
                <a:cs typeface="Tahoma" panose="020B0604030504040204" pitchFamily="34" charset="0"/>
              </a:rPr>
              <a:t>IntelliJ IDEA</a:t>
            </a:r>
            <a:endParaRPr lang="en-US" sz="1100" dirty="0">
              <a:latin typeface="Tahoma" panose="020B0604030504040204" pitchFamily="34" charset="0"/>
            </a:endParaRPr>
          </a:p>
        </p:txBody>
      </p:sp>
      <p:sp>
        <p:nvSpPr>
          <p:cNvPr id="49" name="Shape 43"/>
          <p:cNvSpPr/>
          <p:nvPr/>
        </p:nvSpPr>
        <p:spPr>
          <a:xfrm>
            <a:off x="7835570" y="4892040"/>
            <a:ext cx="956463" cy="384048"/>
          </a:xfrm>
          <a:prstGeom prst="roundRect">
            <a:avLst>
              <a:gd name="adj" fmla="val 50000"/>
            </a:avLst>
          </a:prstGeom>
          <a:solidFill>
            <a:srgbClr val="18233C"/>
          </a:solidFill>
          <a:ln w="9525">
            <a:solidFill>
              <a:srgbClr val="24314F"/>
            </a:solidFill>
            <a:prstDash val="solid"/>
          </a:ln>
        </p:spPr>
        <p:txBody>
          <a:bodyPr/>
          <a:lstStyle/>
          <a:p>
            <a:endParaRPr/>
          </a:p>
        </p:txBody>
      </p:sp>
      <p:sp>
        <p:nvSpPr>
          <p:cNvPr id="50" name="Text 44"/>
          <p:cNvSpPr txBox="1"/>
          <p:nvPr/>
        </p:nvSpPr>
        <p:spPr>
          <a:xfrm>
            <a:off x="8027410" y="4891462"/>
            <a:ext cx="828446" cy="384048"/>
          </a:xfrm>
          <a:prstGeom prst="rect">
            <a:avLst/>
          </a:prstGeom>
          <a:noFill/>
          <a:ln/>
        </p:spPr>
        <p:txBody>
          <a:bodyPr wrap="square" lIns="0" tIns="0" rIns="0" bIns="0" rtlCol="0" anchor="ctr"/>
          <a:lstStyle/>
          <a:p>
            <a:pPr marL="0" indent="0" algn="ctr">
              <a:buNone/>
            </a:pPr>
            <a:r>
              <a:rPr lang="en-US" sz="1100" dirty="0">
                <a:solidFill>
                  <a:srgbClr val="EAF0FA"/>
                </a:solidFill>
                <a:latin typeface="Tahoma" panose="020B0604030504040204" pitchFamily="34" charset="0"/>
                <a:ea typeface="Tahoma" panose="020B0604030504040204" pitchFamily="34" charset="0"/>
                <a:cs typeface="Tahoma" panose="020B0604030504040204" pitchFamily="34" charset="0"/>
              </a:rPr>
              <a:t>VS Code</a:t>
            </a:r>
            <a:endParaRPr lang="en-US" sz="1100" dirty="0">
              <a:latin typeface="Tahoma" panose="020B0604030504040204" pitchFamily="34" charset="0"/>
            </a:endParaRPr>
          </a:p>
        </p:txBody>
      </p:sp>
      <p:sp>
        <p:nvSpPr>
          <p:cNvPr id="51" name="Shape 45"/>
          <p:cNvSpPr/>
          <p:nvPr/>
        </p:nvSpPr>
        <p:spPr>
          <a:xfrm>
            <a:off x="8886923" y="4892040"/>
            <a:ext cx="956462" cy="384048"/>
          </a:xfrm>
          <a:prstGeom prst="roundRect">
            <a:avLst>
              <a:gd name="adj" fmla="val 50000"/>
            </a:avLst>
          </a:prstGeom>
          <a:solidFill>
            <a:srgbClr val="18233C"/>
          </a:solidFill>
          <a:ln w="9525">
            <a:solidFill>
              <a:srgbClr val="24314F"/>
            </a:solidFill>
            <a:prstDash val="solid"/>
          </a:ln>
        </p:spPr>
        <p:txBody>
          <a:bodyPr/>
          <a:lstStyle/>
          <a:p>
            <a:endParaRPr/>
          </a:p>
        </p:txBody>
      </p:sp>
      <p:sp>
        <p:nvSpPr>
          <p:cNvPr id="52" name="Text 46"/>
          <p:cNvSpPr txBox="1"/>
          <p:nvPr/>
        </p:nvSpPr>
        <p:spPr>
          <a:xfrm>
            <a:off x="9102197" y="4892040"/>
            <a:ext cx="828446" cy="384048"/>
          </a:xfrm>
          <a:prstGeom prst="rect">
            <a:avLst/>
          </a:prstGeom>
          <a:noFill/>
          <a:ln/>
        </p:spPr>
        <p:txBody>
          <a:bodyPr wrap="square" lIns="0" tIns="0" rIns="0" bIns="0" rtlCol="0" anchor="ctr"/>
          <a:lstStyle/>
          <a:p>
            <a:pPr marL="0" indent="0" algn="ctr">
              <a:buNone/>
            </a:pPr>
            <a:r>
              <a:rPr lang="en-US" sz="1100" dirty="0">
                <a:solidFill>
                  <a:srgbClr val="EAF0FA"/>
                </a:solidFill>
                <a:latin typeface="Tahoma" panose="020B0604030504040204" pitchFamily="34" charset="0"/>
                <a:ea typeface="Tahoma" panose="020B0604030504040204" pitchFamily="34" charset="0"/>
                <a:cs typeface="Tahoma" panose="020B0604030504040204" pitchFamily="34" charset="0"/>
              </a:rPr>
              <a:t>Postman</a:t>
            </a:r>
            <a:endParaRPr lang="en-US" sz="1100" dirty="0">
              <a:latin typeface="Tahoma" panose="020B0604030504040204" pitchFamily="34" charset="0"/>
            </a:endParaRPr>
          </a:p>
        </p:txBody>
      </p:sp>
      <p:sp>
        <p:nvSpPr>
          <p:cNvPr id="53" name="Shape 47"/>
          <p:cNvSpPr/>
          <p:nvPr/>
        </p:nvSpPr>
        <p:spPr>
          <a:xfrm>
            <a:off x="9903767" y="4892040"/>
            <a:ext cx="1276502" cy="384048"/>
          </a:xfrm>
          <a:prstGeom prst="roundRect">
            <a:avLst>
              <a:gd name="adj" fmla="val 50000"/>
            </a:avLst>
          </a:prstGeom>
          <a:solidFill>
            <a:srgbClr val="18233C"/>
          </a:solidFill>
          <a:ln w="9525">
            <a:solidFill>
              <a:srgbClr val="24314F"/>
            </a:solidFill>
            <a:prstDash val="solid"/>
          </a:ln>
        </p:spPr>
        <p:txBody>
          <a:bodyPr/>
          <a:lstStyle/>
          <a:p>
            <a:endParaRPr/>
          </a:p>
        </p:txBody>
      </p:sp>
      <p:sp>
        <p:nvSpPr>
          <p:cNvPr id="54" name="Text 48"/>
          <p:cNvSpPr txBox="1"/>
          <p:nvPr/>
        </p:nvSpPr>
        <p:spPr>
          <a:xfrm>
            <a:off x="10059100" y="4892040"/>
            <a:ext cx="1276502" cy="384048"/>
          </a:xfrm>
          <a:prstGeom prst="rect">
            <a:avLst/>
          </a:prstGeom>
          <a:noFill/>
          <a:ln/>
        </p:spPr>
        <p:txBody>
          <a:bodyPr wrap="square" lIns="0" tIns="0" rIns="0" bIns="0" rtlCol="0" anchor="ctr"/>
          <a:lstStyle/>
          <a:p>
            <a:pPr marL="0" indent="0" algn="ctr">
              <a:buNone/>
            </a:pPr>
            <a:r>
              <a:rPr lang="en-US" sz="1100" dirty="0">
                <a:solidFill>
                  <a:srgbClr val="EAF0FA"/>
                </a:solidFill>
                <a:latin typeface="Tahoma" panose="020B0604030504040204" pitchFamily="34" charset="0"/>
                <a:ea typeface="Tahoma" panose="020B0604030504040204" pitchFamily="34" charset="0"/>
                <a:cs typeface="Tahoma" panose="020B0604030504040204" pitchFamily="34" charset="0"/>
              </a:rPr>
              <a:t>Git / GitHub</a:t>
            </a:r>
            <a:endParaRPr lang="en-US" sz="1100" dirty="0">
              <a:latin typeface="Tahoma" panose="020B0604030504040204" pitchFamily="34" charset="0"/>
            </a:endParaRPr>
          </a:p>
        </p:txBody>
      </p:sp>
      <p:pic>
        <p:nvPicPr>
          <p:cNvPr id="57" name="Image 0">
            <a:extLst>
              <a:ext uri="{FF2B5EF4-FFF2-40B4-BE49-F238E27FC236}">
                <a16:creationId xmlns:a16="http://schemas.microsoft.com/office/drawing/2014/main" id="{1F94F26F-8213-2244-913C-A15A6C8201B7}"/>
              </a:ext>
            </a:extLst>
          </p:cNvPr>
          <p:cNvPicPr>
            <a:picLocks noChangeAspect="1"/>
          </p:cNvPicPr>
          <p:nvPr/>
        </p:nvPicPr>
        <p:blipFill>
          <a:blip r:embed="rId7">
            <a:duotone>
              <a:schemeClr val="accent6">
                <a:shade val="45000"/>
                <a:satMod val="135000"/>
              </a:schemeClr>
              <a:prstClr val="white"/>
            </a:duotone>
            <a:extLst>
              <a:ext uri="{BEBA8EAE-BF5A-486C-A8C5-ECC9F3942E4B}">
                <a14:imgProps xmlns:a14="http://schemas.microsoft.com/office/drawing/2010/main">
                  <a14:imgLayer r:embed="rId8">
                    <a14:imgEffect>
                      <a14:brightnessContrast bright="100000"/>
                    </a14:imgEffect>
                  </a14:imgLayer>
                </a14:imgProps>
              </a:ext>
            </a:extLst>
          </a:blip>
          <a:srcRect/>
          <a:stretch/>
        </p:blipFill>
        <p:spPr>
          <a:xfrm>
            <a:off x="1601886" y="2242726"/>
            <a:ext cx="288000" cy="288000"/>
          </a:xfrm>
          <a:prstGeom prst="rect">
            <a:avLst/>
          </a:prstGeom>
        </p:spPr>
      </p:pic>
      <p:pic>
        <p:nvPicPr>
          <p:cNvPr id="59" name="Picture 58">
            <a:extLst>
              <a:ext uri="{FF2B5EF4-FFF2-40B4-BE49-F238E27FC236}">
                <a16:creationId xmlns:a16="http://schemas.microsoft.com/office/drawing/2014/main" id="{AEDAF360-3076-4397-FA1E-055AAC4D1816}"/>
              </a:ext>
            </a:extLst>
          </p:cNvPr>
          <p:cNvPicPr>
            <a:picLocks noChangeAspect="1"/>
          </p:cNvPicPr>
          <p:nvPr/>
        </p:nvPicPr>
        <p:blipFill>
          <a:blip r:embed="rId9">
            <a:extLst>
              <a:ext uri="{BEBA8EAE-BF5A-486C-A8C5-ECC9F3942E4B}">
                <a14:imgProps xmlns:a14="http://schemas.microsoft.com/office/drawing/2010/main">
                  <a14:imgLayer r:embed="rId10">
                    <a14:imgEffect>
                      <a14:brightnessContrast bright="100000"/>
                    </a14:imgEffect>
                  </a14:imgLayer>
                </a14:imgProps>
              </a:ext>
            </a:extLst>
          </a:blip>
          <a:stretch>
            <a:fillRect/>
          </a:stretch>
        </p:blipFill>
        <p:spPr>
          <a:xfrm>
            <a:off x="827098" y="2235803"/>
            <a:ext cx="252000" cy="252000"/>
          </a:xfrm>
          <a:prstGeom prst="rect">
            <a:avLst/>
          </a:prstGeom>
        </p:spPr>
      </p:pic>
      <p:pic>
        <p:nvPicPr>
          <p:cNvPr id="61" name="Image 1" descr="/home/claude/pptx_work/icon_database.png">
            <a:extLst>
              <a:ext uri="{FF2B5EF4-FFF2-40B4-BE49-F238E27FC236}">
                <a16:creationId xmlns:a16="http://schemas.microsoft.com/office/drawing/2014/main" id="{69A61DE0-9F17-B006-31C6-23580ACABD61}"/>
              </a:ext>
            </a:extLst>
          </p:cNvPr>
          <p:cNvPicPr>
            <a:picLocks noChangeAspect="1"/>
          </p:cNvPicPr>
          <p:nvPr/>
        </p:nvPicPr>
        <p:blipFill>
          <a:blip r:embed="rId11">
            <a:extLst>
              <a:ext uri="{BEBA8EAE-BF5A-486C-A8C5-ECC9F3942E4B}">
                <a14:imgProps xmlns:a14="http://schemas.microsoft.com/office/drawing/2010/main">
                  <a14:imgLayer r:embed="rId12">
                    <a14:imgEffect>
                      <a14:brightnessContrast bright="100000"/>
                    </a14:imgEffect>
                  </a14:imgLayer>
                </a14:imgProps>
              </a:ext>
            </a:extLst>
          </a:blip>
          <a:stretch>
            <a:fillRect/>
          </a:stretch>
        </p:blipFill>
        <p:spPr>
          <a:xfrm>
            <a:off x="2993252" y="2274300"/>
            <a:ext cx="252000" cy="252000"/>
          </a:xfrm>
          <a:prstGeom prst="rect">
            <a:avLst/>
          </a:prstGeom>
        </p:spPr>
      </p:pic>
      <p:pic>
        <p:nvPicPr>
          <p:cNvPr id="64" name="Picture 63" descr="File:React-icon.svg">
            <a:extLst>
              <a:ext uri="{FF2B5EF4-FFF2-40B4-BE49-F238E27FC236}">
                <a16:creationId xmlns:a16="http://schemas.microsoft.com/office/drawing/2014/main" id="{3B149E24-8DF1-C008-2077-2088D82C2E96}"/>
              </a:ext>
            </a:extLst>
          </p:cNvPr>
          <p:cNvPicPr>
            <a:picLocks noChangeAspect="1"/>
          </p:cNvPicPr>
          <p:nvPr/>
        </p:nvPicPr>
        <p:blipFill>
          <a:blip r:embed="rId13">
            <a:extLst>
              <a:ext uri="{BEBA8EAE-BF5A-486C-A8C5-ECC9F3942E4B}">
                <a14:imgProps xmlns:a14="http://schemas.microsoft.com/office/drawing/2010/main">
                  <a14:imgLayer r:embed="rId14">
                    <a14:imgEffect>
                      <a14:brightnessContrast bright="100000"/>
                    </a14:imgEffect>
                  </a14:imgLayer>
                </a14:imgProps>
              </a:ext>
            </a:extLst>
          </a:blip>
          <a:stretch>
            <a:fillRect/>
          </a:stretch>
        </p:blipFill>
        <p:spPr>
          <a:xfrm>
            <a:off x="6599284" y="2265199"/>
            <a:ext cx="282947" cy="252000"/>
          </a:xfrm>
          <a:prstGeom prst="rect">
            <a:avLst/>
          </a:prstGeom>
        </p:spPr>
      </p:pic>
      <p:pic>
        <p:nvPicPr>
          <p:cNvPr id="65" name="Picture 64" descr="File:Tailwind CSS Logo.svg">
            <a:extLst>
              <a:ext uri="{FF2B5EF4-FFF2-40B4-BE49-F238E27FC236}">
                <a16:creationId xmlns:a16="http://schemas.microsoft.com/office/drawing/2014/main" id="{2D841B40-D153-CEEB-F1FD-B73B9E7DC20F}"/>
              </a:ext>
            </a:extLst>
          </p:cNvPr>
          <p:cNvPicPr>
            <a:picLocks noChangeAspect="1"/>
          </p:cNvPicPr>
          <p:nvPr/>
        </p:nvPicPr>
        <p:blipFill>
          <a:blip r:embed="rId15">
            <a:extLst>
              <a:ext uri="{BEBA8EAE-BF5A-486C-A8C5-ECC9F3942E4B}">
                <a14:imgProps xmlns:a14="http://schemas.microsoft.com/office/drawing/2010/main">
                  <a14:imgLayer r:embed="rId16">
                    <a14:imgEffect>
                      <a14:brightnessContrast bright="100000"/>
                    </a14:imgEffect>
                  </a14:imgLayer>
                </a14:imgProps>
              </a:ext>
            </a:extLst>
          </a:blip>
          <a:stretch>
            <a:fillRect/>
          </a:stretch>
        </p:blipFill>
        <p:spPr>
          <a:xfrm>
            <a:off x="7492878" y="2300913"/>
            <a:ext cx="252000" cy="154088"/>
          </a:xfrm>
          <a:prstGeom prst="rect">
            <a:avLst/>
          </a:prstGeom>
        </p:spPr>
      </p:pic>
      <p:pic>
        <p:nvPicPr>
          <p:cNvPr id="67" name="Picture 66">
            <a:extLst>
              <a:ext uri="{FF2B5EF4-FFF2-40B4-BE49-F238E27FC236}">
                <a16:creationId xmlns:a16="http://schemas.microsoft.com/office/drawing/2014/main" id="{26BBDDF6-6712-4246-B2FD-EBD698351146}"/>
              </a:ext>
            </a:extLst>
          </p:cNvPr>
          <p:cNvPicPr>
            <a:picLocks noChangeAspect="1"/>
          </p:cNvPicPr>
          <p:nvPr/>
        </p:nvPicPr>
        <p:blipFill>
          <a:blip r:embed="rId17">
            <a:extLst>
              <a:ext uri="{BEBA8EAE-BF5A-486C-A8C5-ECC9F3942E4B}">
                <a14:imgProps xmlns:a14="http://schemas.microsoft.com/office/drawing/2010/main">
                  <a14:imgLayer r:embed="rId18">
                    <a14:imgEffect>
                      <a14:brightnessContrast bright="100000"/>
                    </a14:imgEffect>
                  </a14:imgLayer>
                </a14:imgProps>
              </a:ext>
            </a:extLst>
          </a:blip>
          <a:stretch>
            <a:fillRect/>
          </a:stretch>
        </p:blipFill>
        <p:spPr>
          <a:xfrm>
            <a:off x="9834098" y="2258677"/>
            <a:ext cx="252000" cy="252000"/>
          </a:xfrm>
          <a:prstGeom prst="rect">
            <a:avLst/>
          </a:prstGeom>
        </p:spPr>
      </p:pic>
      <p:pic>
        <p:nvPicPr>
          <p:cNvPr id="68" name="Picture 67" descr="File:Google Gemini icon 2025.svg">
            <a:extLst>
              <a:ext uri="{FF2B5EF4-FFF2-40B4-BE49-F238E27FC236}">
                <a16:creationId xmlns:a16="http://schemas.microsoft.com/office/drawing/2014/main" id="{50A9703F-C133-1C01-D681-80203D15B8E1}"/>
              </a:ext>
            </a:extLst>
          </p:cNvPr>
          <p:cNvPicPr>
            <a:picLocks noChangeAspect="1"/>
          </p:cNvPicPr>
          <p:nvPr/>
        </p:nvPicPr>
        <p:blipFill>
          <a:blip r:embed="rId19">
            <a:extLst>
              <a:ext uri="{BEBA8EAE-BF5A-486C-A8C5-ECC9F3942E4B}">
                <a14:imgProps xmlns:a14="http://schemas.microsoft.com/office/drawing/2010/main">
                  <a14:imgLayer r:embed="rId20">
                    <a14:imgEffect>
                      <a14:brightnessContrast bright="100000"/>
                    </a14:imgEffect>
                  </a14:imgLayer>
                </a14:imgProps>
              </a:ext>
            </a:extLst>
          </a:blip>
          <a:stretch>
            <a:fillRect/>
          </a:stretch>
        </p:blipFill>
        <p:spPr>
          <a:xfrm>
            <a:off x="877284" y="4955508"/>
            <a:ext cx="252000" cy="252000"/>
          </a:xfrm>
          <a:prstGeom prst="rect">
            <a:avLst/>
          </a:prstGeom>
        </p:spPr>
      </p:pic>
      <p:pic>
        <p:nvPicPr>
          <p:cNvPr id="70" name="Image 4" descr="/home/claude/pptx_work/icon_chart.png">
            <a:extLst>
              <a:ext uri="{FF2B5EF4-FFF2-40B4-BE49-F238E27FC236}">
                <a16:creationId xmlns:a16="http://schemas.microsoft.com/office/drawing/2014/main" id="{C07DDEE7-F7DF-AF0B-A0AE-9E6AA8FE83E8}"/>
              </a:ext>
            </a:extLst>
          </p:cNvPr>
          <p:cNvPicPr>
            <a:picLocks noChangeAspect="1"/>
          </p:cNvPicPr>
          <p:nvPr/>
        </p:nvPicPr>
        <p:blipFill>
          <a:blip r:embed="rId21">
            <a:extLst>
              <a:ext uri="{BEBA8EAE-BF5A-486C-A8C5-ECC9F3942E4B}">
                <a14:imgProps xmlns:a14="http://schemas.microsoft.com/office/drawing/2010/main">
                  <a14:imgLayer r:embed="rId22">
                    <a14:imgEffect>
                      <a14:brightnessContrast bright="100000"/>
                    </a14:imgEffect>
                  </a14:imgLayer>
                </a14:imgProps>
              </a:ext>
            </a:extLst>
          </a:blip>
          <a:stretch>
            <a:fillRect/>
          </a:stretch>
        </p:blipFill>
        <p:spPr>
          <a:xfrm>
            <a:off x="8810852" y="2259828"/>
            <a:ext cx="252000" cy="252000"/>
          </a:xfrm>
          <a:prstGeom prst="rect">
            <a:avLst/>
          </a:prstGeom>
        </p:spPr>
      </p:pic>
      <p:pic>
        <p:nvPicPr>
          <p:cNvPr id="74" name="Picture 73">
            <a:extLst>
              <a:ext uri="{FF2B5EF4-FFF2-40B4-BE49-F238E27FC236}">
                <a16:creationId xmlns:a16="http://schemas.microsoft.com/office/drawing/2014/main" id="{62520DB1-2E4F-544B-D831-360204A1F2A4}"/>
              </a:ext>
            </a:extLst>
          </p:cNvPr>
          <p:cNvPicPr>
            <a:picLocks noChangeAspect="1"/>
          </p:cNvPicPr>
          <p:nvPr/>
        </p:nvPicPr>
        <p:blipFill>
          <a:blip r:embed="rId23">
            <a:extLst>
              <a:ext uri="{BEBA8EAE-BF5A-486C-A8C5-ECC9F3942E4B}">
                <a14:imgProps xmlns:a14="http://schemas.microsoft.com/office/drawing/2010/main">
                  <a14:imgLayer r:embed="rId24">
                    <a14:imgEffect>
                      <a14:brightnessContrast bright="100000"/>
                    </a14:imgEffect>
                  </a14:imgLayer>
                </a14:imgProps>
              </a:ext>
            </a:extLst>
          </a:blip>
          <a:stretch>
            <a:fillRect/>
          </a:stretch>
        </p:blipFill>
        <p:spPr>
          <a:xfrm>
            <a:off x="2735774" y="4956738"/>
            <a:ext cx="252000" cy="252000"/>
          </a:xfrm>
          <a:prstGeom prst="rect">
            <a:avLst/>
          </a:prstGeom>
        </p:spPr>
      </p:pic>
      <p:pic>
        <p:nvPicPr>
          <p:cNvPr id="76" name="Picture 75">
            <a:extLst>
              <a:ext uri="{FF2B5EF4-FFF2-40B4-BE49-F238E27FC236}">
                <a16:creationId xmlns:a16="http://schemas.microsoft.com/office/drawing/2014/main" id="{FD34706F-7B31-22F1-9649-7B15AD2BC1C8}"/>
              </a:ext>
            </a:extLst>
          </p:cNvPr>
          <p:cNvPicPr>
            <a:picLocks noChangeAspect="1"/>
          </p:cNvPicPr>
          <p:nvPr/>
        </p:nvPicPr>
        <p:blipFill>
          <a:blip r:embed="rId25">
            <a:extLst>
              <a:ext uri="{BEBA8EAE-BF5A-486C-A8C5-ECC9F3942E4B}">
                <a14:imgProps xmlns:a14="http://schemas.microsoft.com/office/drawing/2010/main">
                  <a14:imgLayer r:embed="rId26">
                    <a14:imgEffect>
                      <a14:brightnessContrast bright="100000"/>
                    </a14:imgEffect>
                  </a14:imgLayer>
                </a14:imgProps>
              </a:ext>
            </a:extLst>
          </a:blip>
          <a:stretch>
            <a:fillRect/>
          </a:stretch>
        </p:blipFill>
        <p:spPr>
          <a:xfrm>
            <a:off x="912817" y="5437205"/>
            <a:ext cx="252000" cy="252000"/>
          </a:xfrm>
          <a:prstGeom prst="rect">
            <a:avLst/>
          </a:prstGeom>
        </p:spPr>
      </p:pic>
      <p:pic>
        <p:nvPicPr>
          <p:cNvPr id="78" name="Picture 77" descr="File:IntelliJ IDEA Icon.svg">
            <a:extLst>
              <a:ext uri="{FF2B5EF4-FFF2-40B4-BE49-F238E27FC236}">
                <a16:creationId xmlns:a16="http://schemas.microsoft.com/office/drawing/2014/main" id="{1D219E73-52A7-9EAF-21FF-C7E78FEECC8D}"/>
              </a:ext>
            </a:extLst>
          </p:cNvPr>
          <p:cNvPicPr>
            <a:picLocks noChangeAspect="1"/>
          </p:cNvPicPr>
          <p:nvPr/>
        </p:nvPicPr>
        <p:blipFill>
          <a:blip r:embed="rId27">
            <a:extLst>
              <a:ext uri="{BEBA8EAE-BF5A-486C-A8C5-ECC9F3942E4B}">
                <a14:imgProps xmlns:a14="http://schemas.microsoft.com/office/drawing/2010/main">
                  <a14:imgLayer r:embed="rId28">
                    <a14:imgEffect>
                      <a14:backgroundRemoval t="10000" b="90000" l="10000" r="90000">
                        <a14:backgroundMark x1="34792" y1="29583" x2="34688" y2="51458"/>
                        <a14:backgroundMark x1="29271" y1="30000" x2="39063" y2="31667"/>
                        <a14:backgroundMark x1="29271" y1="51563" x2="40417" y2="51563"/>
                        <a14:backgroundMark x1="40417" y1="51563" x2="41354" y2="51458"/>
                        <a14:backgroundMark x1="36979" y1="43750" x2="37500" y2="38646"/>
                        <a14:backgroundMark x1="37500" y1="38646" x2="38542" y2="41563"/>
                        <a14:backgroundMark x1="49063" y1="48438" x2="60208" y2="47917"/>
                        <a14:backgroundMark x1="60208" y1="47917" x2="60833" y2="29167"/>
                        <a14:backgroundMark x1="25417" y1="71875" x2="41667" y2="72813"/>
                        <a14:backgroundMark x1="41667" y1="72813" x2="47604" y2="70833"/>
                      </a14:backgroundRemoval>
                    </a14:imgEffect>
                    <a14:imgEffect>
                      <a14:brightnessContrast bright="100000"/>
                    </a14:imgEffect>
                  </a14:imgLayer>
                </a14:imgProps>
              </a:ext>
            </a:extLst>
          </a:blip>
          <a:stretch>
            <a:fillRect/>
          </a:stretch>
        </p:blipFill>
        <p:spPr>
          <a:xfrm>
            <a:off x="6579431" y="4918037"/>
            <a:ext cx="324000" cy="324000"/>
          </a:xfrm>
          <a:prstGeom prst="rect">
            <a:avLst/>
          </a:prstGeom>
        </p:spPr>
      </p:pic>
      <p:pic>
        <p:nvPicPr>
          <p:cNvPr id="79" name="Picture 78" descr="Visual Studio Code Icon in SVG, PNG formats">
            <a:extLst>
              <a:ext uri="{FF2B5EF4-FFF2-40B4-BE49-F238E27FC236}">
                <a16:creationId xmlns:a16="http://schemas.microsoft.com/office/drawing/2014/main" id="{8DA51F49-13D7-C168-FE34-EC8CEEEA33CB}"/>
              </a:ext>
            </a:extLst>
          </p:cNvPr>
          <p:cNvPicPr>
            <a:picLocks noChangeAspect="1"/>
          </p:cNvPicPr>
          <p:nvPr/>
        </p:nvPicPr>
        <p:blipFill>
          <a:blip r:embed="rId29">
            <a:extLst>
              <a:ext uri="{BEBA8EAE-BF5A-486C-A8C5-ECC9F3942E4B}">
                <a14:imgProps xmlns:a14="http://schemas.microsoft.com/office/drawing/2010/main">
                  <a14:imgLayer r:embed="rId30">
                    <a14:imgEffect>
                      <a14:brightnessContrast bright="100000"/>
                    </a14:imgEffect>
                  </a14:imgLayer>
                </a14:imgProps>
              </a:ext>
            </a:extLst>
          </a:blip>
          <a:stretch>
            <a:fillRect/>
          </a:stretch>
        </p:blipFill>
        <p:spPr>
          <a:xfrm>
            <a:off x="7892707" y="4984112"/>
            <a:ext cx="216000" cy="216000"/>
          </a:xfrm>
          <a:prstGeom prst="rect">
            <a:avLst/>
          </a:prstGeom>
        </p:spPr>
      </p:pic>
      <p:pic>
        <p:nvPicPr>
          <p:cNvPr id="83" name="Picture 82" descr="Postman">
            <a:extLst>
              <a:ext uri="{FF2B5EF4-FFF2-40B4-BE49-F238E27FC236}">
                <a16:creationId xmlns:a16="http://schemas.microsoft.com/office/drawing/2014/main" id="{BF26898E-2857-7F6B-7F09-4EB7ECE3A4A9}"/>
              </a:ext>
            </a:extLst>
          </p:cNvPr>
          <p:cNvPicPr>
            <a:picLocks noChangeAspect="1"/>
          </p:cNvPicPr>
          <p:nvPr/>
        </p:nvPicPr>
        <p:blipFill>
          <a:blip r:embed="rId31">
            <a:extLst>
              <a:ext uri="{BEBA8EAE-BF5A-486C-A8C5-ECC9F3942E4B}">
                <a14:imgProps xmlns:a14="http://schemas.microsoft.com/office/drawing/2010/main">
                  <a14:imgLayer r:embed="rId32">
                    <a14:imgEffect>
                      <a14:brightnessContrast bright="100000"/>
                    </a14:imgEffect>
                  </a14:imgLayer>
                </a14:imgProps>
              </a:ext>
            </a:extLst>
          </a:blip>
          <a:stretch>
            <a:fillRect/>
          </a:stretch>
        </p:blipFill>
        <p:spPr>
          <a:xfrm>
            <a:off x="8954634" y="4966112"/>
            <a:ext cx="252000" cy="252000"/>
          </a:xfrm>
          <a:prstGeom prst="rect">
            <a:avLst/>
          </a:prstGeom>
        </p:spPr>
      </p:pic>
      <p:pic>
        <p:nvPicPr>
          <p:cNvPr id="84" name="Graphic 83" descr="Git Icon Logo SVG Vector Icon">
            <a:extLst>
              <a:ext uri="{FF2B5EF4-FFF2-40B4-BE49-F238E27FC236}">
                <a16:creationId xmlns:a16="http://schemas.microsoft.com/office/drawing/2014/main" id="{25BD58B1-4E3F-BD55-055B-AF8BAD086A10}"/>
              </a:ext>
            </a:extLst>
          </p:cNvPr>
          <p:cNvPicPr>
            <a:picLocks noChangeAspect="1"/>
          </p:cNvPicPr>
          <p:nvPr/>
        </p:nvPicPr>
        <p:blipFill>
          <a:blip>
            <a:lum bright="100000"/>
            <a:extLst>
              <a:ext uri="{96DAC541-7B7A-43D3-8B79-37D633B846F1}">
                <asvg:svgBlip xmlns:asvg="http://schemas.microsoft.com/office/drawing/2016/SVG/main" r:embed="rId33"/>
              </a:ext>
            </a:extLst>
          </a:blip>
          <a:stretch>
            <a:fillRect/>
          </a:stretch>
        </p:blipFill>
        <p:spPr>
          <a:xfrm>
            <a:off x="10006440" y="4955508"/>
            <a:ext cx="252000" cy="252000"/>
          </a:xfrm>
          <a:prstGeom prst="rect">
            <a:avLst/>
          </a:prstGeom>
        </p:spPr>
      </p:pic>
      <p:pic>
        <p:nvPicPr>
          <p:cNvPr id="58" name="Picture 57">
            <a:extLst>
              <a:ext uri="{FF2B5EF4-FFF2-40B4-BE49-F238E27FC236}">
                <a16:creationId xmlns:a16="http://schemas.microsoft.com/office/drawing/2014/main" id="{F01B4833-FCB7-EC58-40DC-5A8627ED549B}"/>
              </a:ext>
            </a:extLst>
          </p:cNvPr>
          <p:cNvPicPr>
            <a:picLocks noChangeAspect="1"/>
          </p:cNvPicPr>
          <p:nvPr/>
        </p:nvPicPr>
        <p:blipFill>
          <a:blip r:embed="rId34"/>
          <a:srcRect r="15270" b="26538"/>
          <a:stretch>
            <a:fillRect/>
          </a:stretch>
        </p:blipFill>
        <p:spPr>
          <a:xfrm>
            <a:off x="10416983" y="236798"/>
            <a:ext cx="1440000" cy="527673"/>
          </a:xfrm>
          <a:prstGeom prst="round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0F1F"/>
        </a:solidFill>
        <a:effectLst/>
      </p:bgPr>
    </p:bg>
    <p:spTree>
      <p:nvGrpSpPr>
        <p:cNvPr id="1" name=""/>
        <p:cNvGrpSpPr/>
        <p:nvPr/>
      </p:nvGrpSpPr>
      <p:grpSpPr>
        <a:xfrm>
          <a:off x="0" y="0"/>
          <a:ext cx="0" cy="0"/>
          <a:chOff x="0" y="0"/>
          <a:chExt cx="0" cy="0"/>
        </a:xfrm>
      </p:grpSpPr>
      <p:sp>
        <p:nvSpPr>
          <p:cNvPr id="2" name="Shape 0"/>
          <p:cNvSpPr/>
          <p:nvPr/>
        </p:nvSpPr>
        <p:spPr>
          <a:xfrm>
            <a:off x="10637215" y="320040"/>
            <a:ext cx="1051560" cy="384048"/>
          </a:xfrm>
          <a:prstGeom prst="roundRect">
            <a:avLst>
              <a:gd name="adj" fmla="val 14286"/>
            </a:avLst>
          </a:prstGeom>
          <a:solidFill>
            <a:srgbClr val="18233C"/>
          </a:solidFill>
          <a:ln w="9525">
            <a:solidFill>
              <a:srgbClr val="24314F"/>
            </a:solidFill>
            <a:prstDash val="dash"/>
          </a:ln>
        </p:spPr>
        <p:txBody>
          <a:bodyPr/>
          <a:lstStyle/>
          <a:p>
            <a:endParaRPr/>
          </a:p>
        </p:txBody>
      </p:sp>
      <p:sp>
        <p:nvSpPr>
          <p:cNvPr id="3" name="Text 1"/>
          <p:cNvSpPr txBox="1"/>
          <p:nvPr/>
        </p:nvSpPr>
        <p:spPr>
          <a:xfrm>
            <a:off x="10637215" y="320040"/>
            <a:ext cx="1051560" cy="384048"/>
          </a:xfrm>
          <a:prstGeom prst="rect">
            <a:avLst/>
          </a:prstGeom>
          <a:noFill/>
          <a:ln/>
        </p:spPr>
        <p:txBody>
          <a:bodyPr wrap="square" lIns="0" tIns="0" rIns="0" bIns="0" rtlCol="0" anchor="ctr"/>
          <a:lstStyle/>
          <a:p>
            <a:pPr marL="0" indent="0" algn="ctr">
              <a:buNone/>
            </a:pPr>
            <a:r>
              <a:rPr lang="en-US" sz="900" b="1" dirty="0">
                <a:solidFill>
                  <a:srgbClr val="94A3B8"/>
                </a:solidFill>
                <a:latin typeface="Tahoma" panose="020B0604030504040204" pitchFamily="34" charset="0"/>
                <a:ea typeface="Tahoma" panose="020B0604030504040204" pitchFamily="34" charset="0"/>
                <a:cs typeface="Tahoma" panose="020B0604030504040204" pitchFamily="34" charset="0"/>
              </a:rPr>
              <a:t>CVV LOGO</a:t>
            </a:r>
            <a:endParaRPr lang="en-US" sz="900" dirty="0">
              <a:latin typeface="Tahoma" panose="020B0604030504040204" pitchFamily="34" charset="0"/>
            </a:endParaRPr>
          </a:p>
        </p:txBody>
      </p:sp>
      <p:sp>
        <p:nvSpPr>
          <p:cNvPr id="4" name="Text 2"/>
          <p:cNvSpPr txBox="1"/>
          <p:nvPr/>
        </p:nvSpPr>
        <p:spPr>
          <a:xfrm>
            <a:off x="502920" y="292608"/>
            <a:ext cx="9905695" cy="566928"/>
          </a:xfrm>
          <a:prstGeom prst="rect">
            <a:avLst/>
          </a:prstGeom>
          <a:noFill/>
          <a:ln/>
        </p:spPr>
        <p:txBody>
          <a:bodyPr wrap="square" lIns="0" tIns="0" rIns="0" bIns="0" rtlCol="0" anchor="ctr"/>
          <a:lstStyle/>
          <a:p>
            <a:pPr marL="0" indent="0" algn="l">
              <a:buNone/>
            </a:pPr>
            <a:r>
              <a:rPr lang="en-US" sz="3000" b="1" kern="0" spc="50" dirty="0">
                <a:solidFill>
                  <a:srgbClr val="EAF0FA"/>
                </a:solidFill>
                <a:latin typeface="Tahoma" panose="020B0604030504040204" pitchFamily="34" charset="0"/>
                <a:ea typeface="Tahoma" panose="020B0604030504040204" pitchFamily="34" charset="0"/>
                <a:cs typeface="Tahoma" panose="020B0604030504040204" pitchFamily="34" charset="0"/>
              </a:rPr>
              <a:t>Expected Outcomes</a:t>
            </a:r>
            <a:endParaRPr lang="en-US" sz="3000" dirty="0">
              <a:latin typeface="Tahoma" panose="020B0604030504040204" pitchFamily="34" charset="0"/>
            </a:endParaRPr>
          </a:p>
        </p:txBody>
      </p:sp>
      <p:sp>
        <p:nvSpPr>
          <p:cNvPr id="5" name="Text 3"/>
          <p:cNvSpPr txBox="1"/>
          <p:nvPr/>
        </p:nvSpPr>
        <p:spPr>
          <a:xfrm>
            <a:off x="502920" y="18288"/>
            <a:ext cx="5486400" cy="256032"/>
          </a:xfrm>
          <a:prstGeom prst="rect">
            <a:avLst/>
          </a:prstGeom>
          <a:noFill/>
          <a:ln/>
        </p:spPr>
        <p:txBody>
          <a:bodyPr wrap="square" lIns="0" tIns="0" rIns="0" bIns="0" rtlCol="0" anchor="ctr"/>
          <a:lstStyle/>
          <a:p>
            <a:pPr marL="0" indent="0" algn="l">
              <a:buNone/>
            </a:pPr>
            <a:r>
              <a:rPr lang="en-US" sz="1100" b="1" kern="0" spc="120" dirty="0">
                <a:solidFill>
                  <a:srgbClr val="22D3EE"/>
                </a:solidFill>
                <a:latin typeface="Tahoma" panose="020B0604030504040204" pitchFamily="34" charset="0"/>
                <a:ea typeface="Tahoma" panose="020B0604030504040204" pitchFamily="34" charset="0"/>
                <a:cs typeface="Tahoma" panose="020B0604030504040204" pitchFamily="34" charset="0"/>
              </a:rPr>
              <a:t>WHAT THE PROJECT DELIVERS</a:t>
            </a:r>
            <a:endParaRPr lang="en-US" sz="1100" dirty="0">
              <a:latin typeface="Tahoma" panose="020B0604030504040204" pitchFamily="34" charset="0"/>
            </a:endParaRPr>
          </a:p>
        </p:txBody>
      </p:sp>
      <p:sp>
        <p:nvSpPr>
          <p:cNvPr id="7" name="Text 5"/>
          <p:cNvSpPr txBox="1"/>
          <p:nvPr/>
        </p:nvSpPr>
        <p:spPr>
          <a:xfrm>
            <a:off x="11140135" y="6473952"/>
            <a:ext cx="548640" cy="274320"/>
          </a:xfrm>
          <a:prstGeom prst="rect">
            <a:avLst/>
          </a:prstGeom>
          <a:noFill/>
          <a:ln/>
        </p:spPr>
        <p:txBody>
          <a:bodyPr wrap="square" lIns="0" tIns="0" rIns="0" bIns="0" rtlCol="0" anchor="ctr"/>
          <a:lstStyle/>
          <a:p>
            <a:pPr marL="0" indent="0" algn="r">
              <a:buNone/>
            </a:pPr>
            <a:r>
              <a:rPr lang="en-US" sz="900" dirty="0">
                <a:solidFill>
                  <a:srgbClr val="5B6B85"/>
                </a:solidFill>
                <a:latin typeface="Tahoma" panose="020B0604030504040204" pitchFamily="34" charset="0"/>
                <a:ea typeface="Tahoma" panose="020B0604030504040204" pitchFamily="34" charset="0"/>
                <a:cs typeface="Tahoma" panose="020B0604030504040204" pitchFamily="34" charset="0"/>
              </a:rPr>
              <a:t>11</a:t>
            </a:r>
            <a:endParaRPr lang="en-US" sz="900" dirty="0">
              <a:latin typeface="Tahoma" panose="020B0604030504040204" pitchFamily="34" charset="0"/>
            </a:endParaRPr>
          </a:p>
        </p:txBody>
      </p:sp>
      <p:sp>
        <p:nvSpPr>
          <p:cNvPr id="8" name="Shape 6"/>
          <p:cNvSpPr/>
          <p:nvPr/>
        </p:nvSpPr>
        <p:spPr>
          <a:xfrm>
            <a:off x="502920" y="6401320"/>
            <a:ext cx="11185855" cy="0"/>
          </a:xfrm>
          <a:prstGeom prst="line">
            <a:avLst/>
          </a:prstGeom>
          <a:noFill/>
          <a:ln w="9525">
            <a:solidFill>
              <a:srgbClr val="24314F"/>
            </a:solidFill>
            <a:prstDash val="solid"/>
          </a:ln>
        </p:spPr>
        <p:txBody>
          <a:bodyPr/>
          <a:lstStyle/>
          <a:p>
            <a:endParaRPr/>
          </a:p>
        </p:txBody>
      </p:sp>
      <p:sp>
        <p:nvSpPr>
          <p:cNvPr id="9" name="Shape 7"/>
          <p:cNvSpPr/>
          <p:nvPr/>
        </p:nvSpPr>
        <p:spPr>
          <a:xfrm>
            <a:off x="502920" y="1143000"/>
            <a:ext cx="5432908" cy="2377440"/>
          </a:xfrm>
          <a:prstGeom prst="roundRect">
            <a:avLst>
              <a:gd name="adj" fmla="val 3846"/>
            </a:avLst>
          </a:prstGeom>
          <a:solidFill>
            <a:srgbClr val="121B30"/>
          </a:solidFill>
          <a:ln/>
        </p:spPr>
        <p:txBody>
          <a:bodyPr/>
          <a:lstStyle/>
          <a:p>
            <a:endParaRPr/>
          </a:p>
        </p:txBody>
      </p:sp>
      <p:sp>
        <p:nvSpPr>
          <p:cNvPr id="10" name="Shape 8"/>
          <p:cNvSpPr/>
          <p:nvPr/>
        </p:nvSpPr>
        <p:spPr>
          <a:xfrm>
            <a:off x="777240" y="1581049"/>
            <a:ext cx="566928" cy="566928"/>
          </a:xfrm>
          <a:prstGeom prst="roundRect">
            <a:avLst>
              <a:gd name="adj" fmla="val 19355"/>
            </a:avLst>
          </a:prstGeom>
          <a:solidFill>
            <a:srgbClr val="18233C"/>
          </a:solidFill>
          <a:ln/>
        </p:spPr>
        <p:txBody>
          <a:bodyPr/>
          <a:lstStyle/>
          <a:p>
            <a:endParaRPr/>
          </a:p>
        </p:txBody>
      </p:sp>
      <p:pic>
        <p:nvPicPr>
          <p:cNvPr id="11" name="Image 0" descr="/home/claude/icons/ic_check.png"/>
          <p:cNvPicPr>
            <a:picLocks noChangeAspect="1"/>
          </p:cNvPicPr>
          <p:nvPr/>
        </p:nvPicPr>
        <p:blipFill>
          <a:blip r:embed="rId3"/>
          <a:stretch>
            <a:fillRect/>
          </a:stretch>
        </p:blipFill>
        <p:spPr>
          <a:xfrm>
            <a:off x="914400" y="1718209"/>
            <a:ext cx="292608" cy="292608"/>
          </a:xfrm>
          <a:prstGeom prst="rect">
            <a:avLst/>
          </a:prstGeom>
        </p:spPr>
      </p:pic>
      <p:sp>
        <p:nvSpPr>
          <p:cNvPr id="12" name="Text 9"/>
          <p:cNvSpPr txBox="1"/>
          <p:nvPr/>
        </p:nvSpPr>
        <p:spPr>
          <a:xfrm>
            <a:off x="1508760" y="1599337"/>
            <a:ext cx="4152748" cy="548640"/>
          </a:xfrm>
          <a:prstGeom prst="rect">
            <a:avLst/>
          </a:prstGeom>
          <a:noFill/>
          <a:ln/>
        </p:spPr>
        <p:txBody>
          <a:bodyPr wrap="square" lIns="0" tIns="0" rIns="0" bIns="0" rtlCol="0" anchor="ctr"/>
          <a:lstStyle/>
          <a:p>
            <a:pPr marL="0" indent="0">
              <a:buNone/>
            </a:pPr>
            <a:r>
              <a:rPr lang="en-US" sz="1600" b="1" dirty="0">
                <a:solidFill>
                  <a:srgbClr val="EAF0FA"/>
                </a:solidFill>
                <a:latin typeface="Tahoma" panose="020B0604030504040204" pitchFamily="34" charset="0"/>
                <a:ea typeface="Tahoma" panose="020B0604030504040204" pitchFamily="34" charset="0"/>
                <a:cs typeface="Tahoma" panose="020B0604030504040204" pitchFamily="34" charset="0"/>
              </a:rPr>
              <a:t>Functional Application</a:t>
            </a:r>
            <a:endParaRPr lang="en-US" sz="1600" dirty="0">
              <a:latin typeface="Tahoma" panose="020B0604030504040204" pitchFamily="34" charset="0"/>
            </a:endParaRPr>
          </a:p>
        </p:txBody>
      </p:sp>
      <p:sp>
        <p:nvSpPr>
          <p:cNvPr id="13" name="Text 10"/>
          <p:cNvSpPr txBox="1"/>
          <p:nvPr/>
        </p:nvSpPr>
        <p:spPr>
          <a:xfrm>
            <a:off x="795528" y="2330857"/>
            <a:ext cx="4847692" cy="1188720"/>
          </a:xfrm>
          <a:prstGeom prst="rect">
            <a:avLst/>
          </a:prstGeom>
          <a:noFill/>
          <a:ln/>
        </p:spPr>
        <p:txBody>
          <a:bodyPr wrap="square" lIns="0" tIns="0" rIns="0" bIns="0" rtlCol="0" anchor="t"/>
          <a:lstStyle/>
          <a:p>
            <a:pPr marL="0" indent="0">
              <a:lnSpc>
                <a:spcPct val="125000"/>
              </a:lnSpc>
              <a:buNone/>
            </a:pPr>
            <a:r>
              <a:rPr lang="en-US" sz="1300" dirty="0">
                <a:solidFill>
                  <a:srgbClr val="94A3B8"/>
                </a:solidFill>
                <a:latin typeface="Tahoma" panose="020B0604030504040204" pitchFamily="34" charset="0"/>
                <a:ea typeface="Tahoma" panose="020B0604030504040204" pitchFamily="34" charset="0"/>
                <a:cs typeface="Tahoma" panose="020B0604030504040204" pitchFamily="34" charset="0"/>
              </a:rPr>
              <a:t>A fully functional web application that parses bank statements and auto-categorizes transactions</a:t>
            </a:r>
            <a:endParaRPr lang="en-US" sz="1300" dirty="0">
              <a:latin typeface="Tahoma" panose="020B0604030504040204" pitchFamily="34" charset="0"/>
            </a:endParaRPr>
          </a:p>
        </p:txBody>
      </p:sp>
      <p:sp>
        <p:nvSpPr>
          <p:cNvPr id="14" name="Shape 11"/>
          <p:cNvSpPr/>
          <p:nvPr/>
        </p:nvSpPr>
        <p:spPr>
          <a:xfrm>
            <a:off x="6255868" y="1143000"/>
            <a:ext cx="5432908" cy="2377440"/>
          </a:xfrm>
          <a:prstGeom prst="roundRect">
            <a:avLst>
              <a:gd name="adj" fmla="val 3846"/>
            </a:avLst>
          </a:prstGeom>
          <a:solidFill>
            <a:srgbClr val="121B30"/>
          </a:solidFill>
          <a:ln/>
        </p:spPr>
        <p:txBody>
          <a:bodyPr/>
          <a:lstStyle/>
          <a:p>
            <a:endParaRPr/>
          </a:p>
        </p:txBody>
      </p:sp>
      <p:sp>
        <p:nvSpPr>
          <p:cNvPr id="15" name="Shape 12"/>
          <p:cNvSpPr/>
          <p:nvPr/>
        </p:nvSpPr>
        <p:spPr>
          <a:xfrm>
            <a:off x="6530188" y="1581049"/>
            <a:ext cx="566928" cy="566928"/>
          </a:xfrm>
          <a:prstGeom prst="roundRect">
            <a:avLst>
              <a:gd name="adj" fmla="val 19355"/>
            </a:avLst>
          </a:prstGeom>
          <a:solidFill>
            <a:srgbClr val="18233C"/>
          </a:solidFill>
          <a:ln/>
        </p:spPr>
        <p:txBody>
          <a:bodyPr/>
          <a:lstStyle/>
          <a:p>
            <a:endParaRPr/>
          </a:p>
        </p:txBody>
      </p:sp>
      <p:pic>
        <p:nvPicPr>
          <p:cNvPr id="16" name="Image 1" descr="/home/claude/icons/ic_dashboard.png"/>
          <p:cNvPicPr>
            <a:picLocks noChangeAspect="1"/>
          </p:cNvPicPr>
          <p:nvPr/>
        </p:nvPicPr>
        <p:blipFill>
          <a:blip r:embed="rId4"/>
          <a:stretch>
            <a:fillRect/>
          </a:stretch>
        </p:blipFill>
        <p:spPr>
          <a:xfrm>
            <a:off x="6667348" y="1718209"/>
            <a:ext cx="292608" cy="292608"/>
          </a:xfrm>
          <a:prstGeom prst="rect">
            <a:avLst/>
          </a:prstGeom>
        </p:spPr>
      </p:pic>
      <p:sp>
        <p:nvSpPr>
          <p:cNvPr id="17" name="Text 13"/>
          <p:cNvSpPr txBox="1"/>
          <p:nvPr/>
        </p:nvSpPr>
        <p:spPr>
          <a:xfrm>
            <a:off x="7261708" y="1599337"/>
            <a:ext cx="4152748" cy="548640"/>
          </a:xfrm>
          <a:prstGeom prst="rect">
            <a:avLst/>
          </a:prstGeom>
          <a:noFill/>
          <a:ln/>
        </p:spPr>
        <p:txBody>
          <a:bodyPr wrap="square" lIns="0" tIns="0" rIns="0" bIns="0" rtlCol="0" anchor="ctr"/>
          <a:lstStyle/>
          <a:p>
            <a:pPr marL="0" indent="0">
              <a:buNone/>
            </a:pPr>
            <a:r>
              <a:rPr lang="en-US" sz="1600" b="1" dirty="0">
                <a:solidFill>
                  <a:srgbClr val="EAF0FA"/>
                </a:solidFill>
                <a:latin typeface="Tahoma" panose="020B0604030504040204" pitchFamily="34" charset="0"/>
                <a:ea typeface="Tahoma" panose="020B0604030504040204" pitchFamily="34" charset="0"/>
                <a:cs typeface="Tahoma" panose="020B0604030504040204" pitchFamily="34" charset="0"/>
              </a:rPr>
              <a:t>Real-Time Dashboard</a:t>
            </a:r>
            <a:endParaRPr lang="en-US" sz="1600" dirty="0">
              <a:latin typeface="Tahoma" panose="020B0604030504040204" pitchFamily="34" charset="0"/>
            </a:endParaRPr>
          </a:p>
        </p:txBody>
      </p:sp>
      <p:sp>
        <p:nvSpPr>
          <p:cNvPr id="18" name="Text 14"/>
          <p:cNvSpPr txBox="1"/>
          <p:nvPr/>
        </p:nvSpPr>
        <p:spPr>
          <a:xfrm>
            <a:off x="6548476" y="2330857"/>
            <a:ext cx="4847692" cy="1188720"/>
          </a:xfrm>
          <a:prstGeom prst="rect">
            <a:avLst/>
          </a:prstGeom>
          <a:noFill/>
          <a:ln/>
        </p:spPr>
        <p:txBody>
          <a:bodyPr wrap="square" lIns="0" tIns="0" rIns="0" bIns="0" rtlCol="0" anchor="t"/>
          <a:lstStyle/>
          <a:p>
            <a:pPr marL="0" indent="0">
              <a:lnSpc>
                <a:spcPct val="125000"/>
              </a:lnSpc>
              <a:buNone/>
            </a:pPr>
            <a:r>
              <a:rPr lang="en-US" sz="1300" dirty="0">
                <a:solidFill>
                  <a:srgbClr val="94A3B8"/>
                </a:solidFill>
                <a:latin typeface="Tahoma" panose="020B0604030504040204" pitchFamily="34" charset="0"/>
                <a:ea typeface="Tahoma" panose="020B0604030504040204" pitchFamily="34" charset="0"/>
                <a:cs typeface="Tahoma" panose="020B0604030504040204" pitchFamily="34" charset="0"/>
              </a:rPr>
              <a:t>A real-time dashboard showing income, expenses, savings and category-wise spending</a:t>
            </a:r>
            <a:endParaRPr lang="en-US" sz="1300" dirty="0">
              <a:latin typeface="Tahoma" panose="020B0604030504040204" pitchFamily="34" charset="0"/>
            </a:endParaRPr>
          </a:p>
        </p:txBody>
      </p:sp>
      <p:sp>
        <p:nvSpPr>
          <p:cNvPr id="19" name="Shape 15"/>
          <p:cNvSpPr/>
          <p:nvPr/>
        </p:nvSpPr>
        <p:spPr>
          <a:xfrm>
            <a:off x="502920" y="3840480"/>
            <a:ext cx="5432908" cy="2377440"/>
          </a:xfrm>
          <a:prstGeom prst="roundRect">
            <a:avLst>
              <a:gd name="adj" fmla="val 3846"/>
            </a:avLst>
          </a:prstGeom>
          <a:solidFill>
            <a:srgbClr val="121B30"/>
          </a:solidFill>
          <a:ln/>
        </p:spPr>
        <p:txBody>
          <a:bodyPr/>
          <a:lstStyle/>
          <a:p>
            <a:endParaRPr/>
          </a:p>
        </p:txBody>
      </p:sp>
      <p:sp>
        <p:nvSpPr>
          <p:cNvPr id="20" name="Shape 16"/>
          <p:cNvSpPr/>
          <p:nvPr/>
        </p:nvSpPr>
        <p:spPr>
          <a:xfrm>
            <a:off x="777240" y="4278529"/>
            <a:ext cx="566928" cy="566928"/>
          </a:xfrm>
          <a:prstGeom prst="roundRect">
            <a:avLst>
              <a:gd name="adj" fmla="val 19355"/>
            </a:avLst>
          </a:prstGeom>
          <a:solidFill>
            <a:srgbClr val="18233C"/>
          </a:solidFill>
          <a:ln/>
        </p:spPr>
        <p:txBody>
          <a:bodyPr/>
          <a:lstStyle/>
          <a:p>
            <a:endParaRPr/>
          </a:p>
        </p:txBody>
      </p:sp>
      <p:pic>
        <p:nvPicPr>
          <p:cNvPr id="21" name="Image 2" descr="/home/claude/icons/ic_bell.png"/>
          <p:cNvPicPr>
            <a:picLocks noChangeAspect="1"/>
          </p:cNvPicPr>
          <p:nvPr/>
        </p:nvPicPr>
        <p:blipFill>
          <a:blip r:embed="rId5"/>
          <a:stretch>
            <a:fillRect/>
          </a:stretch>
        </p:blipFill>
        <p:spPr>
          <a:xfrm>
            <a:off x="914400" y="4415689"/>
            <a:ext cx="292608" cy="292608"/>
          </a:xfrm>
          <a:prstGeom prst="rect">
            <a:avLst/>
          </a:prstGeom>
        </p:spPr>
      </p:pic>
      <p:sp>
        <p:nvSpPr>
          <p:cNvPr id="22" name="Text 17"/>
          <p:cNvSpPr txBox="1"/>
          <p:nvPr/>
        </p:nvSpPr>
        <p:spPr>
          <a:xfrm>
            <a:off x="1508760" y="4296817"/>
            <a:ext cx="4152748" cy="548640"/>
          </a:xfrm>
          <a:prstGeom prst="rect">
            <a:avLst/>
          </a:prstGeom>
          <a:noFill/>
          <a:ln/>
        </p:spPr>
        <p:txBody>
          <a:bodyPr wrap="square" lIns="0" tIns="0" rIns="0" bIns="0" rtlCol="0" anchor="ctr"/>
          <a:lstStyle/>
          <a:p>
            <a:pPr marL="0" indent="0">
              <a:buNone/>
            </a:pPr>
            <a:r>
              <a:rPr lang="en-US" sz="1600" b="1" dirty="0">
                <a:solidFill>
                  <a:srgbClr val="EAF0FA"/>
                </a:solidFill>
                <a:latin typeface="Tahoma" panose="020B0604030504040204" pitchFamily="34" charset="0"/>
                <a:ea typeface="Tahoma" panose="020B0604030504040204" pitchFamily="34" charset="0"/>
                <a:cs typeface="Tahoma" panose="020B0604030504040204" pitchFamily="34" charset="0"/>
              </a:rPr>
              <a:t>Alerts &amp; AI Suggestions</a:t>
            </a:r>
            <a:endParaRPr lang="en-US" sz="1600" dirty="0">
              <a:latin typeface="Tahoma" panose="020B0604030504040204" pitchFamily="34" charset="0"/>
            </a:endParaRPr>
          </a:p>
        </p:txBody>
      </p:sp>
      <p:sp>
        <p:nvSpPr>
          <p:cNvPr id="23" name="Text 18"/>
          <p:cNvSpPr txBox="1"/>
          <p:nvPr/>
        </p:nvSpPr>
        <p:spPr>
          <a:xfrm>
            <a:off x="795528" y="5028337"/>
            <a:ext cx="4847692" cy="1188720"/>
          </a:xfrm>
          <a:prstGeom prst="rect">
            <a:avLst/>
          </a:prstGeom>
          <a:noFill/>
          <a:ln/>
        </p:spPr>
        <p:txBody>
          <a:bodyPr wrap="square" lIns="0" tIns="0" rIns="0" bIns="0" rtlCol="0" anchor="t"/>
          <a:lstStyle/>
          <a:p>
            <a:pPr marL="0" indent="0">
              <a:lnSpc>
                <a:spcPct val="125000"/>
              </a:lnSpc>
              <a:buNone/>
            </a:pPr>
            <a:r>
              <a:rPr lang="en-US" sz="1300" dirty="0">
                <a:solidFill>
                  <a:srgbClr val="94A3B8"/>
                </a:solidFill>
                <a:latin typeface="Tahoma" panose="020B0604030504040204" pitchFamily="34" charset="0"/>
                <a:ea typeface="Tahoma" panose="020B0604030504040204" pitchFamily="34" charset="0"/>
                <a:cs typeface="Tahoma" panose="020B0604030504040204" pitchFamily="34" charset="0"/>
              </a:rPr>
              <a:t>Automated budget alerts and AI-generated personalized savings suggestions</a:t>
            </a:r>
            <a:endParaRPr lang="en-US" sz="1300" dirty="0">
              <a:latin typeface="Tahoma" panose="020B0604030504040204" pitchFamily="34" charset="0"/>
            </a:endParaRPr>
          </a:p>
        </p:txBody>
      </p:sp>
      <p:sp>
        <p:nvSpPr>
          <p:cNvPr id="24" name="Shape 19"/>
          <p:cNvSpPr/>
          <p:nvPr/>
        </p:nvSpPr>
        <p:spPr>
          <a:xfrm>
            <a:off x="6255868" y="3840480"/>
            <a:ext cx="5432908" cy="2377440"/>
          </a:xfrm>
          <a:prstGeom prst="roundRect">
            <a:avLst>
              <a:gd name="adj" fmla="val 3846"/>
            </a:avLst>
          </a:prstGeom>
          <a:solidFill>
            <a:srgbClr val="121B30"/>
          </a:solidFill>
          <a:ln/>
        </p:spPr>
        <p:txBody>
          <a:bodyPr/>
          <a:lstStyle/>
          <a:p>
            <a:endParaRPr/>
          </a:p>
        </p:txBody>
      </p:sp>
      <p:sp>
        <p:nvSpPr>
          <p:cNvPr id="25" name="Shape 20"/>
          <p:cNvSpPr/>
          <p:nvPr/>
        </p:nvSpPr>
        <p:spPr>
          <a:xfrm>
            <a:off x="6530188" y="4278529"/>
            <a:ext cx="566928" cy="566928"/>
          </a:xfrm>
          <a:prstGeom prst="roundRect">
            <a:avLst>
              <a:gd name="adj" fmla="val 19355"/>
            </a:avLst>
          </a:prstGeom>
          <a:solidFill>
            <a:srgbClr val="18233C"/>
          </a:solidFill>
          <a:ln/>
        </p:spPr>
        <p:txBody>
          <a:bodyPr/>
          <a:lstStyle/>
          <a:p>
            <a:endParaRPr/>
          </a:p>
        </p:txBody>
      </p:sp>
      <p:pic>
        <p:nvPicPr>
          <p:cNvPr id="26" name="Image 3" descr="/home/claude/icons/ic_award.png"/>
          <p:cNvPicPr>
            <a:picLocks noChangeAspect="1"/>
          </p:cNvPicPr>
          <p:nvPr/>
        </p:nvPicPr>
        <p:blipFill>
          <a:blip r:embed="rId6"/>
          <a:stretch>
            <a:fillRect/>
          </a:stretch>
        </p:blipFill>
        <p:spPr>
          <a:xfrm>
            <a:off x="6667348" y="4415689"/>
            <a:ext cx="292608" cy="292608"/>
          </a:xfrm>
          <a:prstGeom prst="rect">
            <a:avLst/>
          </a:prstGeom>
        </p:spPr>
      </p:pic>
      <p:sp>
        <p:nvSpPr>
          <p:cNvPr id="27" name="Text 21"/>
          <p:cNvSpPr txBox="1"/>
          <p:nvPr/>
        </p:nvSpPr>
        <p:spPr>
          <a:xfrm>
            <a:off x="7261708" y="4296817"/>
            <a:ext cx="4152748" cy="548640"/>
          </a:xfrm>
          <a:prstGeom prst="rect">
            <a:avLst/>
          </a:prstGeom>
          <a:noFill/>
          <a:ln/>
        </p:spPr>
        <p:txBody>
          <a:bodyPr wrap="square" lIns="0" tIns="0" rIns="0" bIns="0" rtlCol="0" anchor="ctr"/>
          <a:lstStyle/>
          <a:p>
            <a:pPr marL="0" indent="0">
              <a:buNone/>
            </a:pPr>
            <a:r>
              <a:rPr lang="en-US" sz="1600" b="1" dirty="0">
                <a:solidFill>
                  <a:srgbClr val="EAF0FA"/>
                </a:solidFill>
                <a:latin typeface="Tahoma" panose="020B0604030504040204" pitchFamily="34" charset="0"/>
                <a:ea typeface="Tahoma" panose="020B0604030504040204" pitchFamily="34" charset="0"/>
                <a:cs typeface="Tahoma" panose="020B0604030504040204" pitchFamily="34" charset="0"/>
              </a:rPr>
              <a:t>Portfolio-Ready System</a:t>
            </a:r>
            <a:endParaRPr lang="en-US" sz="1600" dirty="0">
              <a:latin typeface="Tahoma" panose="020B0604030504040204" pitchFamily="34" charset="0"/>
            </a:endParaRPr>
          </a:p>
        </p:txBody>
      </p:sp>
      <p:sp>
        <p:nvSpPr>
          <p:cNvPr id="28" name="Text 22"/>
          <p:cNvSpPr txBox="1"/>
          <p:nvPr/>
        </p:nvSpPr>
        <p:spPr>
          <a:xfrm>
            <a:off x="6548476" y="5028337"/>
            <a:ext cx="4847692" cy="1188720"/>
          </a:xfrm>
          <a:prstGeom prst="rect">
            <a:avLst/>
          </a:prstGeom>
          <a:noFill/>
          <a:ln/>
        </p:spPr>
        <p:txBody>
          <a:bodyPr wrap="square" lIns="0" tIns="0" rIns="0" bIns="0" rtlCol="0" anchor="t"/>
          <a:lstStyle/>
          <a:p>
            <a:pPr marL="0" indent="0">
              <a:lnSpc>
                <a:spcPct val="125000"/>
              </a:lnSpc>
              <a:buNone/>
            </a:pPr>
            <a:r>
              <a:rPr lang="en-US" sz="1300" dirty="0">
                <a:solidFill>
                  <a:srgbClr val="94A3B8"/>
                </a:solidFill>
                <a:latin typeface="Tahoma" panose="020B0604030504040204" pitchFamily="34" charset="0"/>
                <a:ea typeface="Tahoma" panose="020B0604030504040204" pitchFamily="34" charset="0"/>
                <a:cs typeface="Tahoma" panose="020B0604030504040204" pitchFamily="34" charset="0"/>
              </a:rPr>
              <a:t>A deployable, portfolio-ready full-stack application demonstrating practical AI integration</a:t>
            </a:r>
            <a:endParaRPr lang="en-US" sz="1300" dirty="0">
              <a:latin typeface="Tahoma" panose="020B0604030504040204" pitchFamily="34" charset="0"/>
            </a:endParaRPr>
          </a:p>
        </p:txBody>
      </p:sp>
      <p:pic>
        <p:nvPicPr>
          <p:cNvPr id="31" name="Picture 30">
            <a:extLst>
              <a:ext uri="{FF2B5EF4-FFF2-40B4-BE49-F238E27FC236}">
                <a16:creationId xmlns:a16="http://schemas.microsoft.com/office/drawing/2014/main" id="{DDCCC48D-539D-53E8-785F-6D0CB8E2A6C3}"/>
              </a:ext>
            </a:extLst>
          </p:cNvPr>
          <p:cNvPicPr>
            <a:picLocks noChangeAspect="1"/>
          </p:cNvPicPr>
          <p:nvPr/>
        </p:nvPicPr>
        <p:blipFill>
          <a:blip r:embed="rId7"/>
          <a:srcRect r="15270" b="26538"/>
          <a:stretch>
            <a:fillRect/>
          </a:stretch>
        </p:blipFill>
        <p:spPr>
          <a:xfrm>
            <a:off x="10416983" y="236798"/>
            <a:ext cx="1440000" cy="527673"/>
          </a:xfrm>
          <a:prstGeom prst="round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0F1F"/>
        </a:solidFill>
        <a:effectLst/>
      </p:bgPr>
    </p:bg>
    <p:spTree>
      <p:nvGrpSpPr>
        <p:cNvPr id="1" name=""/>
        <p:cNvGrpSpPr/>
        <p:nvPr/>
      </p:nvGrpSpPr>
      <p:grpSpPr>
        <a:xfrm>
          <a:off x="0" y="0"/>
          <a:ext cx="0" cy="0"/>
          <a:chOff x="0" y="0"/>
          <a:chExt cx="0" cy="0"/>
        </a:xfrm>
      </p:grpSpPr>
      <p:sp>
        <p:nvSpPr>
          <p:cNvPr id="2" name="Shape 0"/>
          <p:cNvSpPr/>
          <p:nvPr/>
        </p:nvSpPr>
        <p:spPr>
          <a:xfrm>
            <a:off x="10637215" y="320040"/>
            <a:ext cx="1051560" cy="384048"/>
          </a:xfrm>
          <a:prstGeom prst="roundRect">
            <a:avLst>
              <a:gd name="adj" fmla="val 14286"/>
            </a:avLst>
          </a:prstGeom>
          <a:solidFill>
            <a:srgbClr val="18233C"/>
          </a:solidFill>
          <a:ln w="9525">
            <a:solidFill>
              <a:srgbClr val="24314F"/>
            </a:solidFill>
            <a:prstDash val="dash"/>
          </a:ln>
        </p:spPr>
        <p:txBody>
          <a:bodyPr/>
          <a:lstStyle/>
          <a:p>
            <a:endParaRPr/>
          </a:p>
        </p:txBody>
      </p:sp>
      <p:sp>
        <p:nvSpPr>
          <p:cNvPr id="3" name="Text 1"/>
          <p:cNvSpPr txBox="1"/>
          <p:nvPr/>
        </p:nvSpPr>
        <p:spPr>
          <a:xfrm>
            <a:off x="10637215" y="320040"/>
            <a:ext cx="1051560" cy="384048"/>
          </a:xfrm>
          <a:prstGeom prst="rect">
            <a:avLst/>
          </a:prstGeom>
          <a:noFill/>
          <a:ln/>
        </p:spPr>
        <p:txBody>
          <a:bodyPr wrap="square" lIns="0" tIns="0" rIns="0" bIns="0" rtlCol="0" anchor="ctr"/>
          <a:lstStyle/>
          <a:p>
            <a:pPr marL="0" indent="0" algn="ctr">
              <a:buNone/>
            </a:pPr>
            <a:r>
              <a:rPr lang="en-US" sz="900" b="1" dirty="0">
                <a:solidFill>
                  <a:srgbClr val="94A3B8"/>
                </a:solidFill>
                <a:latin typeface="Tahoma" panose="020B0604030504040204" pitchFamily="34" charset="0"/>
                <a:ea typeface="Tahoma" panose="020B0604030504040204" pitchFamily="34" charset="0"/>
                <a:cs typeface="Tahoma" panose="020B0604030504040204" pitchFamily="34" charset="0"/>
              </a:rPr>
              <a:t>CVV LOGO</a:t>
            </a:r>
            <a:endParaRPr lang="en-US" sz="900" dirty="0">
              <a:latin typeface="Tahoma" panose="020B0604030504040204" pitchFamily="34" charset="0"/>
            </a:endParaRPr>
          </a:p>
        </p:txBody>
      </p:sp>
      <p:sp>
        <p:nvSpPr>
          <p:cNvPr id="4" name="Text 2"/>
          <p:cNvSpPr txBox="1"/>
          <p:nvPr/>
        </p:nvSpPr>
        <p:spPr>
          <a:xfrm>
            <a:off x="502920" y="292608"/>
            <a:ext cx="9905695" cy="566928"/>
          </a:xfrm>
          <a:prstGeom prst="rect">
            <a:avLst/>
          </a:prstGeom>
          <a:noFill/>
          <a:ln/>
        </p:spPr>
        <p:txBody>
          <a:bodyPr wrap="square" lIns="0" tIns="0" rIns="0" bIns="0" rtlCol="0" anchor="ctr"/>
          <a:lstStyle/>
          <a:p>
            <a:pPr marL="0" indent="0" algn="l">
              <a:buNone/>
            </a:pPr>
            <a:r>
              <a:rPr lang="en-US" sz="3000" b="1" kern="0" spc="50" dirty="0">
                <a:solidFill>
                  <a:srgbClr val="EAF0FA"/>
                </a:solidFill>
                <a:latin typeface="Tahoma" panose="020B0604030504040204" pitchFamily="34" charset="0"/>
                <a:ea typeface="Tahoma" panose="020B0604030504040204" pitchFamily="34" charset="0"/>
                <a:cs typeface="Tahoma" panose="020B0604030504040204" pitchFamily="34" charset="0"/>
              </a:rPr>
              <a:t>Future Enhancements</a:t>
            </a:r>
            <a:endParaRPr lang="en-US" sz="3000" dirty="0">
              <a:latin typeface="Tahoma" panose="020B0604030504040204" pitchFamily="34" charset="0"/>
            </a:endParaRPr>
          </a:p>
        </p:txBody>
      </p:sp>
      <p:sp>
        <p:nvSpPr>
          <p:cNvPr id="5" name="Text 3"/>
          <p:cNvSpPr txBox="1"/>
          <p:nvPr/>
        </p:nvSpPr>
        <p:spPr>
          <a:xfrm>
            <a:off x="502920" y="18288"/>
            <a:ext cx="5486400" cy="256032"/>
          </a:xfrm>
          <a:prstGeom prst="rect">
            <a:avLst/>
          </a:prstGeom>
          <a:noFill/>
          <a:ln/>
        </p:spPr>
        <p:txBody>
          <a:bodyPr wrap="square" lIns="0" tIns="0" rIns="0" bIns="0" rtlCol="0" anchor="ctr"/>
          <a:lstStyle/>
          <a:p>
            <a:pPr marL="0" indent="0" algn="l">
              <a:buNone/>
            </a:pPr>
            <a:r>
              <a:rPr lang="en-US" sz="1100" b="1" kern="0" spc="120" dirty="0">
                <a:solidFill>
                  <a:srgbClr val="22D3EE"/>
                </a:solidFill>
                <a:latin typeface="Tahoma" panose="020B0604030504040204" pitchFamily="34" charset="0"/>
                <a:ea typeface="Tahoma" panose="020B0604030504040204" pitchFamily="34" charset="0"/>
                <a:cs typeface="Tahoma" panose="020B0604030504040204" pitchFamily="34" charset="0"/>
              </a:rPr>
              <a:t>LOOKING FORWARD</a:t>
            </a:r>
            <a:endParaRPr lang="en-US" sz="1100" dirty="0">
              <a:latin typeface="Tahoma" panose="020B0604030504040204" pitchFamily="34" charset="0"/>
            </a:endParaRPr>
          </a:p>
        </p:txBody>
      </p:sp>
      <p:sp>
        <p:nvSpPr>
          <p:cNvPr id="7" name="Text 5"/>
          <p:cNvSpPr txBox="1"/>
          <p:nvPr/>
        </p:nvSpPr>
        <p:spPr>
          <a:xfrm>
            <a:off x="11140135" y="6473952"/>
            <a:ext cx="548640" cy="274320"/>
          </a:xfrm>
          <a:prstGeom prst="rect">
            <a:avLst/>
          </a:prstGeom>
          <a:noFill/>
          <a:ln/>
        </p:spPr>
        <p:txBody>
          <a:bodyPr wrap="square" lIns="0" tIns="0" rIns="0" bIns="0" rtlCol="0" anchor="ctr"/>
          <a:lstStyle/>
          <a:p>
            <a:pPr marL="0" indent="0" algn="r">
              <a:buNone/>
            </a:pPr>
            <a:r>
              <a:rPr lang="en-US" sz="900" dirty="0">
                <a:solidFill>
                  <a:srgbClr val="5B6B85"/>
                </a:solidFill>
                <a:latin typeface="Tahoma" panose="020B0604030504040204" pitchFamily="34" charset="0"/>
                <a:ea typeface="Tahoma" panose="020B0604030504040204" pitchFamily="34" charset="0"/>
                <a:cs typeface="Tahoma" panose="020B0604030504040204" pitchFamily="34" charset="0"/>
              </a:rPr>
              <a:t>12</a:t>
            </a:r>
            <a:endParaRPr lang="en-US" sz="900" dirty="0">
              <a:latin typeface="Tahoma" panose="020B0604030504040204" pitchFamily="34" charset="0"/>
            </a:endParaRPr>
          </a:p>
        </p:txBody>
      </p:sp>
      <p:sp>
        <p:nvSpPr>
          <p:cNvPr id="8" name="Shape 6"/>
          <p:cNvSpPr/>
          <p:nvPr/>
        </p:nvSpPr>
        <p:spPr>
          <a:xfrm>
            <a:off x="502920" y="6400800"/>
            <a:ext cx="11185855" cy="0"/>
          </a:xfrm>
          <a:prstGeom prst="line">
            <a:avLst/>
          </a:prstGeom>
          <a:noFill/>
          <a:ln w="9525">
            <a:solidFill>
              <a:srgbClr val="24314F"/>
            </a:solidFill>
            <a:prstDash val="solid"/>
          </a:ln>
        </p:spPr>
        <p:txBody>
          <a:bodyPr/>
          <a:lstStyle/>
          <a:p>
            <a:endParaRPr/>
          </a:p>
        </p:txBody>
      </p:sp>
      <p:sp>
        <p:nvSpPr>
          <p:cNvPr id="9" name="Shape 7"/>
          <p:cNvSpPr/>
          <p:nvPr/>
        </p:nvSpPr>
        <p:spPr>
          <a:xfrm>
            <a:off x="502920" y="2039279"/>
            <a:ext cx="2556434" cy="2748376"/>
          </a:xfrm>
          <a:prstGeom prst="roundRect">
            <a:avLst>
              <a:gd name="adj" fmla="val 3577"/>
            </a:avLst>
          </a:prstGeom>
          <a:solidFill>
            <a:srgbClr val="121B30"/>
          </a:solidFill>
          <a:ln/>
        </p:spPr>
        <p:txBody>
          <a:bodyPr/>
          <a:lstStyle/>
          <a:p>
            <a:endParaRPr lang="en-IN" dirty="0"/>
          </a:p>
        </p:txBody>
      </p:sp>
      <p:sp>
        <p:nvSpPr>
          <p:cNvPr id="12" name="Shape 10"/>
          <p:cNvSpPr/>
          <p:nvPr/>
        </p:nvSpPr>
        <p:spPr>
          <a:xfrm>
            <a:off x="1529677" y="2412803"/>
            <a:ext cx="502920" cy="502920"/>
          </a:xfrm>
          <a:prstGeom prst="roundRect">
            <a:avLst>
              <a:gd name="adj" fmla="val 20000"/>
            </a:avLst>
          </a:prstGeom>
          <a:solidFill>
            <a:srgbClr val="18233C"/>
          </a:solidFill>
          <a:ln/>
        </p:spPr>
        <p:txBody>
          <a:bodyPr/>
          <a:lstStyle/>
          <a:p>
            <a:endParaRPr/>
          </a:p>
        </p:txBody>
      </p:sp>
      <p:pic>
        <p:nvPicPr>
          <p:cNvPr id="13" name="Image 0" descr="/home/claude/icons/ic_globe.png"/>
          <p:cNvPicPr>
            <a:picLocks noChangeAspect="1"/>
          </p:cNvPicPr>
          <p:nvPr/>
        </p:nvPicPr>
        <p:blipFill>
          <a:blip r:embed="rId3"/>
          <a:stretch>
            <a:fillRect/>
          </a:stretch>
        </p:blipFill>
        <p:spPr>
          <a:xfrm>
            <a:off x="1643977" y="2536247"/>
            <a:ext cx="274320" cy="274320"/>
          </a:xfrm>
          <a:prstGeom prst="rect">
            <a:avLst/>
          </a:prstGeom>
        </p:spPr>
      </p:pic>
      <p:sp>
        <p:nvSpPr>
          <p:cNvPr id="14" name="Text 11"/>
          <p:cNvSpPr txBox="1"/>
          <p:nvPr/>
        </p:nvSpPr>
        <p:spPr>
          <a:xfrm>
            <a:off x="667512" y="3123448"/>
            <a:ext cx="2227250" cy="640080"/>
          </a:xfrm>
          <a:prstGeom prst="rect">
            <a:avLst/>
          </a:prstGeom>
          <a:noFill/>
          <a:ln/>
        </p:spPr>
        <p:txBody>
          <a:bodyPr wrap="square" lIns="0" tIns="0" rIns="0" bIns="0" rtlCol="0" anchor="ctr"/>
          <a:lstStyle/>
          <a:p>
            <a:pPr marL="0" indent="0" algn="ctr">
              <a:lnSpc>
                <a:spcPct val="110000"/>
              </a:lnSpc>
              <a:buNone/>
            </a:pPr>
            <a:r>
              <a:rPr lang="en-US" sz="1350" b="1" dirty="0">
                <a:solidFill>
                  <a:srgbClr val="EAF0FA"/>
                </a:solidFill>
                <a:latin typeface="Tahoma" panose="020B0604030504040204" pitchFamily="34" charset="0"/>
                <a:ea typeface="Tahoma" panose="020B0604030504040204" pitchFamily="34" charset="0"/>
                <a:cs typeface="Tahoma" panose="020B0604030504040204" pitchFamily="34" charset="0"/>
              </a:rPr>
              <a:t>More Formats &amp; Currencies</a:t>
            </a:r>
            <a:endParaRPr lang="en-US" sz="1350" dirty="0">
              <a:latin typeface="Tahoma" panose="020B0604030504040204" pitchFamily="34" charset="0"/>
            </a:endParaRPr>
          </a:p>
        </p:txBody>
      </p:sp>
      <p:sp>
        <p:nvSpPr>
          <p:cNvPr id="15" name="Text 12"/>
          <p:cNvSpPr txBox="1"/>
          <p:nvPr/>
        </p:nvSpPr>
        <p:spPr>
          <a:xfrm>
            <a:off x="685800" y="3781816"/>
            <a:ext cx="2190674" cy="807432"/>
          </a:xfrm>
          <a:prstGeom prst="rect">
            <a:avLst/>
          </a:prstGeom>
          <a:noFill/>
          <a:ln/>
        </p:spPr>
        <p:txBody>
          <a:bodyPr wrap="square" lIns="0" tIns="0" rIns="0" bIns="0" rtlCol="0" anchor="t"/>
          <a:lstStyle/>
          <a:p>
            <a:pPr marL="0" indent="0" algn="ctr">
              <a:lnSpc>
                <a:spcPct val="125000"/>
              </a:lnSpc>
              <a:buNone/>
            </a:pPr>
            <a:r>
              <a:rPr lang="en-US" sz="1150" dirty="0">
                <a:solidFill>
                  <a:srgbClr val="94A3B8"/>
                </a:solidFill>
                <a:latin typeface="Tahoma" panose="020B0604030504040204" pitchFamily="34" charset="0"/>
                <a:ea typeface="Tahoma" panose="020B0604030504040204" pitchFamily="34" charset="0"/>
                <a:cs typeface="Tahoma" panose="020B0604030504040204" pitchFamily="34" charset="0"/>
              </a:rPr>
              <a:t>Support for more bank statement formats and multiple currencies</a:t>
            </a:r>
            <a:endParaRPr lang="en-US" sz="1150" dirty="0">
              <a:latin typeface="Tahoma" panose="020B0604030504040204" pitchFamily="34" charset="0"/>
            </a:endParaRPr>
          </a:p>
        </p:txBody>
      </p:sp>
      <p:sp>
        <p:nvSpPr>
          <p:cNvPr id="17" name="Shape 13"/>
          <p:cNvSpPr/>
          <p:nvPr/>
        </p:nvSpPr>
        <p:spPr>
          <a:xfrm>
            <a:off x="3379394" y="2039278"/>
            <a:ext cx="2556434" cy="2748376"/>
          </a:xfrm>
          <a:prstGeom prst="roundRect">
            <a:avLst>
              <a:gd name="adj" fmla="val 3577"/>
            </a:avLst>
          </a:prstGeom>
          <a:solidFill>
            <a:srgbClr val="121B30"/>
          </a:solidFill>
          <a:ln/>
        </p:spPr>
        <p:txBody>
          <a:bodyPr/>
          <a:lstStyle/>
          <a:p>
            <a:endParaRPr/>
          </a:p>
        </p:txBody>
      </p:sp>
      <p:sp>
        <p:nvSpPr>
          <p:cNvPr id="20" name="Shape 16"/>
          <p:cNvSpPr/>
          <p:nvPr/>
        </p:nvSpPr>
        <p:spPr>
          <a:xfrm>
            <a:off x="4406151" y="2412803"/>
            <a:ext cx="502920" cy="502920"/>
          </a:xfrm>
          <a:prstGeom prst="roundRect">
            <a:avLst>
              <a:gd name="adj" fmla="val 20000"/>
            </a:avLst>
          </a:prstGeom>
          <a:solidFill>
            <a:srgbClr val="18233C"/>
          </a:solidFill>
          <a:ln/>
        </p:spPr>
        <p:txBody>
          <a:bodyPr/>
          <a:lstStyle/>
          <a:p>
            <a:endParaRPr/>
          </a:p>
        </p:txBody>
      </p:sp>
      <p:pic>
        <p:nvPicPr>
          <p:cNvPr id="21" name="Image 2" descr="/home/claude/icons/ic_smartphone.png"/>
          <p:cNvPicPr>
            <a:picLocks noChangeAspect="1"/>
          </p:cNvPicPr>
          <p:nvPr/>
        </p:nvPicPr>
        <p:blipFill>
          <a:blip r:embed="rId4">
            <a:duotone>
              <a:prstClr val="black"/>
              <a:srgbClr val="3B83F8">
                <a:tint val="45000"/>
                <a:satMod val="400000"/>
              </a:srgbClr>
            </a:duotone>
          </a:blip>
          <a:stretch>
            <a:fillRect/>
          </a:stretch>
        </p:blipFill>
        <p:spPr>
          <a:xfrm>
            <a:off x="4520451" y="2536247"/>
            <a:ext cx="274320" cy="274320"/>
          </a:xfrm>
          <a:prstGeom prst="rect">
            <a:avLst/>
          </a:prstGeom>
        </p:spPr>
      </p:pic>
      <p:sp>
        <p:nvSpPr>
          <p:cNvPr id="22" name="Text 17"/>
          <p:cNvSpPr txBox="1"/>
          <p:nvPr/>
        </p:nvSpPr>
        <p:spPr>
          <a:xfrm>
            <a:off x="3543986" y="3120083"/>
            <a:ext cx="2227250" cy="640080"/>
          </a:xfrm>
          <a:prstGeom prst="rect">
            <a:avLst/>
          </a:prstGeom>
          <a:noFill/>
          <a:ln/>
        </p:spPr>
        <p:txBody>
          <a:bodyPr wrap="square" lIns="0" tIns="0" rIns="0" bIns="0" rtlCol="0" anchor="ctr"/>
          <a:lstStyle/>
          <a:p>
            <a:pPr marL="0" indent="0" algn="ctr">
              <a:lnSpc>
                <a:spcPct val="110000"/>
              </a:lnSpc>
              <a:buNone/>
            </a:pPr>
            <a:r>
              <a:rPr lang="en-US" sz="1350" b="1" dirty="0">
                <a:solidFill>
                  <a:srgbClr val="EAF0FA"/>
                </a:solidFill>
                <a:latin typeface="Tahoma" panose="020B0604030504040204" pitchFamily="34" charset="0"/>
                <a:ea typeface="Tahoma" panose="020B0604030504040204" pitchFamily="34" charset="0"/>
                <a:cs typeface="Tahoma" panose="020B0604030504040204" pitchFamily="34" charset="0"/>
              </a:rPr>
              <a:t>Mobile Application</a:t>
            </a:r>
            <a:endParaRPr lang="en-US" sz="1350" dirty="0">
              <a:latin typeface="Tahoma" panose="020B0604030504040204" pitchFamily="34" charset="0"/>
            </a:endParaRPr>
          </a:p>
        </p:txBody>
      </p:sp>
      <p:sp>
        <p:nvSpPr>
          <p:cNvPr id="23" name="Text 18"/>
          <p:cNvSpPr txBox="1"/>
          <p:nvPr/>
        </p:nvSpPr>
        <p:spPr>
          <a:xfrm>
            <a:off x="3562274" y="3778451"/>
            <a:ext cx="2190674" cy="2377440"/>
          </a:xfrm>
          <a:prstGeom prst="rect">
            <a:avLst/>
          </a:prstGeom>
          <a:noFill/>
          <a:ln/>
        </p:spPr>
        <p:txBody>
          <a:bodyPr wrap="square" lIns="0" tIns="0" rIns="0" bIns="0" rtlCol="0" anchor="t"/>
          <a:lstStyle/>
          <a:p>
            <a:pPr marL="0" indent="0" algn="ctr">
              <a:lnSpc>
                <a:spcPct val="125000"/>
              </a:lnSpc>
              <a:buNone/>
            </a:pPr>
            <a:r>
              <a:rPr lang="en-US" sz="1150" dirty="0">
                <a:solidFill>
                  <a:srgbClr val="94A3B8"/>
                </a:solidFill>
                <a:latin typeface="Tahoma" panose="020B0604030504040204" pitchFamily="34" charset="0"/>
                <a:ea typeface="Tahoma" panose="020B0604030504040204" pitchFamily="34" charset="0"/>
                <a:cs typeface="Tahoma" panose="020B0604030504040204" pitchFamily="34" charset="0"/>
              </a:rPr>
              <a:t>A mobile application version for on-the-go expense tracking</a:t>
            </a:r>
            <a:endParaRPr lang="en-US" sz="1150" dirty="0">
              <a:latin typeface="Tahoma" panose="020B0604030504040204" pitchFamily="34" charset="0"/>
            </a:endParaRPr>
          </a:p>
        </p:txBody>
      </p:sp>
      <p:sp>
        <p:nvSpPr>
          <p:cNvPr id="25" name="Shape 19"/>
          <p:cNvSpPr/>
          <p:nvPr/>
        </p:nvSpPr>
        <p:spPr>
          <a:xfrm>
            <a:off x="6255868" y="2039278"/>
            <a:ext cx="2556434" cy="2748377"/>
          </a:xfrm>
          <a:prstGeom prst="roundRect">
            <a:avLst>
              <a:gd name="adj" fmla="val 3577"/>
            </a:avLst>
          </a:prstGeom>
          <a:solidFill>
            <a:srgbClr val="121B30"/>
          </a:solidFill>
          <a:ln/>
        </p:spPr>
        <p:txBody>
          <a:bodyPr/>
          <a:lstStyle/>
          <a:p>
            <a:endParaRPr/>
          </a:p>
        </p:txBody>
      </p:sp>
      <p:sp>
        <p:nvSpPr>
          <p:cNvPr id="28" name="Shape 22"/>
          <p:cNvSpPr/>
          <p:nvPr/>
        </p:nvSpPr>
        <p:spPr>
          <a:xfrm>
            <a:off x="7282625" y="2412803"/>
            <a:ext cx="502920" cy="502920"/>
          </a:xfrm>
          <a:prstGeom prst="roundRect">
            <a:avLst>
              <a:gd name="adj" fmla="val 20000"/>
            </a:avLst>
          </a:prstGeom>
          <a:solidFill>
            <a:srgbClr val="18233C"/>
          </a:solidFill>
          <a:ln/>
        </p:spPr>
        <p:txBody>
          <a:bodyPr/>
          <a:lstStyle/>
          <a:p>
            <a:endParaRPr/>
          </a:p>
        </p:txBody>
      </p:sp>
      <p:pic>
        <p:nvPicPr>
          <p:cNvPr id="29" name="Image 4" descr="/home/claude/icons/ic_trendup.png"/>
          <p:cNvPicPr>
            <a:picLocks noChangeAspect="1"/>
          </p:cNvPicPr>
          <p:nvPr/>
        </p:nvPicPr>
        <p:blipFill>
          <a:blip r:embed="rId5"/>
          <a:stretch>
            <a:fillRect/>
          </a:stretch>
        </p:blipFill>
        <p:spPr>
          <a:xfrm>
            <a:off x="7396925" y="2536247"/>
            <a:ext cx="274320" cy="274320"/>
          </a:xfrm>
          <a:prstGeom prst="rect">
            <a:avLst/>
          </a:prstGeom>
        </p:spPr>
      </p:pic>
      <p:sp>
        <p:nvSpPr>
          <p:cNvPr id="30" name="Text 23"/>
          <p:cNvSpPr txBox="1"/>
          <p:nvPr/>
        </p:nvSpPr>
        <p:spPr>
          <a:xfrm>
            <a:off x="6402172" y="3123448"/>
            <a:ext cx="2227250" cy="640080"/>
          </a:xfrm>
          <a:prstGeom prst="rect">
            <a:avLst/>
          </a:prstGeom>
          <a:noFill/>
          <a:ln/>
        </p:spPr>
        <p:txBody>
          <a:bodyPr wrap="square" lIns="0" tIns="0" rIns="0" bIns="0" rtlCol="0" anchor="ctr"/>
          <a:lstStyle/>
          <a:p>
            <a:pPr marL="0" indent="0" algn="ctr">
              <a:lnSpc>
                <a:spcPct val="110000"/>
              </a:lnSpc>
              <a:buNone/>
            </a:pPr>
            <a:r>
              <a:rPr lang="en-US" sz="1350" b="1" dirty="0">
                <a:solidFill>
                  <a:srgbClr val="EAF0FA"/>
                </a:solidFill>
                <a:latin typeface="Tahoma" panose="020B0604030504040204" pitchFamily="34" charset="0"/>
                <a:ea typeface="Tahoma" panose="020B0604030504040204" pitchFamily="34" charset="0"/>
                <a:cs typeface="Tahoma" panose="020B0604030504040204" pitchFamily="34" charset="0"/>
              </a:rPr>
              <a:t>Predictive Analytics</a:t>
            </a:r>
            <a:endParaRPr lang="en-US" sz="1350" dirty="0">
              <a:latin typeface="Tahoma" panose="020B0604030504040204" pitchFamily="34" charset="0"/>
            </a:endParaRPr>
          </a:p>
        </p:txBody>
      </p:sp>
      <p:sp>
        <p:nvSpPr>
          <p:cNvPr id="31" name="Text 24"/>
          <p:cNvSpPr txBox="1"/>
          <p:nvPr/>
        </p:nvSpPr>
        <p:spPr>
          <a:xfrm>
            <a:off x="6420460" y="3781816"/>
            <a:ext cx="2190674" cy="2377440"/>
          </a:xfrm>
          <a:prstGeom prst="rect">
            <a:avLst/>
          </a:prstGeom>
          <a:noFill/>
          <a:ln/>
        </p:spPr>
        <p:txBody>
          <a:bodyPr wrap="square" lIns="0" tIns="0" rIns="0" bIns="0" rtlCol="0" anchor="t"/>
          <a:lstStyle/>
          <a:p>
            <a:pPr marL="0" indent="0" algn="ctr">
              <a:lnSpc>
                <a:spcPct val="125000"/>
              </a:lnSpc>
              <a:buNone/>
            </a:pPr>
            <a:r>
              <a:rPr lang="en-US" sz="1150" dirty="0">
                <a:solidFill>
                  <a:srgbClr val="94A3B8"/>
                </a:solidFill>
                <a:latin typeface="Tahoma" panose="020B0604030504040204" pitchFamily="34" charset="0"/>
                <a:ea typeface="Tahoma" panose="020B0604030504040204" pitchFamily="34" charset="0"/>
                <a:cs typeface="Tahoma" panose="020B0604030504040204" pitchFamily="34" charset="0"/>
              </a:rPr>
              <a:t>Predictive analytics to forecast future spending and savings goals</a:t>
            </a:r>
            <a:endParaRPr lang="en-US" sz="1150" dirty="0">
              <a:latin typeface="Tahoma" panose="020B0604030504040204" pitchFamily="34" charset="0"/>
            </a:endParaRPr>
          </a:p>
        </p:txBody>
      </p:sp>
      <p:sp>
        <p:nvSpPr>
          <p:cNvPr id="33" name="Shape 25"/>
          <p:cNvSpPr/>
          <p:nvPr/>
        </p:nvSpPr>
        <p:spPr>
          <a:xfrm>
            <a:off x="9132341" y="2039278"/>
            <a:ext cx="2556434" cy="2748377"/>
          </a:xfrm>
          <a:prstGeom prst="roundRect">
            <a:avLst>
              <a:gd name="adj" fmla="val 3577"/>
            </a:avLst>
          </a:prstGeom>
          <a:solidFill>
            <a:srgbClr val="121B30"/>
          </a:solidFill>
          <a:ln/>
        </p:spPr>
        <p:txBody>
          <a:bodyPr/>
          <a:lstStyle/>
          <a:p>
            <a:endParaRPr/>
          </a:p>
        </p:txBody>
      </p:sp>
      <p:sp>
        <p:nvSpPr>
          <p:cNvPr id="36" name="Shape 28"/>
          <p:cNvSpPr/>
          <p:nvPr/>
        </p:nvSpPr>
        <p:spPr>
          <a:xfrm>
            <a:off x="10159098" y="2412803"/>
            <a:ext cx="502920" cy="502920"/>
          </a:xfrm>
          <a:prstGeom prst="roundRect">
            <a:avLst>
              <a:gd name="adj" fmla="val 20000"/>
            </a:avLst>
          </a:prstGeom>
          <a:solidFill>
            <a:srgbClr val="18233C"/>
          </a:solidFill>
          <a:ln/>
        </p:spPr>
        <p:txBody>
          <a:bodyPr/>
          <a:lstStyle/>
          <a:p>
            <a:endParaRPr/>
          </a:p>
        </p:txBody>
      </p:sp>
      <p:pic>
        <p:nvPicPr>
          <p:cNvPr id="37" name="Image 6" descr="/home/claude/icons/ic_link.png"/>
          <p:cNvPicPr>
            <a:picLocks noChangeAspect="1"/>
          </p:cNvPicPr>
          <p:nvPr/>
        </p:nvPicPr>
        <p:blipFill>
          <a:blip r:embed="rId6"/>
          <a:stretch>
            <a:fillRect/>
          </a:stretch>
        </p:blipFill>
        <p:spPr>
          <a:xfrm>
            <a:off x="10273398" y="2536247"/>
            <a:ext cx="274320" cy="274320"/>
          </a:xfrm>
          <a:prstGeom prst="rect">
            <a:avLst/>
          </a:prstGeom>
        </p:spPr>
      </p:pic>
      <p:sp>
        <p:nvSpPr>
          <p:cNvPr id="38" name="Text 29"/>
          <p:cNvSpPr txBox="1"/>
          <p:nvPr/>
        </p:nvSpPr>
        <p:spPr>
          <a:xfrm>
            <a:off x="9278645" y="3123448"/>
            <a:ext cx="2227250" cy="640080"/>
          </a:xfrm>
          <a:prstGeom prst="rect">
            <a:avLst/>
          </a:prstGeom>
          <a:noFill/>
          <a:ln/>
        </p:spPr>
        <p:txBody>
          <a:bodyPr wrap="square" lIns="0" tIns="0" rIns="0" bIns="0" rtlCol="0" anchor="ctr"/>
          <a:lstStyle/>
          <a:p>
            <a:pPr marL="0" indent="0" algn="ctr">
              <a:lnSpc>
                <a:spcPct val="110000"/>
              </a:lnSpc>
              <a:buNone/>
            </a:pPr>
            <a:r>
              <a:rPr lang="en-US" sz="1350" b="1" dirty="0">
                <a:solidFill>
                  <a:srgbClr val="EAF0FA"/>
                </a:solidFill>
                <a:latin typeface="Tahoma" panose="020B0604030504040204" pitchFamily="34" charset="0"/>
                <a:ea typeface="Tahoma" panose="020B0604030504040204" pitchFamily="34" charset="0"/>
                <a:cs typeface="Tahoma" panose="020B0604030504040204" pitchFamily="34" charset="0"/>
              </a:rPr>
              <a:t>Bank API Integration</a:t>
            </a:r>
            <a:endParaRPr lang="en-US" sz="1350" dirty="0">
              <a:latin typeface="Tahoma" panose="020B0604030504040204" pitchFamily="34" charset="0"/>
            </a:endParaRPr>
          </a:p>
        </p:txBody>
      </p:sp>
      <p:sp>
        <p:nvSpPr>
          <p:cNvPr id="39" name="Text 30"/>
          <p:cNvSpPr txBox="1"/>
          <p:nvPr/>
        </p:nvSpPr>
        <p:spPr>
          <a:xfrm>
            <a:off x="9296933" y="3781816"/>
            <a:ext cx="2190674" cy="2377440"/>
          </a:xfrm>
          <a:prstGeom prst="rect">
            <a:avLst/>
          </a:prstGeom>
          <a:noFill/>
          <a:ln/>
        </p:spPr>
        <p:txBody>
          <a:bodyPr wrap="square" lIns="0" tIns="0" rIns="0" bIns="0" rtlCol="0" anchor="t"/>
          <a:lstStyle/>
          <a:p>
            <a:pPr marL="0" indent="0" algn="ctr">
              <a:lnSpc>
                <a:spcPct val="125000"/>
              </a:lnSpc>
              <a:buNone/>
            </a:pPr>
            <a:r>
              <a:rPr lang="en-US" sz="1150" dirty="0">
                <a:solidFill>
                  <a:srgbClr val="94A3B8"/>
                </a:solidFill>
                <a:latin typeface="Tahoma" panose="020B0604030504040204" pitchFamily="34" charset="0"/>
                <a:ea typeface="Tahoma" panose="020B0604030504040204" pitchFamily="34" charset="0"/>
                <a:cs typeface="Tahoma" panose="020B0604030504040204" pitchFamily="34" charset="0"/>
              </a:rPr>
              <a:t>Direct integration with bank APIs for real-time transaction syncing</a:t>
            </a:r>
            <a:endParaRPr lang="en-US" sz="1150" dirty="0">
              <a:latin typeface="Tahoma" panose="020B0604030504040204" pitchFamily="34" charset="0"/>
            </a:endParaRPr>
          </a:p>
        </p:txBody>
      </p:sp>
      <p:pic>
        <p:nvPicPr>
          <p:cNvPr id="11" name="Picture 10">
            <a:extLst>
              <a:ext uri="{FF2B5EF4-FFF2-40B4-BE49-F238E27FC236}">
                <a16:creationId xmlns:a16="http://schemas.microsoft.com/office/drawing/2014/main" id="{B6DEE2D0-0CEF-C7BD-4B3F-20F631818829}"/>
              </a:ext>
            </a:extLst>
          </p:cNvPr>
          <p:cNvPicPr>
            <a:picLocks noChangeAspect="1"/>
          </p:cNvPicPr>
          <p:nvPr/>
        </p:nvPicPr>
        <p:blipFill>
          <a:blip r:embed="rId7"/>
          <a:srcRect r="15270" b="26538"/>
          <a:stretch>
            <a:fillRect/>
          </a:stretch>
        </p:blipFill>
        <p:spPr>
          <a:xfrm>
            <a:off x="10416983" y="236798"/>
            <a:ext cx="1440000" cy="527673"/>
          </a:xfrm>
          <a:prstGeom prst="round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0F1F"/>
        </a:solidFill>
        <a:effectLst/>
      </p:bgPr>
    </p:bg>
    <p:spTree>
      <p:nvGrpSpPr>
        <p:cNvPr id="1" name=""/>
        <p:cNvGrpSpPr/>
        <p:nvPr/>
      </p:nvGrpSpPr>
      <p:grpSpPr>
        <a:xfrm>
          <a:off x="0" y="0"/>
          <a:ext cx="0" cy="0"/>
          <a:chOff x="0" y="0"/>
          <a:chExt cx="0" cy="0"/>
        </a:xfrm>
      </p:grpSpPr>
      <p:sp>
        <p:nvSpPr>
          <p:cNvPr id="2" name="Shape 0"/>
          <p:cNvSpPr/>
          <p:nvPr/>
        </p:nvSpPr>
        <p:spPr>
          <a:xfrm>
            <a:off x="10637215" y="320040"/>
            <a:ext cx="1051560" cy="384048"/>
          </a:xfrm>
          <a:prstGeom prst="roundRect">
            <a:avLst>
              <a:gd name="adj" fmla="val 14286"/>
            </a:avLst>
          </a:prstGeom>
          <a:solidFill>
            <a:srgbClr val="18233C"/>
          </a:solidFill>
          <a:ln w="9525">
            <a:solidFill>
              <a:srgbClr val="24314F"/>
            </a:solidFill>
            <a:prstDash val="dash"/>
          </a:ln>
        </p:spPr>
        <p:txBody>
          <a:bodyPr/>
          <a:lstStyle/>
          <a:p>
            <a:endParaRPr/>
          </a:p>
        </p:txBody>
      </p:sp>
      <p:sp>
        <p:nvSpPr>
          <p:cNvPr id="3" name="Text 1"/>
          <p:cNvSpPr txBox="1"/>
          <p:nvPr/>
        </p:nvSpPr>
        <p:spPr>
          <a:xfrm>
            <a:off x="10637215" y="320040"/>
            <a:ext cx="1051560" cy="384048"/>
          </a:xfrm>
          <a:prstGeom prst="rect">
            <a:avLst/>
          </a:prstGeom>
          <a:noFill/>
          <a:ln/>
        </p:spPr>
        <p:txBody>
          <a:bodyPr wrap="square" lIns="0" tIns="0" rIns="0" bIns="0" rtlCol="0" anchor="ctr"/>
          <a:lstStyle/>
          <a:p>
            <a:pPr marL="0" indent="0" algn="ctr">
              <a:buNone/>
            </a:pPr>
            <a:r>
              <a:rPr lang="en-US" sz="900" b="1" dirty="0">
                <a:solidFill>
                  <a:srgbClr val="94A3B8"/>
                </a:solidFill>
                <a:latin typeface="Tahoma" panose="020B0604030504040204" pitchFamily="34" charset="0"/>
                <a:ea typeface="Tahoma" panose="020B0604030504040204" pitchFamily="34" charset="0"/>
                <a:cs typeface="Tahoma" panose="020B0604030504040204" pitchFamily="34" charset="0"/>
              </a:rPr>
              <a:t>CVV LOGO</a:t>
            </a:r>
            <a:endParaRPr lang="en-US" sz="900" dirty="0">
              <a:latin typeface="Tahoma" panose="020B0604030504040204" pitchFamily="34" charset="0"/>
            </a:endParaRPr>
          </a:p>
        </p:txBody>
      </p:sp>
      <p:sp>
        <p:nvSpPr>
          <p:cNvPr id="4" name="Text 2"/>
          <p:cNvSpPr txBox="1"/>
          <p:nvPr/>
        </p:nvSpPr>
        <p:spPr>
          <a:xfrm>
            <a:off x="502920" y="292608"/>
            <a:ext cx="9905695" cy="566928"/>
          </a:xfrm>
          <a:prstGeom prst="rect">
            <a:avLst/>
          </a:prstGeom>
          <a:noFill/>
          <a:ln/>
        </p:spPr>
        <p:txBody>
          <a:bodyPr wrap="square" lIns="0" tIns="0" rIns="0" bIns="0" rtlCol="0" anchor="ctr"/>
          <a:lstStyle/>
          <a:p>
            <a:pPr marL="0" indent="0" algn="l">
              <a:buNone/>
            </a:pPr>
            <a:r>
              <a:rPr lang="en-US" sz="3000" b="1" kern="0" spc="50" dirty="0">
                <a:solidFill>
                  <a:srgbClr val="EAF0FA"/>
                </a:solidFill>
                <a:latin typeface="Tahoma" panose="020B0604030504040204" pitchFamily="34" charset="0"/>
                <a:ea typeface="Tahoma" panose="020B0604030504040204" pitchFamily="34" charset="0"/>
                <a:cs typeface="Tahoma" panose="020B0604030504040204" pitchFamily="34" charset="0"/>
              </a:rPr>
              <a:t>References</a:t>
            </a:r>
            <a:endParaRPr lang="en-US" sz="3000" dirty="0">
              <a:latin typeface="Tahoma" panose="020B0604030504040204" pitchFamily="34" charset="0"/>
            </a:endParaRPr>
          </a:p>
        </p:txBody>
      </p:sp>
      <p:sp>
        <p:nvSpPr>
          <p:cNvPr id="5" name="Text 3"/>
          <p:cNvSpPr txBox="1"/>
          <p:nvPr/>
        </p:nvSpPr>
        <p:spPr>
          <a:xfrm>
            <a:off x="502920" y="18288"/>
            <a:ext cx="5486400" cy="256032"/>
          </a:xfrm>
          <a:prstGeom prst="rect">
            <a:avLst/>
          </a:prstGeom>
          <a:noFill/>
          <a:ln/>
        </p:spPr>
        <p:txBody>
          <a:bodyPr wrap="square" lIns="0" tIns="0" rIns="0" bIns="0" rtlCol="0" anchor="ctr"/>
          <a:lstStyle/>
          <a:p>
            <a:pPr marL="0" indent="0" algn="l">
              <a:buNone/>
            </a:pPr>
            <a:r>
              <a:rPr lang="en-US" sz="1100" b="1" kern="0" spc="120" dirty="0">
                <a:solidFill>
                  <a:srgbClr val="22D3EE"/>
                </a:solidFill>
                <a:latin typeface="Tahoma" panose="020B0604030504040204" pitchFamily="34" charset="0"/>
                <a:ea typeface="Tahoma" panose="020B0604030504040204" pitchFamily="34" charset="0"/>
                <a:cs typeface="Tahoma" panose="020B0604030504040204" pitchFamily="34" charset="0"/>
              </a:rPr>
              <a:t>BIBLIOGRAPHY</a:t>
            </a:r>
            <a:endParaRPr lang="en-US" sz="1100" dirty="0">
              <a:latin typeface="Tahoma" panose="020B0604030504040204" pitchFamily="34" charset="0"/>
            </a:endParaRPr>
          </a:p>
        </p:txBody>
      </p:sp>
      <p:sp>
        <p:nvSpPr>
          <p:cNvPr id="7" name="Text 5"/>
          <p:cNvSpPr txBox="1"/>
          <p:nvPr/>
        </p:nvSpPr>
        <p:spPr>
          <a:xfrm>
            <a:off x="11140135" y="6473952"/>
            <a:ext cx="548640" cy="274320"/>
          </a:xfrm>
          <a:prstGeom prst="rect">
            <a:avLst/>
          </a:prstGeom>
          <a:noFill/>
          <a:ln/>
        </p:spPr>
        <p:txBody>
          <a:bodyPr wrap="square" lIns="0" tIns="0" rIns="0" bIns="0" rtlCol="0" anchor="ctr"/>
          <a:lstStyle/>
          <a:p>
            <a:pPr marL="0" indent="0" algn="r">
              <a:buNone/>
            </a:pPr>
            <a:r>
              <a:rPr lang="en-US" sz="900" dirty="0">
                <a:solidFill>
                  <a:srgbClr val="5B6B85"/>
                </a:solidFill>
                <a:latin typeface="Tahoma" panose="020B0604030504040204" pitchFamily="34" charset="0"/>
                <a:ea typeface="Tahoma" panose="020B0604030504040204" pitchFamily="34" charset="0"/>
                <a:cs typeface="Tahoma" panose="020B0604030504040204" pitchFamily="34" charset="0"/>
              </a:rPr>
              <a:t>13</a:t>
            </a:r>
            <a:endParaRPr lang="en-US" sz="900" dirty="0">
              <a:latin typeface="Tahoma" panose="020B0604030504040204" pitchFamily="34" charset="0"/>
            </a:endParaRPr>
          </a:p>
        </p:txBody>
      </p:sp>
      <p:sp>
        <p:nvSpPr>
          <p:cNvPr id="8" name="Shape 6"/>
          <p:cNvSpPr/>
          <p:nvPr/>
        </p:nvSpPr>
        <p:spPr>
          <a:xfrm>
            <a:off x="502920" y="6400800"/>
            <a:ext cx="11185855" cy="0"/>
          </a:xfrm>
          <a:prstGeom prst="line">
            <a:avLst/>
          </a:prstGeom>
          <a:noFill/>
          <a:ln w="9525">
            <a:solidFill>
              <a:srgbClr val="24314F"/>
            </a:solidFill>
            <a:prstDash val="solid"/>
          </a:ln>
        </p:spPr>
        <p:txBody>
          <a:bodyPr/>
          <a:lstStyle/>
          <a:p>
            <a:endParaRPr/>
          </a:p>
        </p:txBody>
      </p:sp>
      <p:pic>
        <p:nvPicPr>
          <p:cNvPr id="10" name="Image 0" descr="/home/claude/icons/ic_book.png"/>
          <p:cNvPicPr>
            <a:picLocks noChangeAspect="1"/>
          </p:cNvPicPr>
          <p:nvPr/>
        </p:nvPicPr>
        <p:blipFill>
          <a:blip r:embed="rId3"/>
          <a:stretch>
            <a:fillRect/>
          </a:stretch>
        </p:blipFill>
        <p:spPr>
          <a:xfrm>
            <a:off x="960120" y="1403096"/>
            <a:ext cx="292608" cy="292608"/>
          </a:xfrm>
          <a:prstGeom prst="rect">
            <a:avLst/>
          </a:prstGeom>
        </p:spPr>
      </p:pic>
      <p:sp>
        <p:nvSpPr>
          <p:cNvPr id="11" name="Text 8"/>
          <p:cNvSpPr txBox="1"/>
          <p:nvPr/>
        </p:nvSpPr>
        <p:spPr>
          <a:xfrm>
            <a:off x="1463040" y="1364275"/>
            <a:ext cx="7071055" cy="365760"/>
          </a:xfrm>
          <a:prstGeom prst="rect">
            <a:avLst/>
          </a:prstGeom>
          <a:noFill/>
          <a:ln/>
        </p:spPr>
        <p:txBody>
          <a:bodyPr wrap="square" lIns="0" tIns="0" rIns="0" bIns="0" rtlCol="0" anchor="ctr"/>
          <a:lstStyle/>
          <a:p>
            <a:pPr marL="0" indent="0">
              <a:buNone/>
            </a:pPr>
            <a:r>
              <a:rPr lang="en-US" sz="1500" b="1" dirty="0">
                <a:solidFill>
                  <a:srgbClr val="EAF0FA"/>
                </a:solidFill>
                <a:latin typeface="Tahoma" panose="020B0604030504040204" pitchFamily="34" charset="0"/>
                <a:ea typeface="Tahoma" panose="020B0604030504040204" pitchFamily="34" charset="0"/>
                <a:cs typeface="Tahoma" panose="020B0604030504040204" pitchFamily="34" charset="0"/>
              </a:rPr>
              <a:t>IJRASET, “AI Expense Tracker”</a:t>
            </a:r>
            <a:endParaRPr lang="en-US" sz="1500" dirty="0">
              <a:latin typeface="Tahoma" panose="020B0604030504040204" pitchFamily="34" charset="0"/>
              <a:ea typeface="Tahoma" panose="020B0604030504040204" pitchFamily="34" charset="0"/>
              <a:cs typeface="Tahoma" panose="020B0604030504040204" pitchFamily="34" charset="0"/>
            </a:endParaRPr>
          </a:p>
        </p:txBody>
      </p:sp>
      <p:sp>
        <p:nvSpPr>
          <p:cNvPr id="12" name="Text 9"/>
          <p:cNvSpPr txBox="1"/>
          <p:nvPr/>
        </p:nvSpPr>
        <p:spPr>
          <a:xfrm>
            <a:off x="8396935" y="1364275"/>
            <a:ext cx="2834640" cy="365760"/>
          </a:xfrm>
          <a:prstGeom prst="rect">
            <a:avLst/>
          </a:prstGeom>
          <a:noFill/>
          <a:ln/>
        </p:spPr>
        <p:txBody>
          <a:bodyPr wrap="square" lIns="0" tIns="0" rIns="0" bIns="0" rtlCol="0" anchor="ctr"/>
          <a:lstStyle/>
          <a:p>
            <a:pPr marL="0" indent="0" algn="r">
              <a:buNone/>
            </a:pPr>
            <a:r>
              <a:rPr lang="en-US" sz="1200" dirty="0">
                <a:solidFill>
                  <a:srgbClr val="22D3EE"/>
                </a:solidFill>
                <a:latin typeface="Tahoma" panose="020B0604030504040204" pitchFamily="34" charset="0"/>
                <a:ea typeface="Tahoma" panose="020B0604030504040204" pitchFamily="34" charset="0"/>
                <a:cs typeface="Tahoma" panose="020B0604030504040204" pitchFamily="34" charset="0"/>
                <a:hlinkClick r:id="rId4">
                  <a:extLst>
                    <a:ext uri="{A12FA001-AC4F-418D-AE19-62706E023703}">
                      <ahyp:hlinkClr xmlns:ahyp="http://schemas.microsoft.com/office/drawing/2018/hyperlinkcolor" val="tx"/>
                    </a:ext>
                  </a:extLst>
                </a:hlinkClick>
              </a:rPr>
              <a:t>Journal Publication</a:t>
            </a:r>
            <a:endParaRPr lang="en-US" sz="1200" dirty="0">
              <a:solidFill>
                <a:srgbClr val="22D3EE"/>
              </a:solidFill>
              <a:latin typeface="Tahoma" panose="020B0604030504040204" pitchFamily="34" charset="0"/>
              <a:ea typeface="Tahoma" panose="020B0604030504040204" pitchFamily="34" charset="0"/>
              <a:cs typeface="Tahoma" panose="020B0604030504040204" pitchFamily="34" charset="0"/>
            </a:endParaRPr>
          </a:p>
        </p:txBody>
      </p:sp>
      <p:sp>
        <p:nvSpPr>
          <p:cNvPr id="13" name="Shape 10"/>
          <p:cNvSpPr/>
          <p:nvPr/>
        </p:nvSpPr>
        <p:spPr>
          <a:xfrm>
            <a:off x="960120" y="2052320"/>
            <a:ext cx="10271455" cy="0"/>
          </a:xfrm>
          <a:prstGeom prst="line">
            <a:avLst/>
          </a:prstGeom>
          <a:noFill/>
          <a:ln w="9525">
            <a:solidFill>
              <a:srgbClr val="24314F"/>
            </a:solidFill>
            <a:prstDash val="solid"/>
          </a:ln>
        </p:spPr>
        <p:txBody>
          <a:bodyPr/>
          <a:lstStyle/>
          <a:p>
            <a:endParaRPr/>
          </a:p>
        </p:txBody>
      </p:sp>
      <p:pic>
        <p:nvPicPr>
          <p:cNvPr id="14" name="Image 1" descr="/home/claude/icons/ic_book.png"/>
          <p:cNvPicPr>
            <a:picLocks noChangeAspect="1"/>
          </p:cNvPicPr>
          <p:nvPr/>
        </p:nvPicPr>
        <p:blipFill>
          <a:blip r:embed="rId3"/>
          <a:stretch>
            <a:fillRect/>
          </a:stretch>
        </p:blipFill>
        <p:spPr>
          <a:xfrm>
            <a:off x="960120" y="2408936"/>
            <a:ext cx="292608" cy="292608"/>
          </a:xfrm>
          <a:prstGeom prst="rect">
            <a:avLst/>
          </a:prstGeom>
        </p:spPr>
      </p:pic>
      <p:sp>
        <p:nvSpPr>
          <p:cNvPr id="15" name="Text 11"/>
          <p:cNvSpPr txBox="1"/>
          <p:nvPr/>
        </p:nvSpPr>
        <p:spPr>
          <a:xfrm>
            <a:off x="1463040" y="2370115"/>
            <a:ext cx="7071055" cy="365760"/>
          </a:xfrm>
          <a:prstGeom prst="rect">
            <a:avLst/>
          </a:prstGeom>
          <a:noFill/>
          <a:ln/>
        </p:spPr>
        <p:txBody>
          <a:bodyPr wrap="square" lIns="0" tIns="0" rIns="0" bIns="0" rtlCol="0" anchor="ctr"/>
          <a:lstStyle/>
          <a:p>
            <a:pPr marL="0" indent="0">
              <a:buNone/>
            </a:pPr>
            <a:r>
              <a:rPr lang="en-US" sz="1500" b="1" dirty="0">
                <a:solidFill>
                  <a:srgbClr val="EAF0FA"/>
                </a:solidFill>
                <a:latin typeface="Tahoma" panose="020B0604030504040204" pitchFamily="34" charset="0"/>
                <a:ea typeface="Tahoma" panose="020B0604030504040204" pitchFamily="34" charset="0"/>
                <a:cs typeface="Tahoma" panose="020B0604030504040204" pitchFamily="34" charset="0"/>
              </a:rPr>
              <a:t>IJSRED, “Expense Tracker with In-built AI”</a:t>
            </a:r>
            <a:endParaRPr lang="en-US" sz="1500" dirty="0">
              <a:latin typeface="Tahoma" panose="020B0604030504040204" pitchFamily="34" charset="0"/>
              <a:ea typeface="Tahoma" panose="020B0604030504040204" pitchFamily="34" charset="0"/>
              <a:cs typeface="Tahoma" panose="020B0604030504040204" pitchFamily="34" charset="0"/>
            </a:endParaRPr>
          </a:p>
        </p:txBody>
      </p:sp>
      <p:sp>
        <p:nvSpPr>
          <p:cNvPr id="16" name="Text 12"/>
          <p:cNvSpPr txBox="1"/>
          <p:nvPr/>
        </p:nvSpPr>
        <p:spPr>
          <a:xfrm>
            <a:off x="8396935" y="2370115"/>
            <a:ext cx="2834640" cy="365760"/>
          </a:xfrm>
          <a:prstGeom prst="rect">
            <a:avLst/>
          </a:prstGeom>
          <a:noFill/>
          <a:ln/>
        </p:spPr>
        <p:txBody>
          <a:bodyPr wrap="square" lIns="0" tIns="0" rIns="0" bIns="0" rtlCol="0" anchor="ctr"/>
          <a:lstStyle/>
          <a:p>
            <a:pPr marL="0" indent="0" algn="r">
              <a:buNone/>
            </a:pPr>
            <a:r>
              <a:rPr lang="en-US" sz="1200" dirty="0">
                <a:solidFill>
                  <a:srgbClr val="22D3EE"/>
                </a:solidFill>
                <a:latin typeface="Tahoma" panose="020B0604030504040204" pitchFamily="34" charset="0"/>
                <a:ea typeface="Tahoma" panose="020B0604030504040204" pitchFamily="34" charset="0"/>
                <a:cs typeface="Tahoma" panose="020B0604030504040204" pitchFamily="34" charset="0"/>
                <a:hlinkClick r:id="rId5">
                  <a:extLst>
                    <a:ext uri="{A12FA001-AC4F-418D-AE19-62706E023703}">
                      <ahyp:hlinkClr xmlns:ahyp="http://schemas.microsoft.com/office/drawing/2018/hyperlinkcolor" val="tx"/>
                    </a:ext>
                  </a:extLst>
                </a:hlinkClick>
              </a:rPr>
              <a:t>Journal Publication</a:t>
            </a:r>
            <a:endParaRPr lang="en-US" sz="1200" dirty="0">
              <a:solidFill>
                <a:srgbClr val="22D3EE"/>
              </a:solidFill>
              <a:latin typeface="Tahoma" panose="020B0604030504040204" pitchFamily="34" charset="0"/>
              <a:ea typeface="Tahoma" panose="020B0604030504040204" pitchFamily="34" charset="0"/>
              <a:cs typeface="Tahoma" panose="020B0604030504040204" pitchFamily="34" charset="0"/>
            </a:endParaRPr>
          </a:p>
        </p:txBody>
      </p:sp>
      <p:sp>
        <p:nvSpPr>
          <p:cNvPr id="17" name="Shape 13"/>
          <p:cNvSpPr/>
          <p:nvPr/>
        </p:nvSpPr>
        <p:spPr>
          <a:xfrm>
            <a:off x="960120" y="3058160"/>
            <a:ext cx="10271455" cy="0"/>
          </a:xfrm>
          <a:prstGeom prst="line">
            <a:avLst/>
          </a:prstGeom>
          <a:noFill/>
          <a:ln w="9525">
            <a:solidFill>
              <a:srgbClr val="24314F"/>
            </a:solidFill>
            <a:prstDash val="solid"/>
          </a:ln>
        </p:spPr>
        <p:txBody>
          <a:bodyPr/>
          <a:lstStyle/>
          <a:p>
            <a:endParaRPr/>
          </a:p>
        </p:txBody>
      </p:sp>
      <p:pic>
        <p:nvPicPr>
          <p:cNvPr id="18" name="Image 2" descr="/home/claude/icons/ic_book.png"/>
          <p:cNvPicPr>
            <a:picLocks noChangeAspect="1"/>
          </p:cNvPicPr>
          <p:nvPr/>
        </p:nvPicPr>
        <p:blipFill>
          <a:blip r:embed="rId3"/>
          <a:stretch>
            <a:fillRect/>
          </a:stretch>
        </p:blipFill>
        <p:spPr>
          <a:xfrm>
            <a:off x="960120" y="3414776"/>
            <a:ext cx="292608" cy="292608"/>
          </a:xfrm>
          <a:prstGeom prst="rect">
            <a:avLst/>
          </a:prstGeom>
        </p:spPr>
      </p:pic>
      <p:sp>
        <p:nvSpPr>
          <p:cNvPr id="19" name="Text 14"/>
          <p:cNvSpPr txBox="1"/>
          <p:nvPr/>
        </p:nvSpPr>
        <p:spPr>
          <a:xfrm>
            <a:off x="1463040" y="3375955"/>
            <a:ext cx="7071055" cy="365760"/>
          </a:xfrm>
          <a:prstGeom prst="rect">
            <a:avLst/>
          </a:prstGeom>
          <a:noFill/>
          <a:ln/>
        </p:spPr>
        <p:txBody>
          <a:bodyPr wrap="square" lIns="0" tIns="0" rIns="0" bIns="0" rtlCol="0" anchor="ctr"/>
          <a:lstStyle/>
          <a:p>
            <a:pPr marL="0" indent="0">
              <a:buNone/>
            </a:pPr>
            <a:r>
              <a:rPr lang="en-US" sz="1500" b="1" dirty="0">
                <a:solidFill>
                  <a:srgbClr val="EAF0FA"/>
                </a:solidFill>
                <a:latin typeface="Tahoma" panose="020B0604030504040204" pitchFamily="34" charset="0"/>
                <a:ea typeface="Tahoma" panose="020B0604030504040204" pitchFamily="34" charset="0"/>
                <a:cs typeface="Tahoma" panose="020B0604030504040204" pitchFamily="34" charset="0"/>
              </a:rPr>
              <a:t>Spring Boot Documentation</a:t>
            </a:r>
            <a:endParaRPr lang="en-US" sz="1500" dirty="0">
              <a:latin typeface="Tahoma" panose="020B0604030504040204" pitchFamily="34" charset="0"/>
              <a:ea typeface="Tahoma" panose="020B0604030504040204" pitchFamily="34" charset="0"/>
              <a:cs typeface="Tahoma" panose="020B0604030504040204" pitchFamily="34" charset="0"/>
            </a:endParaRPr>
          </a:p>
        </p:txBody>
      </p:sp>
      <p:sp>
        <p:nvSpPr>
          <p:cNvPr id="20" name="Text 15"/>
          <p:cNvSpPr txBox="1"/>
          <p:nvPr/>
        </p:nvSpPr>
        <p:spPr>
          <a:xfrm>
            <a:off x="8396935" y="3375955"/>
            <a:ext cx="2834640" cy="365760"/>
          </a:xfrm>
          <a:prstGeom prst="rect">
            <a:avLst/>
          </a:prstGeom>
          <a:noFill/>
          <a:ln/>
        </p:spPr>
        <p:txBody>
          <a:bodyPr wrap="square" lIns="0" tIns="0" rIns="0" bIns="0" rtlCol="0" anchor="ctr"/>
          <a:lstStyle/>
          <a:p>
            <a:pPr marL="0" indent="0" algn="r">
              <a:buNone/>
            </a:pPr>
            <a:r>
              <a:rPr lang="en-US" sz="1200" dirty="0">
                <a:solidFill>
                  <a:srgbClr val="22D3EE"/>
                </a:solidFill>
                <a:latin typeface="Tahoma" panose="020B0604030504040204" pitchFamily="34" charset="0"/>
                <a:ea typeface="Tahoma" panose="020B0604030504040204" pitchFamily="34" charset="0"/>
                <a:cs typeface="Tahoma" panose="020B0604030504040204" pitchFamily="34" charset="0"/>
                <a:hlinkClick r:id="rId6" action="ppaction://hlinkfile">
                  <a:extLst>
                    <a:ext uri="{A12FA001-AC4F-418D-AE19-62706E023703}">
                      <ahyp:hlinkClr xmlns:ahyp="http://schemas.microsoft.com/office/drawing/2018/hyperlinkcolor" val="tx"/>
                    </a:ext>
                  </a:extLst>
                </a:hlinkClick>
              </a:rPr>
              <a:t>docs.spring.io</a:t>
            </a:r>
            <a:endParaRPr lang="en-US" sz="1200" dirty="0">
              <a:solidFill>
                <a:srgbClr val="22D3EE"/>
              </a:solidFill>
              <a:latin typeface="Tahoma" panose="020B0604030504040204" pitchFamily="34" charset="0"/>
              <a:ea typeface="Tahoma" panose="020B0604030504040204" pitchFamily="34" charset="0"/>
              <a:cs typeface="Tahoma" panose="020B0604030504040204" pitchFamily="34" charset="0"/>
            </a:endParaRPr>
          </a:p>
        </p:txBody>
      </p:sp>
      <p:sp>
        <p:nvSpPr>
          <p:cNvPr id="21" name="Shape 16"/>
          <p:cNvSpPr/>
          <p:nvPr/>
        </p:nvSpPr>
        <p:spPr>
          <a:xfrm>
            <a:off x="960120" y="4064000"/>
            <a:ext cx="10271455" cy="0"/>
          </a:xfrm>
          <a:prstGeom prst="line">
            <a:avLst/>
          </a:prstGeom>
          <a:noFill/>
          <a:ln w="9525">
            <a:solidFill>
              <a:srgbClr val="24314F"/>
            </a:solidFill>
            <a:prstDash val="solid"/>
          </a:ln>
        </p:spPr>
        <p:txBody>
          <a:bodyPr/>
          <a:lstStyle/>
          <a:p>
            <a:endParaRPr/>
          </a:p>
        </p:txBody>
      </p:sp>
      <p:pic>
        <p:nvPicPr>
          <p:cNvPr id="22" name="Image 3" descr="/home/claude/icons/ic_book.png"/>
          <p:cNvPicPr>
            <a:picLocks noChangeAspect="1"/>
          </p:cNvPicPr>
          <p:nvPr/>
        </p:nvPicPr>
        <p:blipFill>
          <a:blip r:embed="rId3"/>
          <a:stretch>
            <a:fillRect/>
          </a:stretch>
        </p:blipFill>
        <p:spPr>
          <a:xfrm>
            <a:off x="960120" y="4420616"/>
            <a:ext cx="292608" cy="292608"/>
          </a:xfrm>
          <a:prstGeom prst="rect">
            <a:avLst/>
          </a:prstGeom>
        </p:spPr>
      </p:pic>
      <p:sp>
        <p:nvSpPr>
          <p:cNvPr id="23" name="Text 17"/>
          <p:cNvSpPr txBox="1"/>
          <p:nvPr/>
        </p:nvSpPr>
        <p:spPr>
          <a:xfrm>
            <a:off x="1463040" y="4381795"/>
            <a:ext cx="7071055" cy="365760"/>
          </a:xfrm>
          <a:prstGeom prst="rect">
            <a:avLst/>
          </a:prstGeom>
          <a:noFill/>
          <a:ln/>
        </p:spPr>
        <p:txBody>
          <a:bodyPr wrap="square" lIns="0" tIns="0" rIns="0" bIns="0" rtlCol="0" anchor="ctr"/>
          <a:lstStyle/>
          <a:p>
            <a:pPr marL="0" indent="0">
              <a:buNone/>
            </a:pPr>
            <a:r>
              <a:rPr lang="en-US" sz="1500" b="1" dirty="0">
                <a:solidFill>
                  <a:srgbClr val="EAF0FA"/>
                </a:solidFill>
                <a:latin typeface="Tahoma" panose="020B0604030504040204" pitchFamily="34" charset="0"/>
                <a:ea typeface="Tahoma" panose="020B0604030504040204" pitchFamily="34" charset="0"/>
                <a:cs typeface="Tahoma" panose="020B0604030504040204" pitchFamily="34" charset="0"/>
              </a:rPr>
              <a:t>React Documentation</a:t>
            </a:r>
            <a:endParaRPr lang="en-US" sz="1500" dirty="0">
              <a:latin typeface="Tahoma" panose="020B0604030504040204" pitchFamily="34" charset="0"/>
              <a:ea typeface="Tahoma" panose="020B0604030504040204" pitchFamily="34" charset="0"/>
              <a:cs typeface="Tahoma" panose="020B0604030504040204" pitchFamily="34" charset="0"/>
            </a:endParaRPr>
          </a:p>
        </p:txBody>
      </p:sp>
      <p:sp>
        <p:nvSpPr>
          <p:cNvPr id="24" name="Text 18"/>
          <p:cNvSpPr txBox="1"/>
          <p:nvPr/>
        </p:nvSpPr>
        <p:spPr>
          <a:xfrm>
            <a:off x="8396935" y="4381795"/>
            <a:ext cx="2834640" cy="365760"/>
          </a:xfrm>
          <a:prstGeom prst="rect">
            <a:avLst/>
          </a:prstGeom>
          <a:noFill/>
          <a:ln/>
        </p:spPr>
        <p:txBody>
          <a:bodyPr wrap="square" lIns="0" tIns="0" rIns="0" bIns="0" rtlCol="0" anchor="ctr"/>
          <a:lstStyle/>
          <a:p>
            <a:pPr marL="0" indent="0" algn="r">
              <a:buNone/>
            </a:pPr>
            <a:r>
              <a:rPr lang="en-US" sz="1200" dirty="0">
                <a:solidFill>
                  <a:srgbClr val="22D3EE"/>
                </a:solidFill>
                <a:latin typeface="Tahoma" panose="020B0604030504040204" pitchFamily="34" charset="0"/>
                <a:ea typeface="Tahoma" panose="020B0604030504040204" pitchFamily="34" charset="0"/>
                <a:cs typeface="Tahoma" panose="020B0604030504040204" pitchFamily="34" charset="0"/>
                <a:hlinkClick r:id="rId7" action="ppaction://hlinkfile">
                  <a:extLst>
                    <a:ext uri="{A12FA001-AC4F-418D-AE19-62706E023703}">
                      <ahyp:hlinkClr xmlns:ahyp="http://schemas.microsoft.com/office/drawing/2018/hyperlinkcolor" val="tx"/>
                    </a:ext>
                  </a:extLst>
                </a:hlinkClick>
              </a:rPr>
              <a:t>react.dev</a:t>
            </a:r>
            <a:endParaRPr lang="en-US" sz="1200" dirty="0">
              <a:solidFill>
                <a:srgbClr val="22D3EE"/>
              </a:solidFill>
              <a:latin typeface="Tahoma" panose="020B0604030504040204" pitchFamily="34" charset="0"/>
              <a:ea typeface="Tahoma" panose="020B0604030504040204" pitchFamily="34" charset="0"/>
              <a:cs typeface="Tahoma" panose="020B0604030504040204" pitchFamily="34" charset="0"/>
            </a:endParaRPr>
          </a:p>
        </p:txBody>
      </p:sp>
      <p:sp>
        <p:nvSpPr>
          <p:cNvPr id="25" name="Shape 19"/>
          <p:cNvSpPr/>
          <p:nvPr/>
        </p:nvSpPr>
        <p:spPr>
          <a:xfrm>
            <a:off x="960120" y="5069840"/>
            <a:ext cx="10271455" cy="0"/>
          </a:xfrm>
          <a:prstGeom prst="line">
            <a:avLst/>
          </a:prstGeom>
          <a:noFill/>
          <a:ln w="9525">
            <a:solidFill>
              <a:srgbClr val="24314F"/>
            </a:solidFill>
            <a:prstDash val="solid"/>
          </a:ln>
        </p:spPr>
        <p:txBody>
          <a:bodyPr/>
          <a:lstStyle/>
          <a:p>
            <a:endParaRPr/>
          </a:p>
        </p:txBody>
      </p:sp>
      <p:pic>
        <p:nvPicPr>
          <p:cNvPr id="26" name="Image 4" descr="/home/claude/icons/ic_book.png"/>
          <p:cNvPicPr>
            <a:picLocks noChangeAspect="1"/>
          </p:cNvPicPr>
          <p:nvPr/>
        </p:nvPicPr>
        <p:blipFill>
          <a:blip r:embed="rId3"/>
          <a:stretch>
            <a:fillRect/>
          </a:stretch>
        </p:blipFill>
        <p:spPr>
          <a:xfrm>
            <a:off x="960120" y="5426456"/>
            <a:ext cx="292608" cy="292608"/>
          </a:xfrm>
          <a:prstGeom prst="rect">
            <a:avLst/>
          </a:prstGeom>
        </p:spPr>
      </p:pic>
      <p:sp>
        <p:nvSpPr>
          <p:cNvPr id="27" name="Text 20"/>
          <p:cNvSpPr txBox="1"/>
          <p:nvPr/>
        </p:nvSpPr>
        <p:spPr>
          <a:xfrm>
            <a:off x="1463040" y="5387635"/>
            <a:ext cx="7071055" cy="365760"/>
          </a:xfrm>
          <a:prstGeom prst="rect">
            <a:avLst/>
          </a:prstGeom>
          <a:noFill/>
          <a:ln/>
        </p:spPr>
        <p:txBody>
          <a:bodyPr wrap="square" lIns="0" tIns="0" rIns="0" bIns="0" rtlCol="0" anchor="ctr"/>
          <a:lstStyle/>
          <a:p>
            <a:pPr marL="0" indent="0">
              <a:buNone/>
            </a:pPr>
            <a:r>
              <a:rPr lang="en-US" sz="1500" b="1" dirty="0">
                <a:solidFill>
                  <a:srgbClr val="EAF0FA"/>
                </a:solidFill>
                <a:latin typeface="Tahoma" panose="020B0604030504040204" pitchFamily="34" charset="0"/>
                <a:ea typeface="Tahoma" panose="020B0604030504040204" pitchFamily="34" charset="0"/>
                <a:cs typeface="Tahoma" panose="020B0604030504040204" pitchFamily="34" charset="0"/>
              </a:rPr>
              <a:t>Google Gemini API Documentation</a:t>
            </a:r>
            <a:endParaRPr lang="en-US" sz="1500" dirty="0">
              <a:latin typeface="Tahoma" panose="020B0604030504040204" pitchFamily="34" charset="0"/>
              <a:ea typeface="Tahoma" panose="020B0604030504040204" pitchFamily="34" charset="0"/>
              <a:cs typeface="Tahoma" panose="020B0604030504040204" pitchFamily="34" charset="0"/>
            </a:endParaRPr>
          </a:p>
        </p:txBody>
      </p:sp>
      <p:sp>
        <p:nvSpPr>
          <p:cNvPr id="28" name="Text 21"/>
          <p:cNvSpPr txBox="1"/>
          <p:nvPr/>
        </p:nvSpPr>
        <p:spPr>
          <a:xfrm>
            <a:off x="8396935" y="5387635"/>
            <a:ext cx="2834640" cy="365760"/>
          </a:xfrm>
          <a:prstGeom prst="rect">
            <a:avLst/>
          </a:prstGeom>
          <a:noFill/>
          <a:ln/>
        </p:spPr>
        <p:txBody>
          <a:bodyPr wrap="square" lIns="0" tIns="0" rIns="0" bIns="0" rtlCol="0" anchor="ctr"/>
          <a:lstStyle/>
          <a:p>
            <a:pPr marL="0" indent="0" algn="r">
              <a:buNone/>
            </a:pPr>
            <a:r>
              <a:rPr lang="en-US" sz="1200" dirty="0">
                <a:solidFill>
                  <a:srgbClr val="22D3EE"/>
                </a:solidFill>
                <a:latin typeface="Tahoma" panose="020B0604030504040204" pitchFamily="34" charset="0"/>
                <a:ea typeface="Tahoma" panose="020B0604030504040204" pitchFamily="34" charset="0"/>
                <a:cs typeface="Tahoma" panose="020B0604030504040204" pitchFamily="34" charset="0"/>
                <a:hlinkClick r:id="rId8" action="ppaction://hlinkfile">
                  <a:extLst>
                    <a:ext uri="{A12FA001-AC4F-418D-AE19-62706E023703}">
                      <ahyp:hlinkClr xmlns:ahyp="http://schemas.microsoft.com/office/drawing/2018/hyperlinkcolor" val="tx"/>
                    </a:ext>
                  </a:extLst>
                </a:hlinkClick>
              </a:rPr>
              <a:t>ai.google.dev</a:t>
            </a:r>
            <a:endParaRPr lang="en-US" sz="1200" dirty="0">
              <a:solidFill>
                <a:srgbClr val="22D3EE"/>
              </a:solidFill>
              <a:latin typeface="Tahoma" panose="020B0604030504040204" pitchFamily="34" charset="0"/>
              <a:ea typeface="Tahoma" panose="020B0604030504040204" pitchFamily="34" charset="0"/>
              <a:cs typeface="Tahoma" panose="020B0604030504040204" pitchFamily="34" charset="0"/>
            </a:endParaRPr>
          </a:p>
        </p:txBody>
      </p:sp>
      <p:pic>
        <p:nvPicPr>
          <p:cNvPr id="31" name="Picture 30">
            <a:extLst>
              <a:ext uri="{FF2B5EF4-FFF2-40B4-BE49-F238E27FC236}">
                <a16:creationId xmlns:a16="http://schemas.microsoft.com/office/drawing/2014/main" id="{2FEA0981-AD72-A51B-65BF-D716F7F3BB69}"/>
              </a:ext>
            </a:extLst>
          </p:cNvPr>
          <p:cNvPicPr>
            <a:picLocks noChangeAspect="1"/>
          </p:cNvPicPr>
          <p:nvPr/>
        </p:nvPicPr>
        <p:blipFill>
          <a:blip r:embed="rId9"/>
          <a:srcRect r="15270" b="26538"/>
          <a:stretch>
            <a:fillRect/>
          </a:stretch>
        </p:blipFill>
        <p:spPr>
          <a:xfrm>
            <a:off x="10416983" y="236798"/>
            <a:ext cx="1440000" cy="527673"/>
          </a:xfrm>
          <a:prstGeom prst="roundRect">
            <a:avLst/>
          </a:prstGeom>
        </p:spPr>
      </p:pic>
      <p:sp>
        <p:nvSpPr>
          <p:cNvPr id="39" name="Shape 4">
            <a:extLst>
              <a:ext uri="{FF2B5EF4-FFF2-40B4-BE49-F238E27FC236}">
                <a16:creationId xmlns:a16="http://schemas.microsoft.com/office/drawing/2014/main" id="{C9596DAB-CFBB-6DBE-9F90-9B9126228BBD}"/>
              </a:ext>
            </a:extLst>
          </p:cNvPr>
          <p:cNvSpPr/>
          <p:nvPr/>
        </p:nvSpPr>
        <p:spPr>
          <a:xfrm>
            <a:off x="457200" y="1366520"/>
            <a:ext cx="11274552" cy="4709160"/>
          </a:xfrm>
          <a:prstGeom prst="roundRect">
            <a:avLst>
              <a:gd name="adj" fmla="val 1553"/>
            </a:avLst>
          </a:prstGeom>
          <a:solidFill>
            <a:srgbClr val="121A2E"/>
          </a:solidFill>
          <a:ln/>
        </p:spPr>
        <p:txBody>
          <a:bodyPr/>
          <a:lstStyle/>
          <a:p>
            <a:endParaRPr/>
          </a:p>
        </p:txBody>
      </p:sp>
      <p:sp>
        <p:nvSpPr>
          <p:cNvPr id="41" name="Text 5">
            <a:extLst>
              <a:ext uri="{FF2B5EF4-FFF2-40B4-BE49-F238E27FC236}">
                <a16:creationId xmlns:a16="http://schemas.microsoft.com/office/drawing/2014/main" id="{5493D50C-EA28-ACA1-F0BC-8E368315A83B}"/>
              </a:ext>
            </a:extLst>
          </p:cNvPr>
          <p:cNvSpPr txBox="1"/>
          <p:nvPr/>
        </p:nvSpPr>
        <p:spPr>
          <a:xfrm>
            <a:off x="822960" y="1795059"/>
            <a:ext cx="502920" cy="868680"/>
          </a:xfrm>
          <a:prstGeom prst="rect">
            <a:avLst/>
          </a:prstGeom>
          <a:noFill/>
          <a:ln/>
        </p:spPr>
        <p:txBody>
          <a:bodyPr wrap="square" lIns="0" tIns="0" rIns="0" bIns="0" rtlCol="0" anchor="t"/>
          <a:lstStyle/>
          <a:p>
            <a:pPr marL="0" indent="0" algn="l">
              <a:buNone/>
            </a:pPr>
            <a:r>
              <a:rPr lang="en-US" sz="1300" b="1" dirty="0">
                <a:solidFill>
                  <a:srgbClr val="22D3EE"/>
                </a:solidFill>
                <a:latin typeface="Tahoma" panose="020B0604030504040204" pitchFamily="34" charset="0"/>
                <a:ea typeface="Tahoma" panose="020B0604030504040204" pitchFamily="34" charset="0"/>
                <a:cs typeface="Tahoma" panose="020B0604030504040204" pitchFamily="34" charset="0"/>
              </a:rPr>
              <a:t>[1]</a:t>
            </a:r>
            <a:endParaRPr lang="en-US" sz="1300" dirty="0">
              <a:solidFill>
                <a:srgbClr val="22D3EE"/>
              </a:solidFill>
              <a:latin typeface="Tahoma" panose="020B0604030504040204" pitchFamily="34" charset="0"/>
              <a:ea typeface="Tahoma" panose="020B0604030504040204" pitchFamily="34" charset="0"/>
              <a:cs typeface="Tahoma" panose="020B0604030504040204" pitchFamily="34" charset="0"/>
            </a:endParaRPr>
          </a:p>
        </p:txBody>
      </p:sp>
      <p:sp>
        <p:nvSpPr>
          <p:cNvPr id="43" name="Text 6">
            <a:extLst>
              <a:ext uri="{FF2B5EF4-FFF2-40B4-BE49-F238E27FC236}">
                <a16:creationId xmlns:a16="http://schemas.microsoft.com/office/drawing/2014/main" id="{E2185471-373B-EABE-E921-B21122ACB291}"/>
              </a:ext>
            </a:extLst>
          </p:cNvPr>
          <p:cNvSpPr txBox="1"/>
          <p:nvPr/>
        </p:nvSpPr>
        <p:spPr>
          <a:xfrm>
            <a:off x="1325880" y="1743030"/>
            <a:ext cx="9994392" cy="868680"/>
          </a:xfrm>
          <a:prstGeom prst="rect">
            <a:avLst/>
          </a:prstGeom>
          <a:noFill/>
          <a:ln/>
        </p:spPr>
        <p:txBody>
          <a:bodyPr wrap="square" lIns="0" tIns="0" rIns="0" bIns="0" rtlCol="0" anchor="t"/>
          <a:lstStyle/>
          <a:p>
            <a:pPr>
              <a:lnSpc>
                <a:spcPct val="115000"/>
              </a:lnSpc>
            </a:pPr>
            <a:r>
              <a:rPr lang="en-US" sz="1300" dirty="0">
                <a:solidFill>
                  <a:srgbClr val="F5F7FA"/>
                </a:solidFill>
                <a:latin typeface="Tahoma" panose="020B0604030504040204" pitchFamily="34" charset="0"/>
                <a:ea typeface="Tahoma" panose="020B0604030504040204" pitchFamily="34" charset="0"/>
                <a:cs typeface="Tahoma" panose="020B0604030504040204" pitchFamily="34" charset="0"/>
              </a:rPr>
              <a:t>P. Sahu, A. Pradhan, A. P. Nathan, D. Dewangan, P. Bhagat, and V. Thakur, “AI Expense Tracker,” International Journal for Research in Applied Science &amp; Engineering Technology, vol. 13, no. V, May 2025, doi: </a:t>
            </a:r>
            <a:r>
              <a:rPr lang="en-US" sz="1300" dirty="0">
                <a:solidFill>
                  <a:srgbClr val="22D3EE"/>
                </a:solidFill>
                <a:latin typeface="Tahoma" panose="020B0604030504040204" pitchFamily="34" charset="0"/>
                <a:ea typeface="Tahoma" panose="020B0604030504040204" pitchFamily="34" charset="0"/>
                <a:cs typeface="Tahoma" panose="020B0604030504040204" pitchFamily="34" charset="0"/>
                <a:hlinkClick r:id="rId10">
                  <a:extLst>
                    <a:ext uri="{A12FA001-AC4F-418D-AE19-62706E023703}">
                      <ahyp:hlinkClr xmlns:ahyp="http://schemas.microsoft.com/office/drawing/2018/hyperlinkcolor" val="tx"/>
                    </a:ext>
                  </a:extLst>
                </a:hlinkClick>
              </a:rPr>
              <a:t>https://www.ijraset.com/best-journal/ai-expense-tracker</a:t>
            </a:r>
            <a:endParaRPr lang="en-US" sz="1300" dirty="0">
              <a:solidFill>
                <a:srgbClr val="22D3EE"/>
              </a:solidFill>
              <a:latin typeface="Tahoma" panose="020B0604030504040204" pitchFamily="34" charset="0"/>
              <a:ea typeface="Tahoma" panose="020B0604030504040204" pitchFamily="34" charset="0"/>
              <a:cs typeface="Tahoma" panose="020B0604030504040204" pitchFamily="34" charset="0"/>
            </a:endParaRPr>
          </a:p>
        </p:txBody>
      </p:sp>
      <p:sp>
        <p:nvSpPr>
          <p:cNvPr id="45" name="Shape 7">
            <a:extLst>
              <a:ext uri="{FF2B5EF4-FFF2-40B4-BE49-F238E27FC236}">
                <a16:creationId xmlns:a16="http://schemas.microsoft.com/office/drawing/2014/main" id="{77D23B29-4DFC-B067-2B25-22531345C743}"/>
              </a:ext>
            </a:extLst>
          </p:cNvPr>
          <p:cNvSpPr/>
          <p:nvPr/>
        </p:nvSpPr>
        <p:spPr>
          <a:xfrm>
            <a:off x="822960" y="2518664"/>
            <a:ext cx="10543032" cy="0"/>
          </a:xfrm>
          <a:prstGeom prst="line">
            <a:avLst/>
          </a:prstGeom>
          <a:noFill/>
          <a:ln w="12700">
            <a:solidFill>
              <a:srgbClr val="263252"/>
            </a:solidFill>
            <a:prstDash val="solid"/>
          </a:ln>
        </p:spPr>
        <p:txBody>
          <a:bodyPr/>
          <a:lstStyle/>
          <a:p>
            <a:endParaRPr/>
          </a:p>
        </p:txBody>
      </p:sp>
      <p:sp>
        <p:nvSpPr>
          <p:cNvPr id="47" name="Text 8">
            <a:extLst>
              <a:ext uri="{FF2B5EF4-FFF2-40B4-BE49-F238E27FC236}">
                <a16:creationId xmlns:a16="http://schemas.microsoft.com/office/drawing/2014/main" id="{E1EE56F9-95E4-A560-F083-414CD816D231}"/>
              </a:ext>
            </a:extLst>
          </p:cNvPr>
          <p:cNvSpPr txBox="1"/>
          <p:nvPr/>
        </p:nvSpPr>
        <p:spPr>
          <a:xfrm>
            <a:off x="822960" y="2902204"/>
            <a:ext cx="502920" cy="960120"/>
          </a:xfrm>
          <a:prstGeom prst="rect">
            <a:avLst/>
          </a:prstGeom>
          <a:noFill/>
          <a:ln/>
        </p:spPr>
        <p:txBody>
          <a:bodyPr wrap="square" lIns="0" tIns="0" rIns="0" bIns="0" rtlCol="0" anchor="t"/>
          <a:lstStyle/>
          <a:p>
            <a:pPr marL="0" indent="0" algn="l">
              <a:buNone/>
            </a:pPr>
            <a:r>
              <a:rPr lang="en-US" sz="1300" b="1" dirty="0">
                <a:solidFill>
                  <a:srgbClr val="22D3EE"/>
                </a:solidFill>
                <a:latin typeface="Tahoma" panose="020B0604030504040204" pitchFamily="34" charset="0"/>
                <a:ea typeface="Tahoma" panose="020B0604030504040204" pitchFamily="34" charset="0"/>
                <a:cs typeface="Tahoma" panose="020B0604030504040204" pitchFamily="34" charset="0"/>
              </a:rPr>
              <a:t>[2]</a:t>
            </a:r>
            <a:endParaRPr lang="en-US" sz="1300" dirty="0">
              <a:solidFill>
                <a:srgbClr val="22D3EE"/>
              </a:solidFill>
              <a:latin typeface="Tahoma" panose="020B0604030504040204" pitchFamily="34" charset="0"/>
              <a:ea typeface="Tahoma" panose="020B0604030504040204" pitchFamily="34" charset="0"/>
              <a:cs typeface="Tahoma" panose="020B0604030504040204" pitchFamily="34" charset="0"/>
            </a:endParaRPr>
          </a:p>
        </p:txBody>
      </p:sp>
      <p:sp>
        <p:nvSpPr>
          <p:cNvPr id="49" name="Text 9">
            <a:extLst>
              <a:ext uri="{FF2B5EF4-FFF2-40B4-BE49-F238E27FC236}">
                <a16:creationId xmlns:a16="http://schemas.microsoft.com/office/drawing/2014/main" id="{83D59B6E-60CC-7F06-15CE-B2C6E2BC3318}"/>
              </a:ext>
            </a:extLst>
          </p:cNvPr>
          <p:cNvSpPr txBox="1"/>
          <p:nvPr/>
        </p:nvSpPr>
        <p:spPr>
          <a:xfrm>
            <a:off x="1371600" y="2817155"/>
            <a:ext cx="9994392" cy="960120"/>
          </a:xfrm>
          <a:prstGeom prst="rect">
            <a:avLst/>
          </a:prstGeom>
          <a:noFill/>
          <a:ln/>
        </p:spPr>
        <p:txBody>
          <a:bodyPr wrap="square" lIns="0" tIns="0" rIns="0" bIns="0" rtlCol="0" anchor="t"/>
          <a:lstStyle/>
          <a:p>
            <a:pPr>
              <a:lnSpc>
                <a:spcPct val="115000"/>
              </a:lnSpc>
            </a:pPr>
            <a:r>
              <a:rPr lang="en-US" sz="1300" dirty="0">
                <a:solidFill>
                  <a:srgbClr val="F5F7FA"/>
                </a:solidFill>
                <a:latin typeface="Tahoma" panose="020B0604030504040204" pitchFamily="34" charset="0"/>
                <a:ea typeface="Tahoma" panose="020B0604030504040204" pitchFamily="34" charset="0"/>
                <a:cs typeface="Tahoma" panose="020B0604030504040204" pitchFamily="34" charset="0"/>
              </a:rPr>
              <a:t>P. Animuthu Abishek, A. Habeeb, N. M. Balasubramaninan, and K. Sivakumar, “Expense Tracker with In-Built AI,” International Journal of Scientific Research and Engineering Development, vol. 8, no. 2, pp. 2759–2765, Mar.–Apr. 2025, doi: </a:t>
            </a:r>
            <a:r>
              <a:rPr lang="en-US" sz="1300" dirty="0">
                <a:solidFill>
                  <a:srgbClr val="22D3EE"/>
                </a:solidFill>
                <a:latin typeface="Tahoma" panose="020B0604030504040204" pitchFamily="34" charset="0"/>
                <a:ea typeface="Tahoma" panose="020B0604030504040204" pitchFamily="34" charset="0"/>
                <a:cs typeface="Tahoma" panose="020B0604030504040204" pitchFamily="34" charset="0"/>
                <a:hlinkClick r:id="rId5">
                  <a:extLst>
                    <a:ext uri="{A12FA001-AC4F-418D-AE19-62706E023703}">
                      <ahyp:hlinkClr xmlns:ahyp="http://schemas.microsoft.com/office/drawing/2018/hyperlinkcolor" val="tx"/>
                    </a:ext>
                  </a:extLst>
                </a:hlinkClick>
              </a:rPr>
              <a:t>https://ijsred.com/volume8/issue2/IJSRED-V8I2P397.pdf</a:t>
            </a:r>
            <a:endParaRPr lang="en-US" sz="1300" dirty="0">
              <a:solidFill>
                <a:srgbClr val="22D3EE"/>
              </a:solidFill>
              <a:latin typeface="Tahoma" panose="020B0604030504040204" pitchFamily="34" charset="0"/>
              <a:ea typeface="Tahoma" panose="020B0604030504040204" pitchFamily="34" charset="0"/>
              <a:cs typeface="Tahoma" panose="020B0604030504040204" pitchFamily="34" charset="0"/>
            </a:endParaRPr>
          </a:p>
        </p:txBody>
      </p:sp>
      <p:sp>
        <p:nvSpPr>
          <p:cNvPr id="51" name="Shape 10">
            <a:extLst>
              <a:ext uri="{FF2B5EF4-FFF2-40B4-BE49-F238E27FC236}">
                <a16:creationId xmlns:a16="http://schemas.microsoft.com/office/drawing/2014/main" id="{A5339BF5-0B29-6C4D-E948-DC97436F2611}"/>
              </a:ext>
            </a:extLst>
          </p:cNvPr>
          <p:cNvSpPr/>
          <p:nvPr/>
        </p:nvSpPr>
        <p:spPr>
          <a:xfrm>
            <a:off x="822960" y="3643376"/>
            <a:ext cx="10543032" cy="0"/>
          </a:xfrm>
          <a:prstGeom prst="line">
            <a:avLst/>
          </a:prstGeom>
          <a:noFill/>
          <a:ln w="12700">
            <a:solidFill>
              <a:srgbClr val="263252"/>
            </a:solidFill>
            <a:prstDash val="solid"/>
          </a:ln>
        </p:spPr>
        <p:txBody>
          <a:bodyPr/>
          <a:lstStyle/>
          <a:p>
            <a:endParaRPr/>
          </a:p>
        </p:txBody>
      </p:sp>
      <p:sp>
        <p:nvSpPr>
          <p:cNvPr id="53" name="Text 11">
            <a:extLst>
              <a:ext uri="{FF2B5EF4-FFF2-40B4-BE49-F238E27FC236}">
                <a16:creationId xmlns:a16="http://schemas.microsoft.com/office/drawing/2014/main" id="{F562EA61-BB78-3276-1B83-F2C065FCBA82}"/>
              </a:ext>
            </a:extLst>
          </p:cNvPr>
          <p:cNvSpPr txBox="1"/>
          <p:nvPr/>
        </p:nvSpPr>
        <p:spPr>
          <a:xfrm>
            <a:off x="822960" y="3944112"/>
            <a:ext cx="502920" cy="658368"/>
          </a:xfrm>
          <a:prstGeom prst="rect">
            <a:avLst/>
          </a:prstGeom>
          <a:noFill/>
          <a:ln/>
        </p:spPr>
        <p:txBody>
          <a:bodyPr wrap="square" lIns="0" tIns="0" rIns="0" bIns="0" rtlCol="0" anchor="t"/>
          <a:lstStyle/>
          <a:p>
            <a:pPr marL="0" indent="0" algn="l">
              <a:buNone/>
            </a:pPr>
            <a:r>
              <a:rPr lang="en-US" sz="1300" b="1" dirty="0">
                <a:solidFill>
                  <a:srgbClr val="22D3EE"/>
                </a:solidFill>
                <a:latin typeface="Tahoma" panose="020B0604030504040204" pitchFamily="34" charset="0"/>
                <a:ea typeface="Tahoma" panose="020B0604030504040204" pitchFamily="34" charset="0"/>
                <a:cs typeface="Tahoma" panose="020B0604030504040204" pitchFamily="34" charset="0"/>
              </a:rPr>
              <a:t>[3]</a:t>
            </a:r>
            <a:endParaRPr lang="en-US" sz="1300" dirty="0">
              <a:solidFill>
                <a:srgbClr val="22D3EE"/>
              </a:solidFill>
              <a:latin typeface="Tahoma" panose="020B0604030504040204" pitchFamily="34" charset="0"/>
              <a:ea typeface="Tahoma" panose="020B0604030504040204" pitchFamily="34" charset="0"/>
              <a:cs typeface="Tahoma" panose="020B0604030504040204" pitchFamily="34" charset="0"/>
            </a:endParaRPr>
          </a:p>
        </p:txBody>
      </p:sp>
      <p:sp>
        <p:nvSpPr>
          <p:cNvPr id="55" name="Text 12">
            <a:extLst>
              <a:ext uri="{FF2B5EF4-FFF2-40B4-BE49-F238E27FC236}">
                <a16:creationId xmlns:a16="http://schemas.microsoft.com/office/drawing/2014/main" id="{1DA61B3E-1B14-48B8-8E7F-9F664ADC36A9}"/>
              </a:ext>
            </a:extLst>
          </p:cNvPr>
          <p:cNvSpPr txBox="1"/>
          <p:nvPr/>
        </p:nvSpPr>
        <p:spPr>
          <a:xfrm>
            <a:off x="1389888" y="3943095"/>
            <a:ext cx="9994392" cy="658368"/>
          </a:xfrm>
          <a:prstGeom prst="rect">
            <a:avLst/>
          </a:prstGeom>
          <a:noFill/>
          <a:ln/>
        </p:spPr>
        <p:txBody>
          <a:bodyPr wrap="square" lIns="0" tIns="0" rIns="0" bIns="0" rtlCol="0" anchor="t"/>
          <a:lstStyle/>
          <a:p>
            <a:pPr marL="0" indent="0" algn="l">
              <a:lnSpc>
                <a:spcPct val="115000"/>
              </a:lnSpc>
              <a:buNone/>
            </a:pPr>
            <a:r>
              <a:rPr lang="en-US" sz="1300" dirty="0">
                <a:solidFill>
                  <a:srgbClr val="F5F7FA"/>
                </a:solidFill>
                <a:latin typeface="Tahoma" panose="020B0604030504040204" pitchFamily="34" charset="0"/>
                <a:ea typeface="Tahoma" panose="020B0604030504040204" pitchFamily="34" charset="0"/>
                <a:cs typeface="Tahoma" panose="020B0604030504040204" pitchFamily="34" charset="0"/>
              </a:rPr>
              <a:t>Spring, “Spring Boot Documentation,” Spring. [Online]. Available: </a:t>
            </a:r>
            <a:r>
              <a:rPr lang="en-US" sz="1300" dirty="0">
                <a:solidFill>
                  <a:srgbClr val="22D3EE"/>
                </a:solidFill>
                <a:latin typeface="Tahoma" panose="020B0604030504040204" pitchFamily="34" charset="0"/>
                <a:ea typeface="Tahoma" panose="020B0604030504040204" pitchFamily="34" charset="0"/>
                <a:cs typeface="Tahoma" panose="020B0604030504040204" pitchFamily="34" charset="0"/>
                <a:hlinkClick r:id="rId11">
                  <a:extLst>
                    <a:ext uri="{A12FA001-AC4F-418D-AE19-62706E023703}">
                      <ahyp:hlinkClr xmlns:ahyp="http://schemas.microsoft.com/office/drawing/2018/hyperlinkcolor" val="tx"/>
                    </a:ext>
                  </a:extLst>
                </a:hlinkClick>
              </a:rPr>
              <a:t>https://docs.spring.io/spring-boot/</a:t>
            </a:r>
            <a:endParaRPr lang="en-US" sz="1300" dirty="0">
              <a:solidFill>
                <a:srgbClr val="22D3EE"/>
              </a:solidFill>
              <a:latin typeface="Tahoma" panose="020B0604030504040204" pitchFamily="34" charset="0"/>
              <a:ea typeface="Tahoma" panose="020B0604030504040204" pitchFamily="34" charset="0"/>
              <a:cs typeface="Tahoma" panose="020B0604030504040204" pitchFamily="34" charset="0"/>
            </a:endParaRPr>
          </a:p>
        </p:txBody>
      </p:sp>
      <p:sp>
        <p:nvSpPr>
          <p:cNvPr id="57" name="Shape 13">
            <a:extLst>
              <a:ext uri="{FF2B5EF4-FFF2-40B4-BE49-F238E27FC236}">
                <a16:creationId xmlns:a16="http://schemas.microsoft.com/office/drawing/2014/main" id="{DF9C422B-A104-D46E-8826-6BD2728A8D68}"/>
              </a:ext>
            </a:extLst>
          </p:cNvPr>
          <p:cNvSpPr/>
          <p:nvPr/>
        </p:nvSpPr>
        <p:spPr>
          <a:xfrm>
            <a:off x="822960" y="4466336"/>
            <a:ext cx="10543032" cy="0"/>
          </a:xfrm>
          <a:prstGeom prst="line">
            <a:avLst/>
          </a:prstGeom>
          <a:noFill/>
          <a:ln w="12700">
            <a:solidFill>
              <a:srgbClr val="263252"/>
            </a:solidFill>
            <a:prstDash val="solid"/>
          </a:ln>
        </p:spPr>
        <p:txBody>
          <a:bodyPr/>
          <a:lstStyle/>
          <a:p>
            <a:endParaRPr/>
          </a:p>
        </p:txBody>
      </p:sp>
      <p:sp>
        <p:nvSpPr>
          <p:cNvPr id="59" name="Text 14">
            <a:extLst>
              <a:ext uri="{FF2B5EF4-FFF2-40B4-BE49-F238E27FC236}">
                <a16:creationId xmlns:a16="http://schemas.microsoft.com/office/drawing/2014/main" id="{A5006D3C-F90A-3411-EBEB-ADD093339FF6}"/>
              </a:ext>
            </a:extLst>
          </p:cNvPr>
          <p:cNvSpPr txBox="1"/>
          <p:nvPr/>
        </p:nvSpPr>
        <p:spPr>
          <a:xfrm>
            <a:off x="822960" y="4715257"/>
            <a:ext cx="502920" cy="566928"/>
          </a:xfrm>
          <a:prstGeom prst="rect">
            <a:avLst/>
          </a:prstGeom>
          <a:noFill/>
          <a:ln/>
        </p:spPr>
        <p:txBody>
          <a:bodyPr wrap="square" lIns="0" tIns="0" rIns="0" bIns="0" rtlCol="0" anchor="t"/>
          <a:lstStyle/>
          <a:p>
            <a:pPr marL="0" indent="0" algn="l">
              <a:buNone/>
            </a:pPr>
            <a:r>
              <a:rPr lang="en-US" sz="1300" b="1" dirty="0">
                <a:solidFill>
                  <a:srgbClr val="22D3EE"/>
                </a:solidFill>
                <a:latin typeface="Tahoma" panose="020B0604030504040204" pitchFamily="34" charset="0"/>
                <a:ea typeface="Tahoma" panose="020B0604030504040204" pitchFamily="34" charset="0"/>
                <a:cs typeface="Tahoma" panose="020B0604030504040204" pitchFamily="34" charset="0"/>
              </a:rPr>
              <a:t>[4]</a:t>
            </a:r>
            <a:endParaRPr lang="en-US" sz="1300" dirty="0">
              <a:solidFill>
                <a:srgbClr val="22D3EE"/>
              </a:solidFill>
              <a:latin typeface="Tahoma" panose="020B0604030504040204" pitchFamily="34" charset="0"/>
              <a:ea typeface="Tahoma" panose="020B0604030504040204" pitchFamily="34" charset="0"/>
              <a:cs typeface="Tahoma" panose="020B0604030504040204" pitchFamily="34" charset="0"/>
            </a:endParaRPr>
          </a:p>
        </p:txBody>
      </p:sp>
      <p:sp>
        <p:nvSpPr>
          <p:cNvPr id="61" name="Text 15">
            <a:extLst>
              <a:ext uri="{FF2B5EF4-FFF2-40B4-BE49-F238E27FC236}">
                <a16:creationId xmlns:a16="http://schemas.microsoft.com/office/drawing/2014/main" id="{4B58C882-7AB1-4690-2A07-4FDD530B9891}"/>
              </a:ext>
            </a:extLst>
          </p:cNvPr>
          <p:cNvSpPr txBox="1"/>
          <p:nvPr/>
        </p:nvSpPr>
        <p:spPr>
          <a:xfrm>
            <a:off x="1371600" y="4713224"/>
            <a:ext cx="9994392" cy="566928"/>
          </a:xfrm>
          <a:prstGeom prst="rect">
            <a:avLst/>
          </a:prstGeom>
          <a:noFill/>
          <a:ln/>
        </p:spPr>
        <p:txBody>
          <a:bodyPr wrap="square" lIns="0" tIns="0" rIns="0" bIns="0" rtlCol="0" anchor="t"/>
          <a:lstStyle/>
          <a:p>
            <a:pPr marL="0" indent="0" algn="l">
              <a:lnSpc>
                <a:spcPct val="115000"/>
              </a:lnSpc>
              <a:buNone/>
            </a:pPr>
            <a:r>
              <a:rPr lang="en-US" sz="1300" dirty="0">
                <a:solidFill>
                  <a:srgbClr val="F5F7FA"/>
                </a:solidFill>
                <a:latin typeface="Tahoma" panose="020B0604030504040204" pitchFamily="34" charset="0"/>
                <a:ea typeface="Tahoma" panose="020B0604030504040204" pitchFamily="34" charset="0"/>
                <a:cs typeface="Tahoma" panose="020B0604030504040204" pitchFamily="34" charset="0"/>
              </a:rPr>
              <a:t>Meta, “React Documentation,” React. [Online]. Available: </a:t>
            </a:r>
            <a:r>
              <a:rPr lang="en-US" sz="1300" dirty="0">
                <a:solidFill>
                  <a:srgbClr val="22D3EE"/>
                </a:solidFill>
                <a:latin typeface="Tahoma" panose="020B0604030504040204" pitchFamily="34" charset="0"/>
                <a:ea typeface="Tahoma" panose="020B0604030504040204" pitchFamily="34" charset="0"/>
                <a:cs typeface="Tahoma" panose="020B0604030504040204" pitchFamily="34" charset="0"/>
                <a:hlinkClick r:id="rId12">
                  <a:extLst>
                    <a:ext uri="{A12FA001-AC4F-418D-AE19-62706E023703}">
                      <ahyp:hlinkClr xmlns:ahyp="http://schemas.microsoft.com/office/drawing/2018/hyperlinkcolor" val="tx"/>
                    </a:ext>
                  </a:extLst>
                </a:hlinkClick>
              </a:rPr>
              <a:t>https://react.dev/reference/react</a:t>
            </a:r>
            <a:endParaRPr lang="en-US" sz="1300" dirty="0">
              <a:solidFill>
                <a:srgbClr val="22D3EE"/>
              </a:solidFill>
              <a:latin typeface="Tahoma" panose="020B0604030504040204" pitchFamily="34" charset="0"/>
              <a:ea typeface="Tahoma" panose="020B0604030504040204" pitchFamily="34" charset="0"/>
              <a:cs typeface="Tahoma" panose="020B0604030504040204" pitchFamily="34" charset="0"/>
            </a:endParaRPr>
          </a:p>
        </p:txBody>
      </p:sp>
      <p:sp>
        <p:nvSpPr>
          <p:cNvPr id="63" name="Shape 16">
            <a:extLst>
              <a:ext uri="{FF2B5EF4-FFF2-40B4-BE49-F238E27FC236}">
                <a16:creationId xmlns:a16="http://schemas.microsoft.com/office/drawing/2014/main" id="{FA458C4C-107A-F278-3B32-AC8745F56EF2}"/>
              </a:ext>
            </a:extLst>
          </p:cNvPr>
          <p:cNvSpPr/>
          <p:nvPr/>
        </p:nvSpPr>
        <p:spPr>
          <a:xfrm>
            <a:off x="822960" y="5197856"/>
            <a:ext cx="10543032" cy="0"/>
          </a:xfrm>
          <a:prstGeom prst="line">
            <a:avLst/>
          </a:prstGeom>
          <a:noFill/>
          <a:ln w="12700">
            <a:solidFill>
              <a:srgbClr val="263252"/>
            </a:solidFill>
            <a:prstDash val="solid"/>
          </a:ln>
        </p:spPr>
        <p:txBody>
          <a:bodyPr/>
          <a:lstStyle/>
          <a:p>
            <a:endParaRPr/>
          </a:p>
        </p:txBody>
      </p:sp>
      <p:sp>
        <p:nvSpPr>
          <p:cNvPr id="65" name="Text 17">
            <a:extLst>
              <a:ext uri="{FF2B5EF4-FFF2-40B4-BE49-F238E27FC236}">
                <a16:creationId xmlns:a16="http://schemas.microsoft.com/office/drawing/2014/main" id="{84134891-E97C-312C-E100-1D8E6F610398}"/>
              </a:ext>
            </a:extLst>
          </p:cNvPr>
          <p:cNvSpPr txBox="1"/>
          <p:nvPr/>
        </p:nvSpPr>
        <p:spPr>
          <a:xfrm>
            <a:off x="822960" y="5426456"/>
            <a:ext cx="502920" cy="658368"/>
          </a:xfrm>
          <a:prstGeom prst="rect">
            <a:avLst/>
          </a:prstGeom>
          <a:noFill/>
          <a:ln/>
        </p:spPr>
        <p:txBody>
          <a:bodyPr wrap="square" lIns="0" tIns="0" rIns="0" bIns="0" rtlCol="0" anchor="t"/>
          <a:lstStyle/>
          <a:p>
            <a:pPr marL="0" indent="0" algn="l">
              <a:buNone/>
            </a:pPr>
            <a:r>
              <a:rPr lang="en-US" sz="1300" b="1" dirty="0">
                <a:solidFill>
                  <a:srgbClr val="22D3EE"/>
                </a:solidFill>
                <a:latin typeface="Tahoma" panose="020B0604030504040204" pitchFamily="34" charset="0"/>
                <a:ea typeface="Tahoma" panose="020B0604030504040204" pitchFamily="34" charset="0"/>
                <a:cs typeface="Tahoma" panose="020B0604030504040204" pitchFamily="34" charset="0"/>
              </a:rPr>
              <a:t>[5]</a:t>
            </a:r>
            <a:endParaRPr lang="en-US" sz="1300" dirty="0">
              <a:solidFill>
                <a:srgbClr val="22D3EE"/>
              </a:solidFill>
              <a:latin typeface="Tahoma" panose="020B0604030504040204" pitchFamily="34" charset="0"/>
              <a:ea typeface="Tahoma" panose="020B0604030504040204" pitchFamily="34" charset="0"/>
              <a:cs typeface="Tahoma" panose="020B0604030504040204" pitchFamily="34" charset="0"/>
            </a:endParaRPr>
          </a:p>
        </p:txBody>
      </p:sp>
      <p:sp>
        <p:nvSpPr>
          <p:cNvPr id="67" name="Text 18">
            <a:extLst>
              <a:ext uri="{FF2B5EF4-FFF2-40B4-BE49-F238E27FC236}">
                <a16:creationId xmlns:a16="http://schemas.microsoft.com/office/drawing/2014/main" id="{C9E797C4-86E8-D2DA-A6AA-704F897AC4E8}"/>
              </a:ext>
            </a:extLst>
          </p:cNvPr>
          <p:cNvSpPr txBox="1"/>
          <p:nvPr/>
        </p:nvSpPr>
        <p:spPr>
          <a:xfrm>
            <a:off x="1371600" y="5455707"/>
            <a:ext cx="9994392" cy="658368"/>
          </a:xfrm>
          <a:prstGeom prst="rect">
            <a:avLst/>
          </a:prstGeom>
          <a:noFill/>
          <a:ln/>
        </p:spPr>
        <p:txBody>
          <a:bodyPr wrap="square" lIns="0" tIns="0" rIns="0" bIns="0" rtlCol="0" anchor="t"/>
          <a:lstStyle/>
          <a:p>
            <a:pPr marL="0" indent="0" algn="l">
              <a:lnSpc>
                <a:spcPct val="115000"/>
              </a:lnSpc>
              <a:buNone/>
            </a:pPr>
            <a:r>
              <a:rPr lang="en-US" sz="1300" dirty="0">
                <a:solidFill>
                  <a:srgbClr val="F5F7FA"/>
                </a:solidFill>
                <a:latin typeface="Tahoma" panose="020B0604030504040204" pitchFamily="34" charset="0"/>
                <a:ea typeface="Tahoma" panose="020B0604030504040204" pitchFamily="34" charset="0"/>
                <a:cs typeface="Tahoma" panose="020B0604030504040204" pitchFamily="34" charset="0"/>
              </a:rPr>
              <a:t>Google, “Gemini API Documentation,” Google AI for Developers. [Online]. Available: </a:t>
            </a:r>
            <a:r>
              <a:rPr lang="en-US" sz="1300" dirty="0">
                <a:solidFill>
                  <a:srgbClr val="22D3EE"/>
                </a:solidFill>
                <a:latin typeface="Tahoma" panose="020B0604030504040204" pitchFamily="34" charset="0"/>
                <a:ea typeface="Tahoma" panose="020B0604030504040204" pitchFamily="34" charset="0"/>
                <a:cs typeface="Tahoma" panose="020B0604030504040204" pitchFamily="34" charset="0"/>
                <a:hlinkClick r:id="rId13">
                  <a:extLst>
                    <a:ext uri="{A12FA001-AC4F-418D-AE19-62706E023703}">
                      <ahyp:hlinkClr xmlns:ahyp="http://schemas.microsoft.com/office/drawing/2018/hyperlinkcolor" val="tx"/>
                    </a:ext>
                  </a:extLst>
                </a:hlinkClick>
              </a:rPr>
              <a:t>https://ai.google.dev/gemini-api/docs</a:t>
            </a:r>
            <a:endParaRPr lang="en-US" sz="1300" dirty="0">
              <a:solidFill>
                <a:srgbClr val="22D3EE"/>
              </a:solidFill>
              <a:latin typeface="Tahoma" panose="020B0604030504040204" pitchFamily="34" charset="0"/>
              <a:ea typeface="Tahoma" panose="020B0604030504040204" pitchFamily="34" charset="0"/>
              <a:cs typeface="Tahoma" panose="020B0604030504040204"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A0F1F"/>
        </a:solidFill>
        <a:effectLst/>
      </p:bgPr>
    </p:bg>
    <p:spTree>
      <p:nvGrpSpPr>
        <p:cNvPr id="1" name="">
          <a:extLst>
            <a:ext uri="{FF2B5EF4-FFF2-40B4-BE49-F238E27FC236}">
              <a16:creationId xmlns:a16="http://schemas.microsoft.com/office/drawing/2014/main" id="{02EAC004-59E6-5DD5-B3BE-C1D8217B87BE}"/>
            </a:ext>
          </a:extLst>
        </p:cNvPr>
        <p:cNvGrpSpPr/>
        <p:nvPr/>
      </p:nvGrpSpPr>
      <p:grpSpPr>
        <a:xfrm>
          <a:off x="0" y="0"/>
          <a:ext cx="0" cy="0"/>
          <a:chOff x="0" y="0"/>
          <a:chExt cx="0" cy="0"/>
        </a:xfrm>
      </p:grpSpPr>
      <p:sp>
        <p:nvSpPr>
          <p:cNvPr id="193" name="Shape 0">
            <a:extLst>
              <a:ext uri="{FF2B5EF4-FFF2-40B4-BE49-F238E27FC236}">
                <a16:creationId xmlns:a16="http://schemas.microsoft.com/office/drawing/2014/main" id="{2C718960-13D7-D07A-1170-CA869E062274}"/>
              </a:ext>
            </a:extLst>
          </p:cNvPr>
          <p:cNvSpPr/>
          <p:nvPr/>
        </p:nvSpPr>
        <p:spPr>
          <a:xfrm>
            <a:off x="10561320" y="320040"/>
            <a:ext cx="1325880" cy="384048"/>
          </a:xfrm>
          <a:prstGeom prst="roundRect">
            <a:avLst>
              <a:gd name="adj" fmla="val 14286"/>
            </a:avLst>
          </a:prstGeom>
          <a:solidFill>
            <a:srgbClr val="141B2E"/>
          </a:solidFill>
          <a:ln w="9525">
            <a:solidFill>
              <a:srgbClr val="26314A"/>
            </a:solidFill>
            <a:prstDash val="solid"/>
          </a:ln>
        </p:spPr>
        <p:txBody>
          <a:bodyPr/>
          <a:lstStyle/>
          <a:p>
            <a:endParaRPr/>
          </a:p>
        </p:txBody>
      </p:sp>
      <p:sp>
        <p:nvSpPr>
          <p:cNvPr id="195" name="Text 1">
            <a:extLst>
              <a:ext uri="{FF2B5EF4-FFF2-40B4-BE49-F238E27FC236}">
                <a16:creationId xmlns:a16="http://schemas.microsoft.com/office/drawing/2014/main" id="{901845B1-515C-D826-FA87-01ABD5F5517C}"/>
              </a:ext>
            </a:extLst>
          </p:cNvPr>
          <p:cNvSpPr txBox="1"/>
          <p:nvPr/>
        </p:nvSpPr>
        <p:spPr>
          <a:xfrm>
            <a:off x="10561320" y="320040"/>
            <a:ext cx="1325880" cy="384048"/>
          </a:xfrm>
          <a:prstGeom prst="rect">
            <a:avLst/>
          </a:prstGeom>
          <a:noFill/>
          <a:ln/>
        </p:spPr>
        <p:txBody>
          <a:bodyPr wrap="square" lIns="0" tIns="0" rIns="0" bIns="0" rtlCol="0" anchor="ctr"/>
          <a:lstStyle/>
          <a:p>
            <a:pPr marL="0" indent="0" algn="ctr">
              <a:buNone/>
            </a:pPr>
            <a:r>
              <a:rPr lang="en-US" sz="900" b="1" dirty="0">
                <a:solidFill>
                  <a:srgbClr val="8B93A7"/>
                </a:solidFill>
                <a:latin typeface="Tahoma" pitchFamily="34" charset="0"/>
                <a:ea typeface="Tahoma" pitchFamily="34" charset="-122"/>
                <a:cs typeface="Tahoma" pitchFamily="34" charset="-120"/>
              </a:rPr>
              <a:t>CVV LOGO</a:t>
            </a:r>
            <a:endParaRPr lang="en-US" sz="900" dirty="0"/>
          </a:p>
        </p:txBody>
      </p:sp>
      <p:sp>
        <p:nvSpPr>
          <p:cNvPr id="197" name="Shape 2">
            <a:extLst>
              <a:ext uri="{FF2B5EF4-FFF2-40B4-BE49-F238E27FC236}">
                <a16:creationId xmlns:a16="http://schemas.microsoft.com/office/drawing/2014/main" id="{0CF76A5F-05CA-A055-7EE1-8803E69CC3E2}"/>
              </a:ext>
            </a:extLst>
          </p:cNvPr>
          <p:cNvSpPr/>
          <p:nvPr/>
        </p:nvSpPr>
        <p:spPr>
          <a:xfrm>
            <a:off x="8759952" y="1280160"/>
            <a:ext cx="2267712" cy="466344"/>
          </a:xfrm>
          <a:prstGeom prst="line">
            <a:avLst/>
          </a:prstGeom>
          <a:noFill/>
          <a:ln w="12700">
            <a:solidFill>
              <a:srgbClr val="1E3A52"/>
            </a:solidFill>
            <a:prstDash val="solid"/>
          </a:ln>
        </p:spPr>
        <p:txBody>
          <a:bodyPr/>
          <a:lstStyle/>
          <a:p>
            <a:endParaRPr/>
          </a:p>
        </p:txBody>
      </p:sp>
      <p:sp>
        <p:nvSpPr>
          <p:cNvPr id="199" name="Shape 3">
            <a:extLst>
              <a:ext uri="{FF2B5EF4-FFF2-40B4-BE49-F238E27FC236}">
                <a16:creationId xmlns:a16="http://schemas.microsoft.com/office/drawing/2014/main" id="{F740CB1F-9D24-2DD8-7373-DCF7EB0689C2}"/>
              </a:ext>
            </a:extLst>
          </p:cNvPr>
          <p:cNvSpPr/>
          <p:nvPr/>
        </p:nvSpPr>
        <p:spPr>
          <a:xfrm>
            <a:off x="8759952" y="1280160"/>
            <a:ext cx="1673352" cy="1819656"/>
          </a:xfrm>
          <a:prstGeom prst="line">
            <a:avLst/>
          </a:prstGeom>
          <a:noFill/>
          <a:ln w="12700">
            <a:solidFill>
              <a:srgbClr val="1E3A52"/>
            </a:solidFill>
            <a:prstDash val="solid"/>
          </a:ln>
        </p:spPr>
        <p:txBody>
          <a:bodyPr/>
          <a:lstStyle/>
          <a:p>
            <a:endParaRPr/>
          </a:p>
        </p:txBody>
      </p:sp>
      <p:sp>
        <p:nvSpPr>
          <p:cNvPr id="203" name="Shape 5">
            <a:extLst>
              <a:ext uri="{FF2B5EF4-FFF2-40B4-BE49-F238E27FC236}">
                <a16:creationId xmlns:a16="http://schemas.microsoft.com/office/drawing/2014/main" id="{F5530D38-4AE5-FC5C-AEF3-00390599584F}"/>
              </a:ext>
            </a:extLst>
          </p:cNvPr>
          <p:cNvSpPr/>
          <p:nvPr/>
        </p:nvSpPr>
        <p:spPr>
          <a:xfrm>
            <a:off x="11027664" y="1746504"/>
            <a:ext cx="365760" cy="1078992"/>
          </a:xfrm>
          <a:prstGeom prst="line">
            <a:avLst/>
          </a:prstGeom>
          <a:noFill/>
          <a:ln w="12700">
            <a:solidFill>
              <a:srgbClr val="1E3A52"/>
            </a:solidFill>
            <a:prstDash val="solid"/>
          </a:ln>
        </p:spPr>
        <p:txBody>
          <a:bodyPr/>
          <a:lstStyle/>
          <a:p>
            <a:endParaRPr/>
          </a:p>
        </p:txBody>
      </p:sp>
      <p:sp>
        <p:nvSpPr>
          <p:cNvPr id="205" name="Shape 6">
            <a:extLst>
              <a:ext uri="{FF2B5EF4-FFF2-40B4-BE49-F238E27FC236}">
                <a16:creationId xmlns:a16="http://schemas.microsoft.com/office/drawing/2014/main" id="{B7D696F1-C215-2795-E624-D50E8003E0B3}"/>
              </a:ext>
            </a:extLst>
          </p:cNvPr>
          <p:cNvSpPr/>
          <p:nvPr/>
        </p:nvSpPr>
        <p:spPr>
          <a:xfrm flipV="1">
            <a:off x="8860536" y="1746504"/>
            <a:ext cx="2167128" cy="3374136"/>
          </a:xfrm>
          <a:prstGeom prst="line">
            <a:avLst/>
          </a:prstGeom>
          <a:noFill/>
          <a:ln w="12700">
            <a:solidFill>
              <a:srgbClr val="1E3A52"/>
            </a:solidFill>
            <a:prstDash val="solid"/>
          </a:ln>
        </p:spPr>
        <p:txBody>
          <a:bodyPr/>
          <a:lstStyle/>
          <a:p>
            <a:endParaRPr/>
          </a:p>
        </p:txBody>
      </p:sp>
      <p:sp>
        <p:nvSpPr>
          <p:cNvPr id="207" name="Shape 7">
            <a:extLst>
              <a:ext uri="{FF2B5EF4-FFF2-40B4-BE49-F238E27FC236}">
                <a16:creationId xmlns:a16="http://schemas.microsoft.com/office/drawing/2014/main" id="{0220E0B3-83F1-2227-D85D-9D7131E12D1E}"/>
              </a:ext>
            </a:extLst>
          </p:cNvPr>
          <p:cNvSpPr/>
          <p:nvPr/>
        </p:nvSpPr>
        <p:spPr>
          <a:xfrm>
            <a:off x="8311896" y="2651760"/>
            <a:ext cx="2121408" cy="448056"/>
          </a:xfrm>
          <a:prstGeom prst="line">
            <a:avLst/>
          </a:prstGeom>
          <a:noFill/>
          <a:ln w="12700">
            <a:solidFill>
              <a:srgbClr val="1E3A52"/>
            </a:solidFill>
            <a:prstDash val="solid"/>
          </a:ln>
        </p:spPr>
        <p:txBody>
          <a:bodyPr/>
          <a:lstStyle/>
          <a:p>
            <a:endParaRPr/>
          </a:p>
        </p:txBody>
      </p:sp>
      <p:sp>
        <p:nvSpPr>
          <p:cNvPr id="209" name="Shape 8">
            <a:extLst>
              <a:ext uri="{FF2B5EF4-FFF2-40B4-BE49-F238E27FC236}">
                <a16:creationId xmlns:a16="http://schemas.microsoft.com/office/drawing/2014/main" id="{4324F6EB-B530-646F-7416-58047FE669D7}"/>
              </a:ext>
            </a:extLst>
          </p:cNvPr>
          <p:cNvSpPr/>
          <p:nvPr/>
        </p:nvSpPr>
        <p:spPr>
          <a:xfrm flipV="1">
            <a:off x="7863840" y="2651760"/>
            <a:ext cx="448056" cy="1179576"/>
          </a:xfrm>
          <a:prstGeom prst="line">
            <a:avLst/>
          </a:prstGeom>
          <a:noFill/>
          <a:ln w="12700">
            <a:solidFill>
              <a:srgbClr val="1E3A52"/>
            </a:solidFill>
            <a:prstDash val="solid"/>
          </a:ln>
        </p:spPr>
        <p:txBody>
          <a:bodyPr/>
          <a:lstStyle/>
          <a:p>
            <a:endParaRPr/>
          </a:p>
        </p:txBody>
      </p:sp>
      <p:sp>
        <p:nvSpPr>
          <p:cNvPr id="211" name="Shape 9">
            <a:extLst>
              <a:ext uri="{FF2B5EF4-FFF2-40B4-BE49-F238E27FC236}">
                <a16:creationId xmlns:a16="http://schemas.microsoft.com/office/drawing/2014/main" id="{DF2E1700-F103-87C7-93A4-72BFB1769438}"/>
              </a:ext>
            </a:extLst>
          </p:cNvPr>
          <p:cNvSpPr/>
          <p:nvPr/>
        </p:nvSpPr>
        <p:spPr>
          <a:xfrm flipV="1">
            <a:off x="10433304" y="2825496"/>
            <a:ext cx="960120" cy="274320"/>
          </a:xfrm>
          <a:prstGeom prst="line">
            <a:avLst/>
          </a:prstGeom>
          <a:noFill/>
          <a:ln w="12700">
            <a:solidFill>
              <a:srgbClr val="1E3A52"/>
            </a:solidFill>
            <a:prstDash val="solid"/>
          </a:ln>
        </p:spPr>
        <p:txBody>
          <a:bodyPr/>
          <a:lstStyle/>
          <a:p>
            <a:endParaRPr/>
          </a:p>
        </p:txBody>
      </p:sp>
      <p:sp>
        <p:nvSpPr>
          <p:cNvPr id="213" name="Shape 10">
            <a:extLst>
              <a:ext uri="{FF2B5EF4-FFF2-40B4-BE49-F238E27FC236}">
                <a16:creationId xmlns:a16="http://schemas.microsoft.com/office/drawing/2014/main" id="{DE8E40F8-DD6C-F2A3-14DD-9F7B4161AFF7}"/>
              </a:ext>
            </a:extLst>
          </p:cNvPr>
          <p:cNvSpPr/>
          <p:nvPr/>
        </p:nvSpPr>
        <p:spPr>
          <a:xfrm flipV="1">
            <a:off x="9244584" y="3099816"/>
            <a:ext cx="1188720" cy="832104"/>
          </a:xfrm>
          <a:prstGeom prst="line">
            <a:avLst/>
          </a:prstGeom>
          <a:noFill/>
          <a:ln w="12700">
            <a:solidFill>
              <a:srgbClr val="1E3A52"/>
            </a:solidFill>
            <a:prstDash val="solid"/>
          </a:ln>
        </p:spPr>
        <p:txBody>
          <a:bodyPr/>
          <a:lstStyle/>
          <a:p>
            <a:endParaRPr/>
          </a:p>
        </p:txBody>
      </p:sp>
      <p:sp>
        <p:nvSpPr>
          <p:cNvPr id="215" name="Shape 11">
            <a:extLst>
              <a:ext uri="{FF2B5EF4-FFF2-40B4-BE49-F238E27FC236}">
                <a16:creationId xmlns:a16="http://schemas.microsoft.com/office/drawing/2014/main" id="{991FDF49-B573-DF01-388C-E08FA7D6C5EF}"/>
              </a:ext>
            </a:extLst>
          </p:cNvPr>
          <p:cNvSpPr/>
          <p:nvPr/>
        </p:nvSpPr>
        <p:spPr>
          <a:xfrm flipV="1">
            <a:off x="10058400" y="3099816"/>
            <a:ext cx="374904" cy="1563624"/>
          </a:xfrm>
          <a:prstGeom prst="line">
            <a:avLst/>
          </a:prstGeom>
          <a:noFill/>
          <a:ln w="12700">
            <a:solidFill>
              <a:srgbClr val="1E3A52"/>
            </a:solidFill>
            <a:prstDash val="solid"/>
          </a:ln>
        </p:spPr>
        <p:txBody>
          <a:bodyPr/>
          <a:lstStyle/>
          <a:p>
            <a:endParaRPr/>
          </a:p>
        </p:txBody>
      </p:sp>
      <p:sp>
        <p:nvSpPr>
          <p:cNvPr id="217" name="Shape 12">
            <a:extLst>
              <a:ext uri="{FF2B5EF4-FFF2-40B4-BE49-F238E27FC236}">
                <a16:creationId xmlns:a16="http://schemas.microsoft.com/office/drawing/2014/main" id="{6518E431-4110-148F-00BE-DCEB37362867}"/>
              </a:ext>
            </a:extLst>
          </p:cNvPr>
          <p:cNvSpPr/>
          <p:nvPr/>
        </p:nvSpPr>
        <p:spPr>
          <a:xfrm>
            <a:off x="7863840" y="3831336"/>
            <a:ext cx="1380744" cy="100584"/>
          </a:xfrm>
          <a:prstGeom prst="line">
            <a:avLst/>
          </a:prstGeom>
          <a:noFill/>
          <a:ln w="12700">
            <a:solidFill>
              <a:srgbClr val="1E3A52"/>
            </a:solidFill>
            <a:prstDash val="solid"/>
          </a:ln>
        </p:spPr>
        <p:txBody>
          <a:bodyPr/>
          <a:lstStyle/>
          <a:p>
            <a:endParaRPr/>
          </a:p>
        </p:txBody>
      </p:sp>
      <p:sp>
        <p:nvSpPr>
          <p:cNvPr id="219" name="Shape 13">
            <a:extLst>
              <a:ext uri="{FF2B5EF4-FFF2-40B4-BE49-F238E27FC236}">
                <a16:creationId xmlns:a16="http://schemas.microsoft.com/office/drawing/2014/main" id="{EF10F0A6-A589-73A2-58AA-110EE2ED75A8}"/>
              </a:ext>
            </a:extLst>
          </p:cNvPr>
          <p:cNvSpPr/>
          <p:nvPr/>
        </p:nvSpPr>
        <p:spPr>
          <a:xfrm flipV="1">
            <a:off x="8860536" y="4663440"/>
            <a:ext cx="1197864" cy="457200"/>
          </a:xfrm>
          <a:prstGeom prst="line">
            <a:avLst/>
          </a:prstGeom>
          <a:noFill/>
          <a:ln w="12700">
            <a:solidFill>
              <a:srgbClr val="1E3A52"/>
            </a:solidFill>
            <a:prstDash val="solid"/>
          </a:ln>
        </p:spPr>
        <p:txBody>
          <a:bodyPr/>
          <a:lstStyle/>
          <a:p>
            <a:endParaRPr/>
          </a:p>
        </p:txBody>
      </p:sp>
      <p:sp>
        <p:nvSpPr>
          <p:cNvPr id="221" name="Shape 14">
            <a:extLst>
              <a:ext uri="{FF2B5EF4-FFF2-40B4-BE49-F238E27FC236}">
                <a16:creationId xmlns:a16="http://schemas.microsoft.com/office/drawing/2014/main" id="{DB9502E3-DF57-40EA-7BEF-BF03635F60AE}"/>
              </a:ext>
            </a:extLst>
          </p:cNvPr>
          <p:cNvSpPr/>
          <p:nvPr/>
        </p:nvSpPr>
        <p:spPr>
          <a:xfrm>
            <a:off x="8691372" y="1211580"/>
            <a:ext cx="137160" cy="137160"/>
          </a:xfrm>
          <a:prstGeom prst="ellipse">
            <a:avLst/>
          </a:prstGeom>
          <a:solidFill>
            <a:srgbClr val="2DD4BF"/>
          </a:solidFill>
          <a:ln/>
        </p:spPr>
        <p:txBody>
          <a:bodyPr/>
          <a:lstStyle/>
          <a:p>
            <a:endParaRPr/>
          </a:p>
        </p:txBody>
      </p:sp>
      <p:sp>
        <p:nvSpPr>
          <p:cNvPr id="225" name="Shape 16">
            <a:extLst>
              <a:ext uri="{FF2B5EF4-FFF2-40B4-BE49-F238E27FC236}">
                <a16:creationId xmlns:a16="http://schemas.microsoft.com/office/drawing/2014/main" id="{DDDB1D7B-CEBA-24B0-008B-D4ABDB40C937}"/>
              </a:ext>
            </a:extLst>
          </p:cNvPr>
          <p:cNvSpPr/>
          <p:nvPr/>
        </p:nvSpPr>
        <p:spPr>
          <a:xfrm>
            <a:off x="10972800" y="1691640"/>
            <a:ext cx="109728" cy="109728"/>
          </a:xfrm>
          <a:prstGeom prst="ellipse">
            <a:avLst/>
          </a:prstGeom>
          <a:solidFill>
            <a:srgbClr val="3B82F6"/>
          </a:solidFill>
          <a:ln/>
        </p:spPr>
        <p:txBody>
          <a:bodyPr/>
          <a:lstStyle/>
          <a:p>
            <a:endParaRPr/>
          </a:p>
        </p:txBody>
      </p:sp>
      <p:sp>
        <p:nvSpPr>
          <p:cNvPr id="227" name="Shape 17">
            <a:extLst>
              <a:ext uri="{FF2B5EF4-FFF2-40B4-BE49-F238E27FC236}">
                <a16:creationId xmlns:a16="http://schemas.microsoft.com/office/drawing/2014/main" id="{65E8E619-8F8B-F5EC-D3B0-64ADEA1FBD33}"/>
              </a:ext>
            </a:extLst>
          </p:cNvPr>
          <p:cNvSpPr/>
          <p:nvPr/>
        </p:nvSpPr>
        <p:spPr>
          <a:xfrm>
            <a:off x="8261604" y="2601468"/>
            <a:ext cx="100584" cy="100584"/>
          </a:xfrm>
          <a:prstGeom prst="ellipse">
            <a:avLst/>
          </a:prstGeom>
          <a:solidFill>
            <a:srgbClr val="3B82F6"/>
          </a:solidFill>
          <a:ln/>
        </p:spPr>
        <p:txBody>
          <a:bodyPr/>
          <a:lstStyle/>
          <a:p>
            <a:endParaRPr/>
          </a:p>
        </p:txBody>
      </p:sp>
      <p:sp>
        <p:nvSpPr>
          <p:cNvPr id="229" name="Shape 18">
            <a:extLst>
              <a:ext uri="{FF2B5EF4-FFF2-40B4-BE49-F238E27FC236}">
                <a16:creationId xmlns:a16="http://schemas.microsoft.com/office/drawing/2014/main" id="{E7E5D9DA-798B-DB92-9C6F-DE10505B0233}"/>
              </a:ext>
            </a:extLst>
          </p:cNvPr>
          <p:cNvSpPr/>
          <p:nvPr/>
        </p:nvSpPr>
        <p:spPr>
          <a:xfrm>
            <a:off x="11333988" y="2766060"/>
            <a:ext cx="118872" cy="118872"/>
          </a:xfrm>
          <a:prstGeom prst="ellipse">
            <a:avLst/>
          </a:prstGeom>
          <a:solidFill>
            <a:srgbClr val="38BDF8"/>
          </a:solidFill>
          <a:ln/>
        </p:spPr>
        <p:txBody>
          <a:bodyPr/>
          <a:lstStyle/>
          <a:p>
            <a:endParaRPr/>
          </a:p>
        </p:txBody>
      </p:sp>
      <p:sp>
        <p:nvSpPr>
          <p:cNvPr id="231" name="Shape 19">
            <a:extLst>
              <a:ext uri="{FF2B5EF4-FFF2-40B4-BE49-F238E27FC236}">
                <a16:creationId xmlns:a16="http://schemas.microsoft.com/office/drawing/2014/main" id="{CFD46E7F-2F08-1234-735F-F1FA18177262}"/>
              </a:ext>
            </a:extLst>
          </p:cNvPr>
          <p:cNvSpPr/>
          <p:nvPr/>
        </p:nvSpPr>
        <p:spPr>
          <a:xfrm>
            <a:off x="10369296" y="3035808"/>
            <a:ext cx="128016" cy="128016"/>
          </a:xfrm>
          <a:prstGeom prst="ellipse">
            <a:avLst/>
          </a:prstGeom>
          <a:solidFill>
            <a:srgbClr val="3B82F6"/>
          </a:solidFill>
          <a:ln/>
        </p:spPr>
        <p:txBody>
          <a:bodyPr/>
          <a:lstStyle/>
          <a:p>
            <a:endParaRPr/>
          </a:p>
        </p:txBody>
      </p:sp>
      <p:sp>
        <p:nvSpPr>
          <p:cNvPr id="233" name="Shape 20">
            <a:extLst>
              <a:ext uri="{FF2B5EF4-FFF2-40B4-BE49-F238E27FC236}">
                <a16:creationId xmlns:a16="http://schemas.microsoft.com/office/drawing/2014/main" id="{DB8220D9-A935-426E-2DB8-798ADAE51A26}"/>
              </a:ext>
            </a:extLst>
          </p:cNvPr>
          <p:cNvSpPr/>
          <p:nvPr/>
        </p:nvSpPr>
        <p:spPr>
          <a:xfrm>
            <a:off x="7808976" y="3776472"/>
            <a:ext cx="109728" cy="109728"/>
          </a:xfrm>
          <a:prstGeom prst="ellipse">
            <a:avLst/>
          </a:prstGeom>
          <a:solidFill>
            <a:srgbClr val="3B82F6"/>
          </a:solidFill>
          <a:ln/>
        </p:spPr>
        <p:txBody>
          <a:bodyPr/>
          <a:lstStyle/>
          <a:p>
            <a:endParaRPr/>
          </a:p>
        </p:txBody>
      </p:sp>
      <p:sp>
        <p:nvSpPr>
          <p:cNvPr id="235" name="Shape 21">
            <a:extLst>
              <a:ext uri="{FF2B5EF4-FFF2-40B4-BE49-F238E27FC236}">
                <a16:creationId xmlns:a16="http://schemas.microsoft.com/office/drawing/2014/main" id="{02360903-6807-258C-6272-EC7C3CD453F1}"/>
              </a:ext>
            </a:extLst>
          </p:cNvPr>
          <p:cNvSpPr/>
          <p:nvPr/>
        </p:nvSpPr>
        <p:spPr>
          <a:xfrm>
            <a:off x="9198864" y="3886200"/>
            <a:ext cx="91440" cy="91440"/>
          </a:xfrm>
          <a:prstGeom prst="ellipse">
            <a:avLst/>
          </a:prstGeom>
          <a:solidFill>
            <a:srgbClr val="3B82F6"/>
          </a:solidFill>
          <a:ln/>
        </p:spPr>
        <p:txBody>
          <a:bodyPr/>
          <a:lstStyle/>
          <a:p>
            <a:endParaRPr/>
          </a:p>
        </p:txBody>
      </p:sp>
      <p:sp>
        <p:nvSpPr>
          <p:cNvPr id="237" name="Shape 22">
            <a:extLst>
              <a:ext uri="{FF2B5EF4-FFF2-40B4-BE49-F238E27FC236}">
                <a16:creationId xmlns:a16="http://schemas.microsoft.com/office/drawing/2014/main" id="{CA250761-929A-5A24-0A45-42282E8B1C17}"/>
              </a:ext>
            </a:extLst>
          </p:cNvPr>
          <p:cNvSpPr/>
          <p:nvPr/>
        </p:nvSpPr>
        <p:spPr>
          <a:xfrm>
            <a:off x="8810244" y="5070348"/>
            <a:ext cx="100584" cy="100584"/>
          </a:xfrm>
          <a:prstGeom prst="ellipse">
            <a:avLst/>
          </a:prstGeom>
          <a:solidFill>
            <a:srgbClr val="3B82F6"/>
          </a:solidFill>
          <a:ln/>
        </p:spPr>
        <p:txBody>
          <a:bodyPr/>
          <a:lstStyle/>
          <a:p>
            <a:endParaRPr/>
          </a:p>
        </p:txBody>
      </p:sp>
      <p:sp>
        <p:nvSpPr>
          <p:cNvPr id="239" name="Shape 23">
            <a:extLst>
              <a:ext uri="{FF2B5EF4-FFF2-40B4-BE49-F238E27FC236}">
                <a16:creationId xmlns:a16="http://schemas.microsoft.com/office/drawing/2014/main" id="{804BF93C-17D5-28CD-1510-2868F68F773A}"/>
              </a:ext>
            </a:extLst>
          </p:cNvPr>
          <p:cNvSpPr/>
          <p:nvPr/>
        </p:nvSpPr>
        <p:spPr>
          <a:xfrm>
            <a:off x="10012680" y="4617720"/>
            <a:ext cx="91440" cy="91440"/>
          </a:xfrm>
          <a:prstGeom prst="ellipse">
            <a:avLst/>
          </a:prstGeom>
          <a:solidFill>
            <a:srgbClr val="3B82F6"/>
          </a:solidFill>
          <a:ln/>
        </p:spPr>
        <p:txBody>
          <a:bodyPr/>
          <a:lstStyle/>
          <a:p>
            <a:endParaRPr/>
          </a:p>
        </p:txBody>
      </p:sp>
      <p:sp>
        <p:nvSpPr>
          <p:cNvPr id="243" name="Text 25">
            <a:extLst>
              <a:ext uri="{FF2B5EF4-FFF2-40B4-BE49-F238E27FC236}">
                <a16:creationId xmlns:a16="http://schemas.microsoft.com/office/drawing/2014/main" id="{4102F19E-8F8F-BA02-265B-DED98E7D4F33}"/>
              </a:ext>
            </a:extLst>
          </p:cNvPr>
          <p:cNvSpPr txBox="1"/>
          <p:nvPr/>
        </p:nvSpPr>
        <p:spPr>
          <a:xfrm>
            <a:off x="502920" y="1961388"/>
            <a:ext cx="7315200" cy="1188720"/>
          </a:xfrm>
          <a:prstGeom prst="rect">
            <a:avLst/>
          </a:prstGeom>
          <a:noFill/>
          <a:ln/>
        </p:spPr>
        <p:txBody>
          <a:bodyPr wrap="square" lIns="0" tIns="0" rIns="0" bIns="0" rtlCol="0" anchor="ctr"/>
          <a:lstStyle/>
          <a:p>
            <a:pPr marL="0" indent="0">
              <a:buNone/>
            </a:pPr>
            <a:r>
              <a:rPr lang="en-US" sz="5400" b="1" dirty="0">
                <a:solidFill>
                  <a:srgbClr val="FFFFFF"/>
                </a:solidFill>
                <a:latin typeface="Tahoma" pitchFamily="34" charset="0"/>
                <a:ea typeface="Tahoma" pitchFamily="34" charset="-122"/>
                <a:cs typeface="Tahoma" pitchFamily="34" charset="-120"/>
              </a:rPr>
              <a:t>Thank You.</a:t>
            </a:r>
            <a:endParaRPr lang="en-US" sz="5400" dirty="0"/>
          </a:p>
        </p:txBody>
      </p:sp>
      <p:sp>
        <p:nvSpPr>
          <p:cNvPr id="245" name="Text 26">
            <a:extLst>
              <a:ext uri="{FF2B5EF4-FFF2-40B4-BE49-F238E27FC236}">
                <a16:creationId xmlns:a16="http://schemas.microsoft.com/office/drawing/2014/main" id="{483F8F4C-44B1-0995-AABE-2486146E3325}"/>
              </a:ext>
            </a:extLst>
          </p:cNvPr>
          <p:cNvSpPr txBox="1"/>
          <p:nvPr/>
        </p:nvSpPr>
        <p:spPr>
          <a:xfrm>
            <a:off x="548640" y="2967228"/>
            <a:ext cx="6400800" cy="457200"/>
          </a:xfrm>
          <a:prstGeom prst="rect">
            <a:avLst/>
          </a:prstGeom>
          <a:noFill/>
          <a:ln/>
        </p:spPr>
        <p:txBody>
          <a:bodyPr wrap="square" lIns="0" tIns="0" rIns="0" bIns="0" rtlCol="0" anchor="ctr"/>
          <a:lstStyle/>
          <a:p>
            <a:pPr marL="0" indent="0">
              <a:buNone/>
            </a:pPr>
            <a:r>
              <a:rPr lang="en-US" sz="1600" i="1" dirty="0">
                <a:solidFill>
                  <a:srgbClr val="8B93A7"/>
                </a:solidFill>
                <a:latin typeface="Tahoma" pitchFamily="34" charset="0"/>
                <a:ea typeface="Tahoma" pitchFamily="34" charset="-122"/>
                <a:cs typeface="Tahoma" pitchFamily="34" charset="-120"/>
              </a:rPr>
              <a:t>Questions and feedback are welcome.</a:t>
            </a:r>
            <a:endParaRPr lang="en-US" sz="1600" dirty="0"/>
          </a:p>
        </p:txBody>
      </p:sp>
      <p:sp>
        <p:nvSpPr>
          <p:cNvPr id="265" name="Shape 36">
            <a:extLst>
              <a:ext uri="{FF2B5EF4-FFF2-40B4-BE49-F238E27FC236}">
                <a16:creationId xmlns:a16="http://schemas.microsoft.com/office/drawing/2014/main" id="{5F3FA1F5-093F-7582-7FC8-A94F39ECFA9F}"/>
              </a:ext>
            </a:extLst>
          </p:cNvPr>
          <p:cNvSpPr/>
          <p:nvPr/>
        </p:nvSpPr>
        <p:spPr>
          <a:xfrm>
            <a:off x="548640" y="6355080"/>
            <a:ext cx="11091672" cy="0"/>
          </a:xfrm>
          <a:prstGeom prst="line">
            <a:avLst/>
          </a:prstGeom>
          <a:noFill/>
          <a:ln w="12700">
            <a:solidFill>
              <a:srgbClr val="1B2333"/>
            </a:solidFill>
            <a:prstDash val="solid"/>
          </a:ln>
        </p:spPr>
        <p:txBody>
          <a:bodyPr/>
          <a:lstStyle/>
          <a:p>
            <a:endParaRPr/>
          </a:p>
        </p:txBody>
      </p:sp>
      <p:sp>
        <p:nvSpPr>
          <p:cNvPr id="269" name="Text 38">
            <a:extLst>
              <a:ext uri="{FF2B5EF4-FFF2-40B4-BE49-F238E27FC236}">
                <a16:creationId xmlns:a16="http://schemas.microsoft.com/office/drawing/2014/main" id="{EBED3B0E-1B42-D190-1C98-C686CB3D0A0E}"/>
              </a:ext>
            </a:extLst>
          </p:cNvPr>
          <p:cNvSpPr txBox="1"/>
          <p:nvPr/>
        </p:nvSpPr>
        <p:spPr>
          <a:xfrm>
            <a:off x="10972800" y="6446520"/>
            <a:ext cx="640080" cy="274320"/>
          </a:xfrm>
          <a:prstGeom prst="rect">
            <a:avLst/>
          </a:prstGeom>
          <a:noFill/>
          <a:ln/>
        </p:spPr>
        <p:txBody>
          <a:bodyPr wrap="square" lIns="0" tIns="0" rIns="0" bIns="0" rtlCol="0" anchor="ctr"/>
          <a:lstStyle/>
          <a:p>
            <a:pPr marL="0" indent="0" algn="r">
              <a:buNone/>
            </a:pPr>
            <a:r>
              <a:rPr lang="en-US" sz="900" dirty="0">
                <a:solidFill>
                  <a:srgbClr val="5B6579"/>
                </a:solidFill>
                <a:latin typeface="Tahoma" pitchFamily="34" charset="0"/>
                <a:ea typeface="Tahoma" pitchFamily="34" charset="-122"/>
                <a:cs typeface="Tahoma" pitchFamily="34" charset="-120"/>
              </a:rPr>
              <a:t>14</a:t>
            </a:r>
            <a:endParaRPr lang="en-US" sz="900" dirty="0"/>
          </a:p>
        </p:txBody>
      </p:sp>
      <p:pic>
        <p:nvPicPr>
          <p:cNvPr id="273" name="Picture 272">
            <a:extLst>
              <a:ext uri="{FF2B5EF4-FFF2-40B4-BE49-F238E27FC236}">
                <a16:creationId xmlns:a16="http://schemas.microsoft.com/office/drawing/2014/main" id="{BC7FD9D0-3F52-D335-FF1D-7F54642D0FA6}"/>
              </a:ext>
            </a:extLst>
          </p:cNvPr>
          <p:cNvPicPr>
            <a:picLocks noChangeAspect="1"/>
          </p:cNvPicPr>
          <p:nvPr/>
        </p:nvPicPr>
        <p:blipFill>
          <a:blip r:embed="rId3"/>
          <a:srcRect r="15270" b="26538"/>
          <a:stretch>
            <a:fillRect/>
          </a:stretch>
        </p:blipFill>
        <p:spPr>
          <a:xfrm>
            <a:off x="10416983" y="236798"/>
            <a:ext cx="1440000" cy="527673"/>
          </a:xfrm>
          <a:prstGeom prst="roundRect">
            <a:avLst/>
          </a:prstGeom>
        </p:spPr>
      </p:pic>
      <p:sp>
        <p:nvSpPr>
          <p:cNvPr id="277" name="Text 21">
            <a:extLst>
              <a:ext uri="{FF2B5EF4-FFF2-40B4-BE49-F238E27FC236}">
                <a16:creationId xmlns:a16="http://schemas.microsoft.com/office/drawing/2014/main" id="{58B46651-495C-994F-36E0-FA888AEC6273}"/>
              </a:ext>
            </a:extLst>
          </p:cNvPr>
          <p:cNvSpPr txBox="1"/>
          <p:nvPr/>
        </p:nvSpPr>
        <p:spPr>
          <a:xfrm>
            <a:off x="548640" y="1619450"/>
            <a:ext cx="7772400" cy="320040"/>
          </a:xfrm>
          <a:prstGeom prst="rect">
            <a:avLst/>
          </a:prstGeom>
          <a:noFill/>
          <a:ln/>
        </p:spPr>
        <p:txBody>
          <a:bodyPr wrap="square" lIns="0" tIns="0" rIns="0" bIns="0" rtlCol="0" anchor="ctr"/>
          <a:lstStyle/>
          <a:p>
            <a:r>
              <a:rPr lang="en-US" sz="1300" b="1" kern="0" spc="160" dirty="0">
                <a:solidFill>
                  <a:srgbClr val="22D3EE"/>
                </a:solidFill>
                <a:latin typeface="Tahoma" panose="020B0604030504040204" pitchFamily="34" charset="0"/>
                <a:ea typeface="Tahoma" panose="020B0604030504040204" pitchFamily="34" charset="0"/>
                <a:cs typeface="Tahoma" panose="020B0604030504040204" pitchFamily="34" charset="0"/>
              </a:rPr>
              <a:t>CSE 2  •  EXPENSE TRACKER  •  0TH REVIEW</a:t>
            </a:r>
            <a:endParaRPr lang="en-US" sz="1300" dirty="0">
              <a:latin typeface="Tahoma" panose="020B0604030504040204" pitchFamily="34" charset="0"/>
            </a:endParaRPr>
          </a:p>
        </p:txBody>
      </p:sp>
      <p:sp>
        <p:nvSpPr>
          <p:cNvPr id="287" name="Shape 24">
            <a:extLst>
              <a:ext uri="{FF2B5EF4-FFF2-40B4-BE49-F238E27FC236}">
                <a16:creationId xmlns:a16="http://schemas.microsoft.com/office/drawing/2014/main" id="{7C369C09-0D1C-6962-4AD2-A4BC2500D19D}"/>
              </a:ext>
            </a:extLst>
          </p:cNvPr>
          <p:cNvSpPr/>
          <p:nvPr/>
        </p:nvSpPr>
        <p:spPr>
          <a:xfrm>
            <a:off x="502920" y="3673000"/>
            <a:ext cx="5120640" cy="0"/>
          </a:xfrm>
          <a:prstGeom prst="line">
            <a:avLst/>
          </a:prstGeom>
          <a:noFill/>
          <a:ln w="12700">
            <a:solidFill>
              <a:srgbClr val="24314F"/>
            </a:solidFill>
            <a:prstDash val="solid"/>
          </a:ln>
        </p:spPr>
        <p:txBody>
          <a:bodyPr/>
          <a:lstStyle/>
          <a:p>
            <a:endParaRPr/>
          </a:p>
        </p:txBody>
      </p:sp>
      <p:sp>
        <p:nvSpPr>
          <p:cNvPr id="289" name="Text 25">
            <a:extLst>
              <a:ext uri="{FF2B5EF4-FFF2-40B4-BE49-F238E27FC236}">
                <a16:creationId xmlns:a16="http://schemas.microsoft.com/office/drawing/2014/main" id="{7DA663F5-5FF2-B7E7-4CD0-722327EA9389}"/>
              </a:ext>
            </a:extLst>
          </p:cNvPr>
          <p:cNvSpPr txBox="1"/>
          <p:nvPr/>
        </p:nvSpPr>
        <p:spPr>
          <a:xfrm>
            <a:off x="502920" y="3855880"/>
            <a:ext cx="2743200" cy="274320"/>
          </a:xfrm>
          <a:prstGeom prst="rect">
            <a:avLst/>
          </a:prstGeom>
          <a:noFill/>
          <a:ln/>
        </p:spPr>
        <p:txBody>
          <a:bodyPr wrap="square" lIns="0" tIns="0" rIns="0" bIns="0" rtlCol="0" anchor="ctr"/>
          <a:lstStyle/>
          <a:p>
            <a:pPr marL="0" indent="0">
              <a:buNone/>
            </a:pPr>
            <a:r>
              <a:rPr lang="en-US" sz="1100" b="1" kern="0" spc="120" dirty="0">
                <a:solidFill>
                  <a:srgbClr val="22D3EE"/>
                </a:solidFill>
                <a:latin typeface="Tahoma" panose="020B0604030504040204" pitchFamily="34" charset="0"/>
                <a:ea typeface="Tahoma" panose="020B0604030504040204" pitchFamily="34" charset="0"/>
                <a:cs typeface="Tahoma" panose="020B0604030504040204" pitchFamily="34" charset="0"/>
              </a:rPr>
              <a:t>TEAM</a:t>
            </a:r>
            <a:endParaRPr lang="en-US" sz="1100" dirty="0">
              <a:latin typeface="Tahoma" panose="020B0604030504040204" pitchFamily="34" charset="0"/>
            </a:endParaRPr>
          </a:p>
        </p:txBody>
      </p:sp>
      <p:sp>
        <p:nvSpPr>
          <p:cNvPr id="291" name="Text 26">
            <a:extLst>
              <a:ext uri="{FF2B5EF4-FFF2-40B4-BE49-F238E27FC236}">
                <a16:creationId xmlns:a16="http://schemas.microsoft.com/office/drawing/2014/main" id="{DF1CFBA7-26D2-3C04-E058-25D533F8B71C}"/>
              </a:ext>
            </a:extLst>
          </p:cNvPr>
          <p:cNvSpPr txBox="1"/>
          <p:nvPr/>
        </p:nvSpPr>
        <p:spPr>
          <a:xfrm>
            <a:off x="502920" y="4157632"/>
            <a:ext cx="5029200" cy="310896"/>
          </a:xfrm>
          <a:prstGeom prst="rect">
            <a:avLst/>
          </a:prstGeom>
          <a:noFill/>
          <a:ln/>
        </p:spPr>
        <p:txBody>
          <a:bodyPr wrap="square" lIns="0" tIns="0" rIns="0" bIns="0" rtlCol="0" anchor="ctr"/>
          <a:lstStyle/>
          <a:p>
            <a:pPr marL="0" indent="0">
              <a:buNone/>
            </a:pPr>
            <a:r>
              <a:rPr lang="en-US" sz="1400" b="1" dirty="0">
                <a:solidFill>
                  <a:srgbClr val="EAF0FA"/>
                </a:solidFill>
                <a:latin typeface="Tahoma" panose="020B0604030504040204" pitchFamily="34" charset="0"/>
                <a:ea typeface="Tahoma" panose="020B0604030504040204" pitchFamily="34" charset="0"/>
                <a:cs typeface="Tahoma" panose="020B0604030504040204" pitchFamily="34" charset="0"/>
              </a:rPr>
              <a:t>Akhilesh A   </a:t>
            </a:r>
            <a:r>
              <a:rPr lang="en-US" sz="1200" dirty="0">
                <a:solidFill>
                  <a:srgbClr val="94A3B8"/>
                </a:solidFill>
                <a:latin typeface="Tahoma" panose="020B0604030504040204" pitchFamily="34" charset="0"/>
                <a:ea typeface="Tahoma" panose="020B0604030504040204" pitchFamily="34" charset="0"/>
                <a:cs typeface="Tahoma" panose="020B0604030504040204" pitchFamily="34" charset="0"/>
              </a:rPr>
              <a:t>(241140110)</a:t>
            </a:r>
            <a:endParaRPr lang="en-US" sz="1400" dirty="0">
              <a:latin typeface="Tahoma" panose="020B0604030504040204" pitchFamily="34" charset="0"/>
            </a:endParaRPr>
          </a:p>
        </p:txBody>
      </p:sp>
      <p:sp>
        <p:nvSpPr>
          <p:cNvPr id="293" name="Text 27">
            <a:extLst>
              <a:ext uri="{FF2B5EF4-FFF2-40B4-BE49-F238E27FC236}">
                <a16:creationId xmlns:a16="http://schemas.microsoft.com/office/drawing/2014/main" id="{3AD99601-8528-12C0-281E-679BAF06AC2C}"/>
              </a:ext>
            </a:extLst>
          </p:cNvPr>
          <p:cNvSpPr txBox="1"/>
          <p:nvPr/>
        </p:nvSpPr>
        <p:spPr>
          <a:xfrm>
            <a:off x="502920" y="4486816"/>
            <a:ext cx="5029200" cy="310896"/>
          </a:xfrm>
          <a:prstGeom prst="rect">
            <a:avLst/>
          </a:prstGeom>
          <a:noFill/>
          <a:ln/>
        </p:spPr>
        <p:txBody>
          <a:bodyPr wrap="square" lIns="0" tIns="0" rIns="0" bIns="0" rtlCol="0" anchor="ctr"/>
          <a:lstStyle/>
          <a:p>
            <a:pPr marL="0" indent="0">
              <a:buNone/>
            </a:pPr>
            <a:r>
              <a:rPr lang="en-US" sz="1400" b="1" dirty="0">
                <a:solidFill>
                  <a:srgbClr val="EAF0FA"/>
                </a:solidFill>
                <a:latin typeface="Tahoma" panose="020B0604030504040204" pitchFamily="34" charset="0"/>
                <a:ea typeface="Tahoma" panose="020B0604030504040204" pitchFamily="34" charset="0"/>
                <a:cs typeface="Tahoma" panose="020B0604030504040204" pitchFamily="34" charset="0"/>
              </a:rPr>
              <a:t>Gokul Sajith   </a:t>
            </a:r>
            <a:r>
              <a:rPr lang="en-US" sz="1200" dirty="0">
                <a:solidFill>
                  <a:srgbClr val="94A3B8"/>
                </a:solidFill>
                <a:latin typeface="Tahoma" panose="020B0604030504040204" pitchFamily="34" charset="0"/>
                <a:ea typeface="Tahoma" panose="020B0604030504040204" pitchFamily="34" charset="0"/>
                <a:cs typeface="Tahoma" panose="020B0604030504040204" pitchFamily="34" charset="0"/>
              </a:rPr>
              <a:t>(241140129)</a:t>
            </a:r>
            <a:endParaRPr lang="en-US" sz="1400" dirty="0">
              <a:latin typeface="Tahoma" panose="020B0604030504040204" pitchFamily="34" charset="0"/>
            </a:endParaRPr>
          </a:p>
        </p:txBody>
      </p:sp>
      <p:sp>
        <p:nvSpPr>
          <p:cNvPr id="295" name="Text 28">
            <a:extLst>
              <a:ext uri="{FF2B5EF4-FFF2-40B4-BE49-F238E27FC236}">
                <a16:creationId xmlns:a16="http://schemas.microsoft.com/office/drawing/2014/main" id="{081C0745-691A-3ADD-A395-68FFB0685863}"/>
              </a:ext>
            </a:extLst>
          </p:cNvPr>
          <p:cNvSpPr txBox="1"/>
          <p:nvPr/>
        </p:nvSpPr>
        <p:spPr>
          <a:xfrm>
            <a:off x="502920" y="4816000"/>
            <a:ext cx="5029200" cy="310896"/>
          </a:xfrm>
          <a:prstGeom prst="rect">
            <a:avLst/>
          </a:prstGeom>
          <a:noFill/>
          <a:ln/>
        </p:spPr>
        <p:txBody>
          <a:bodyPr wrap="square" lIns="0" tIns="0" rIns="0" bIns="0" rtlCol="0" anchor="ctr"/>
          <a:lstStyle/>
          <a:p>
            <a:pPr marL="0" indent="0">
              <a:buNone/>
            </a:pPr>
            <a:r>
              <a:rPr lang="en-US" sz="1400" b="1" dirty="0">
                <a:solidFill>
                  <a:srgbClr val="EAF0FA"/>
                </a:solidFill>
                <a:latin typeface="Tahoma" panose="020B0604030504040204" pitchFamily="34" charset="0"/>
                <a:ea typeface="Tahoma" panose="020B0604030504040204" pitchFamily="34" charset="0"/>
                <a:cs typeface="Tahoma" panose="020B0604030504040204" pitchFamily="34" charset="0"/>
              </a:rPr>
              <a:t>Vishnu Vijay   </a:t>
            </a:r>
            <a:r>
              <a:rPr lang="en-US" sz="1200" dirty="0">
                <a:solidFill>
                  <a:srgbClr val="94A3B8"/>
                </a:solidFill>
                <a:latin typeface="Tahoma" panose="020B0604030504040204" pitchFamily="34" charset="0"/>
                <a:ea typeface="Tahoma" panose="020B0604030504040204" pitchFamily="34" charset="0"/>
                <a:cs typeface="Tahoma" panose="020B0604030504040204" pitchFamily="34" charset="0"/>
              </a:rPr>
              <a:t>(241140120)</a:t>
            </a:r>
            <a:endParaRPr lang="en-US" sz="1400" dirty="0">
              <a:latin typeface="Tahoma" panose="020B0604030504040204" pitchFamily="34" charset="0"/>
            </a:endParaRPr>
          </a:p>
        </p:txBody>
      </p:sp>
      <p:sp>
        <p:nvSpPr>
          <p:cNvPr id="297" name="Shape 29">
            <a:extLst>
              <a:ext uri="{FF2B5EF4-FFF2-40B4-BE49-F238E27FC236}">
                <a16:creationId xmlns:a16="http://schemas.microsoft.com/office/drawing/2014/main" id="{974017F8-2A82-DD4C-2328-BBF462FF4729}"/>
              </a:ext>
            </a:extLst>
          </p:cNvPr>
          <p:cNvSpPr/>
          <p:nvPr/>
        </p:nvSpPr>
        <p:spPr>
          <a:xfrm>
            <a:off x="3477127" y="3874168"/>
            <a:ext cx="0" cy="1417320"/>
          </a:xfrm>
          <a:prstGeom prst="line">
            <a:avLst/>
          </a:prstGeom>
          <a:noFill/>
          <a:ln w="9525">
            <a:solidFill>
              <a:srgbClr val="24314F"/>
            </a:solidFill>
            <a:prstDash val="solid"/>
          </a:ln>
        </p:spPr>
        <p:txBody>
          <a:bodyPr/>
          <a:lstStyle/>
          <a:p>
            <a:endParaRPr lang="en-IN" dirty="0"/>
          </a:p>
        </p:txBody>
      </p:sp>
      <p:sp>
        <p:nvSpPr>
          <p:cNvPr id="299" name="Text 30">
            <a:extLst>
              <a:ext uri="{FF2B5EF4-FFF2-40B4-BE49-F238E27FC236}">
                <a16:creationId xmlns:a16="http://schemas.microsoft.com/office/drawing/2014/main" id="{341B09E0-DE07-BC11-7768-E63816490664}"/>
              </a:ext>
            </a:extLst>
          </p:cNvPr>
          <p:cNvSpPr txBox="1"/>
          <p:nvPr/>
        </p:nvSpPr>
        <p:spPr>
          <a:xfrm>
            <a:off x="4135374" y="3855880"/>
            <a:ext cx="2743200" cy="274320"/>
          </a:xfrm>
          <a:prstGeom prst="rect">
            <a:avLst/>
          </a:prstGeom>
          <a:noFill/>
          <a:ln/>
        </p:spPr>
        <p:txBody>
          <a:bodyPr wrap="square" lIns="0" tIns="0" rIns="0" bIns="0" rtlCol="0" anchor="ctr"/>
          <a:lstStyle/>
          <a:p>
            <a:pPr marL="0" indent="0">
              <a:buNone/>
            </a:pPr>
            <a:r>
              <a:rPr lang="en-US" sz="1100" b="1" kern="0" spc="120" dirty="0">
                <a:solidFill>
                  <a:srgbClr val="22D3EE"/>
                </a:solidFill>
                <a:latin typeface="Tahoma" panose="020B0604030504040204" pitchFamily="34" charset="0"/>
                <a:ea typeface="Tahoma" panose="020B0604030504040204" pitchFamily="34" charset="0"/>
                <a:cs typeface="Tahoma" panose="020B0604030504040204" pitchFamily="34" charset="0"/>
              </a:rPr>
              <a:t>GUIDE</a:t>
            </a:r>
            <a:endParaRPr lang="en-US" sz="1100" dirty="0">
              <a:latin typeface="Tahoma" panose="020B0604030504040204" pitchFamily="34" charset="0"/>
            </a:endParaRPr>
          </a:p>
        </p:txBody>
      </p:sp>
      <p:sp>
        <p:nvSpPr>
          <p:cNvPr id="301" name="Text 31">
            <a:extLst>
              <a:ext uri="{FF2B5EF4-FFF2-40B4-BE49-F238E27FC236}">
                <a16:creationId xmlns:a16="http://schemas.microsoft.com/office/drawing/2014/main" id="{E16925B7-1275-C3A5-2DE4-26D672576269}"/>
              </a:ext>
            </a:extLst>
          </p:cNvPr>
          <p:cNvSpPr txBox="1"/>
          <p:nvPr/>
        </p:nvSpPr>
        <p:spPr>
          <a:xfrm>
            <a:off x="4135374" y="4155466"/>
            <a:ext cx="2628000" cy="292608"/>
          </a:xfrm>
          <a:prstGeom prst="rect">
            <a:avLst/>
          </a:prstGeom>
          <a:noFill/>
          <a:ln/>
        </p:spPr>
        <p:txBody>
          <a:bodyPr wrap="square" lIns="0" tIns="0" rIns="0" bIns="0" rtlCol="0" anchor="ctr"/>
          <a:lstStyle/>
          <a:p>
            <a:pPr marL="0" indent="0">
              <a:buNone/>
            </a:pPr>
            <a:r>
              <a:rPr lang="en-US" sz="1400" b="1" dirty="0">
                <a:solidFill>
                  <a:srgbClr val="EAF0FA"/>
                </a:solidFill>
                <a:latin typeface="Tahoma" panose="020B0604030504040204" pitchFamily="34" charset="0"/>
                <a:ea typeface="Tahoma" panose="020B0604030504040204" pitchFamily="34" charset="0"/>
                <a:cs typeface="Tahoma" panose="020B0604030504040204" pitchFamily="34" charset="0"/>
              </a:rPr>
              <a:t>Ms. Kripa Radhakrishnan</a:t>
            </a:r>
            <a:endParaRPr lang="en-US" sz="1400" dirty="0">
              <a:latin typeface="Tahoma" panose="020B0604030504040204" pitchFamily="34" charset="0"/>
            </a:endParaRPr>
          </a:p>
        </p:txBody>
      </p:sp>
      <p:sp>
        <p:nvSpPr>
          <p:cNvPr id="303" name="Text 32">
            <a:extLst>
              <a:ext uri="{FF2B5EF4-FFF2-40B4-BE49-F238E27FC236}">
                <a16:creationId xmlns:a16="http://schemas.microsoft.com/office/drawing/2014/main" id="{FB936138-09DD-4DAF-77E5-B26D5B93AEBC}"/>
              </a:ext>
            </a:extLst>
          </p:cNvPr>
          <p:cNvSpPr txBox="1"/>
          <p:nvPr/>
        </p:nvSpPr>
        <p:spPr>
          <a:xfrm>
            <a:off x="4135374" y="4495960"/>
            <a:ext cx="2988000" cy="292608"/>
          </a:xfrm>
          <a:prstGeom prst="rect">
            <a:avLst/>
          </a:prstGeom>
          <a:noFill/>
          <a:ln/>
        </p:spPr>
        <p:txBody>
          <a:bodyPr wrap="square" lIns="0" tIns="0" rIns="0" bIns="0" rtlCol="0" anchor="ctr"/>
          <a:lstStyle/>
          <a:p>
            <a:pPr marL="0" indent="0">
              <a:buNone/>
            </a:pPr>
            <a:r>
              <a:rPr lang="en-US" sz="1200" dirty="0">
                <a:solidFill>
                  <a:srgbClr val="94A3B8"/>
                </a:solidFill>
                <a:latin typeface="Tahoma" panose="020B0604030504040204" pitchFamily="34" charset="0"/>
                <a:ea typeface="Tahoma" panose="020B0604030504040204" pitchFamily="34" charset="0"/>
                <a:cs typeface="Tahoma" panose="020B0604030504040204" pitchFamily="34" charset="0"/>
              </a:rPr>
              <a:t>Assistant Professor – Department of CSE</a:t>
            </a:r>
            <a:endParaRPr lang="en-US" sz="1200" dirty="0">
              <a:latin typeface="Tahoma" panose="020B0604030504040204" pitchFamily="34" charset="0"/>
            </a:endParaRPr>
          </a:p>
        </p:txBody>
      </p:sp>
    </p:spTree>
    <p:extLst>
      <p:ext uri="{BB962C8B-B14F-4D97-AF65-F5344CB8AC3E}">
        <p14:creationId xmlns:p14="http://schemas.microsoft.com/office/powerpoint/2010/main" val="34557068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5">
    <p:bg>
      <p:bgPr>
        <a:solidFill>
          <a:srgbClr val="0A0F1F"/>
        </a:solidFill>
        <a:effectLst/>
      </p:bgPr>
    </p:bg>
    <p:spTree>
      <p:nvGrpSpPr>
        <p:cNvPr id="1" name=""/>
        <p:cNvGrpSpPr/>
        <p:nvPr/>
      </p:nvGrpSpPr>
      <p:grpSpPr>
        <a:xfrm>
          <a:off x="0" y="0"/>
          <a:ext cx="0" cy="0"/>
          <a:chOff x="0" y="0"/>
          <a:chExt cx="0" cy="0"/>
        </a:xfrm>
      </p:grpSpPr>
      <p:sp>
        <p:nvSpPr>
          <p:cNvPr id="2" name="Shape 0"/>
          <p:cNvSpPr/>
          <p:nvPr/>
        </p:nvSpPr>
        <p:spPr>
          <a:xfrm>
            <a:off x="10637215" y="320040"/>
            <a:ext cx="1051560" cy="384048"/>
          </a:xfrm>
          <a:prstGeom prst="roundRect">
            <a:avLst>
              <a:gd name="adj" fmla="val 14286"/>
            </a:avLst>
          </a:prstGeom>
          <a:solidFill>
            <a:srgbClr val="18233C"/>
          </a:solidFill>
          <a:ln w="9525">
            <a:solidFill>
              <a:srgbClr val="24314F"/>
            </a:solidFill>
            <a:prstDash val="dash"/>
          </a:ln>
        </p:spPr>
      </p:sp>
      <p:sp>
        <p:nvSpPr>
          <p:cNvPr id="3" name="Text 1"/>
          <p:cNvSpPr txBox="1"/>
          <p:nvPr/>
        </p:nvSpPr>
        <p:spPr>
          <a:xfrm>
            <a:off x="10637215" y="320040"/>
            <a:ext cx="1051560" cy="384048"/>
          </a:xfrm>
          <a:prstGeom prst="rect">
            <a:avLst/>
          </a:prstGeom>
          <a:noFill/>
          <a:ln/>
        </p:spPr>
        <p:txBody>
          <a:bodyPr wrap="square" lIns="0" tIns="0" rIns="0" bIns="0" rtlCol="0" anchor="ctr"/>
          <a:lstStyle/>
          <a:p>
            <a:pPr marL="0" indent="0" algn="ctr">
              <a:buNone/>
            </a:pPr>
            <a:r>
              <a:rPr lang="en-US" sz="900" b="1" dirty="0">
                <a:solidFill>
                  <a:srgbClr val="94A3B8"/>
                </a:solidFill>
                <a:latin typeface="Tahoma" panose="020B0604030504040204" pitchFamily="34" charset="0"/>
                <a:ea typeface="Tahoma" panose="020B0604030504040204" pitchFamily="34" charset="0"/>
                <a:cs typeface="Tahoma" panose="020B0604030504040204" pitchFamily="34" charset="0"/>
              </a:rPr>
              <a:t>CVV LOGO</a:t>
            </a:r>
            <a:endParaRPr lang="en-US" sz="900" dirty="0">
              <a:latin typeface="Tahoma" panose="020B0604030504040204" pitchFamily="34" charset="0"/>
            </a:endParaRPr>
          </a:p>
        </p:txBody>
      </p:sp>
      <p:sp>
        <p:nvSpPr>
          <p:cNvPr id="4" name="Text 2"/>
          <p:cNvSpPr txBox="1"/>
          <p:nvPr/>
        </p:nvSpPr>
        <p:spPr>
          <a:xfrm>
            <a:off x="502920" y="292608"/>
            <a:ext cx="9905695" cy="566928"/>
          </a:xfrm>
          <a:prstGeom prst="rect">
            <a:avLst/>
          </a:prstGeom>
          <a:noFill/>
          <a:ln/>
        </p:spPr>
        <p:txBody>
          <a:bodyPr wrap="square" lIns="0" tIns="0" rIns="0" bIns="0" rtlCol="0" anchor="ctr"/>
          <a:lstStyle/>
          <a:p>
            <a:pPr marL="0" indent="0" algn="l">
              <a:buNone/>
            </a:pPr>
            <a:r>
              <a:rPr lang="en-US" sz="3000" b="1" kern="0" spc="50" dirty="0">
                <a:solidFill>
                  <a:srgbClr val="EAF0FA"/>
                </a:solidFill>
                <a:latin typeface="Tahoma" panose="020B0604030504040204" pitchFamily="34" charset="0"/>
                <a:ea typeface="Tahoma" panose="020B0604030504040204" pitchFamily="34" charset="0"/>
                <a:cs typeface="Tahoma" panose="020B0604030504040204" pitchFamily="34" charset="0"/>
              </a:rPr>
              <a:t>Difference</a:t>
            </a:r>
            <a:endParaRPr lang="en-US" sz="3000" dirty="0">
              <a:latin typeface="Tahoma" panose="020B0604030504040204" pitchFamily="34" charset="0"/>
            </a:endParaRPr>
          </a:p>
        </p:txBody>
      </p:sp>
      <p:sp>
        <p:nvSpPr>
          <p:cNvPr id="5" name="Text 3"/>
          <p:cNvSpPr txBox="1"/>
          <p:nvPr/>
        </p:nvSpPr>
        <p:spPr>
          <a:xfrm>
            <a:off x="502920" y="18288"/>
            <a:ext cx="5486400" cy="256032"/>
          </a:xfrm>
          <a:prstGeom prst="rect">
            <a:avLst/>
          </a:prstGeom>
          <a:noFill/>
          <a:ln/>
        </p:spPr>
        <p:txBody>
          <a:bodyPr wrap="square" lIns="0" tIns="0" rIns="0" bIns="0" rtlCol="0" anchor="ctr"/>
          <a:lstStyle/>
          <a:p>
            <a:pPr marL="0" indent="0" algn="l">
              <a:buNone/>
            </a:pPr>
            <a:r>
              <a:rPr lang="en-US" sz="1100" b="1" kern="0" spc="120" dirty="0">
                <a:solidFill>
                  <a:srgbClr val="22D3EE"/>
                </a:solidFill>
                <a:latin typeface="Tahoma" panose="020B0604030504040204" pitchFamily="34" charset="0"/>
                <a:ea typeface="Tahoma" panose="020B0604030504040204" pitchFamily="34" charset="0"/>
                <a:cs typeface="Tahoma" panose="020B0604030504040204" pitchFamily="34" charset="0"/>
              </a:rPr>
              <a:t>MARKET COMPARISON</a:t>
            </a:r>
            <a:endParaRPr lang="en-US" sz="1100" dirty="0">
              <a:latin typeface="Tahoma" panose="020B0604030504040204" pitchFamily="34" charset="0"/>
            </a:endParaRPr>
          </a:p>
        </p:txBody>
      </p:sp>
      <p:sp>
        <p:nvSpPr>
          <p:cNvPr id="7" name="Text 5"/>
          <p:cNvSpPr txBox="1"/>
          <p:nvPr/>
        </p:nvSpPr>
        <p:spPr>
          <a:xfrm>
            <a:off x="11140135" y="6473952"/>
            <a:ext cx="548640" cy="274320"/>
          </a:xfrm>
          <a:prstGeom prst="rect">
            <a:avLst/>
          </a:prstGeom>
          <a:noFill/>
          <a:ln/>
        </p:spPr>
        <p:txBody>
          <a:bodyPr wrap="square" lIns="0" tIns="0" rIns="0" bIns="0" rtlCol="0" anchor="ctr"/>
          <a:lstStyle/>
          <a:p>
            <a:pPr marL="0" indent="0" algn="r">
              <a:buNone/>
            </a:pPr>
            <a:r>
              <a:rPr lang="en-US" sz="900" dirty="0">
                <a:solidFill>
                  <a:srgbClr val="5B6B85"/>
                </a:solidFill>
                <a:latin typeface="Tahoma" panose="020B0604030504040204" pitchFamily="34" charset="0"/>
                <a:ea typeface="Tahoma" panose="020B0604030504040204" pitchFamily="34" charset="0"/>
                <a:cs typeface="Tahoma" panose="020B0604030504040204" pitchFamily="34" charset="0"/>
              </a:rPr>
              <a:t>15</a:t>
            </a:r>
            <a:endParaRPr lang="en-US" sz="900" dirty="0">
              <a:latin typeface="Tahoma" panose="020B0604030504040204" pitchFamily="34" charset="0"/>
            </a:endParaRPr>
          </a:p>
        </p:txBody>
      </p:sp>
      <p:pic>
        <p:nvPicPr>
          <p:cNvPr id="35" name="Picture 34">
            <a:extLst>
              <a:ext uri="{FF2B5EF4-FFF2-40B4-BE49-F238E27FC236}">
                <a16:creationId xmlns:a16="http://schemas.microsoft.com/office/drawing/2014/main" id="{4EDB377B-0CF1-2F63-610D-FB5A5F33CCA5}"/>
              </a:ext>
            </a:extLst>
          </p:cNvPr>
          <p:cNvPicPr>
            <a:picLocks noChangeAspect="1"/>
          </p:cNvPicPr>
          <p:nvPr/>
        </p:nvPicPr>
        <p:blipFill>
          <a:blip r:embed="rId2"/>
          <a:srcRect r="15270" b="26538"/>
          <a:stretch>
            <a:fillRect/>
          </a:stretch>
        </p:blipFill>
        <p:spPr>
          <a:xfrm>
            <a:off x="10416983" y="236798"/>
            <a:ext cx="1440000" cy="527673"/>
          </a:xfrm>
          <a:prstGeom prst="roundRect">
            <a:avLst/>
          </a:prstGeom>
        </p:spPr>
      </p:pic>
      <p:graphicFrame>
        <p:nvGraphicFramePr>
          <p:cNvPr id="36" name="Table 35"/>
          <p:cNvGraphicFramePr>
            <a:graphicFrameLocks noGrp="1"/>
          </p:cNvGraphicFramePr>
          <p:nvPr>
            <p:extLst>
              <p:ext uri="{D42A27DB-BD31-4B8C-83A1-F6EECF244321}">
                <p14:modId xmlns:p14="http://schemas.microsoft.com/office/powerpoint/2010/main" val="3614410650"/>
              </p:ext>
            </p:extLst>
          </p:nvPr>
        </p:nvGraphicFramePr>
        <p:xfrm>
          <a:off x="502920" y="1075000"/>
          <a:ext cx="11185856" cy="5150000"/>
        </p:xfrm>
        <a:graphic>
          <a:graphicData uri="http://schemas.openxmlformats.org/drawingml/2006/table">
            <a:tbl>
              <a:tblPr>
                <a:tableStyleId>{2D5ABB26-0587-4C30-8999-92F81FD0307C}</a:tableStyleId>
              </a:tblPr>
              <a:tblGrid>
                <a:gridCol w="2185856">
                  <a:extLst>
                    <a:ext uri="{9D8B030D-6E8A-4147-A177-3AD203B41FA5}">
                      <a16:colId xmlns:a16="http://schemas.microsoft.com/office/drawing/2014/main" val="20000"/>
                    </a:ext>
                  </a:extLst>
                </a:gridCol>
                <a:gridCol w="2250000">
                  <a:extLst>
                    <a:ext uri="{9D8B030D-6E8A-4147-A177-3AD203B41FA5}">
                      <a16:colId xmlns:a16="http://schemas.microsoft.com/office/drawing/2014/main" val="20001"/>
                    </a:ext>
                  </a:extLst>
                </a:gridCol>
                <a:gridCol w="2250000">
                  <a:extLst>
                    <a:ext uri="{9D8B030D-6E8A-4147-A177-3AD203B41FA5}">
                      <a16:colId xmlns:a16="http://schemas.microsoft.com/office/drawing/2014/main" val="20002"/>
                    </a:ext>
                  </a:extLst>
                </a:gridCol>
                <a:gridCol w="2250000">
                  <a:extLst>
                    <a:ext uri="{9D8B030D-6E8A-4147-A177-3AD203B41FA5}">
                      <a16:colId xmlns:a16="http://schemas.microsoft.com/office/drawing/2014/main" val="20003"/>
                    </a:ext>
                  </a:extLst>
                </a:gridCol>
                <a:gridCol w="2250000">
                  <a:extLst>
                    <a:ext uri="{9D8B030D-6E8A-4147-A177-3AD203B41FA5}">
                      <a16:colId xmlns:a16="http://schemas.microsoft.com/office/drawing/2014/main" val="20004"/>
                    </a:ext>
                  </a:extLst>
                </a:gridCol>
              </a:tblGrid>
              <a:tr h="900000">
                <a:tc>
                  <a:txBody>
                    <a:bodyPr/>
                    <a:lstStyle/>
                    <a:p>
                      <a:pPr algn="l"/>
                      <a:endParaRPr dirty="0">
                        <a:latin typeface="Tahoma" panose="020B0604030504040204" pitchFamily="34" charset="0"/>
                        <a:ea typeface="Tahoma" panose="020B0604030504040204" pitchFamily="34" charset="0"/>
                        <a:cs typeface="Tahoma" panose="020B0604030504040204" pitchFamily="34" charset="0"/>
                      </a:endParaRPr>
                    </a:p>
                  </a:txBody>
                  <a:tcPr marL="137160" marR="13716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A0F1F"/>
                    </a:solidFill>
                  </a:tcPr>
                </a:tc>
                <a:tc>
                  <a:txBody>
                    <a:bodyPr/>
                    <a:lstStyle/>
                    <a:p>
                      <a:pPr algn="l"/>
                      <a:r>
                        <a:rPr sz="1400" b="1" i="0" dirty="0">
                          <a:solidFill>
                            <a:srgbClr val="EAF0FA"/>
                          </a:solidFill>
                          <a:latin typeface="Tahoma" panose="020B0604030504040204" pitchFamily="34" charset="0"/>
                          <a:ea typeface="Tahoma" panose="020B0604030504040204" pitchFamily="34" charset="0"/>
                          <a:cs typeface="Tahoma" panose="020B0604030504040204" pitchFamily="34" charset="0"/>
                        </a:rPr>
                        <a:t>Expense AI</a:t>
                      </a:r>
                    </a:p>
                  </a:txBody>
                  <a:tcPr marL="137160" marR="13716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50000"/>
                      </a:schemeClr>
                    </a:solidFill>
                  </a:tcPr>
                </a:tc>
                <a:tc>
                  <a:txBody>
                    <a:bodyPr/>
                    <a:lstStyle/>
                    <a:p>
                      <a:pPr algn="l"/>
                      <a:r>
                        <a:rPr sz="1400" b="1" i="0" dirty="0" err="1">
                          <a:solidFill>
                            <a:srgbClr val="EAF0FA"/>
                          </a:solidFill>
                          <a:latin typeface="Tahoma" panose="020B0604030504040204" pitchFamily="34" charset="0"/>
                          <a:ea typeface="Tahoma" panose="020B0604030504040204" pitchFamily="34" charset="0"/>
                          <a:cs typeface="Tahoma" panose="020B0604030504040204" pitchFamily="34" charset="0"/>
                        </a:rPr>
                        <a:t>FinArt</a:t>
                      </a:r>
                      <a:endParaRPr sz="1400" b="1" i="0" dirty="0">
                        <a:solidFill>
                          <a:srgbClr val="EAF0FA"/>
                        </a:solidFill>
                        <a:latin typeface="Tahoma" panose="020B0604030504040204" pitchFamily="34" charset="0"/>
                        <a:ea typeface="Tahoma" panose="020B0604030504040204" pitchFamily="34" charset="0"/>
                        <a:cs typeface="Tahoma" panose="020B0604030504040204" pitchFamily="34" charset="0"/>
                      </a:endParaRPr>
                    </a:p>
                  </a:txBody>
                  <a:tcPr marL="137160" marR="13716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50000"/>
                      </a:schemeClr>
                    </a:solidFill>
                  </a:tcPr>
                </a:tc>
                <a:tc>
                  <a:txBody>
                    <a:bodyPr/>
                    <a:lstStyle/>
                    <a:p>
                      <a:pPr algn="l"/>
                      <a:r>
                        <a:rPr sz="1400" b="1" i="0" dirty="0">
                          <a:solidFill>
                            <a:srgbClr val="EAF0FA"/>
                          </a:solidFill>
                          <a:latin typeface="Tahoma" panose="020B0604030504040204" pitchFamily="34" charset="0"/>
                          <a:ea typeface="Tahoma" panose="020B0604030504040204" pitchFamily="34" charset="0"/>
                          <a:cs typeface="Tahoma" panose="020B0604030504040204" pitchFamily="34" charset="0"/>
                        </a:rPr>
                        <a:t>Other AI Trackers</a:t>
                      </a:r>
                    </a:p>
                  </a:txBody>
                  <a:tcPr marL="137160" marR="13716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50000"/>
                      </a:schemeClr>
                    </a:solidFill>
                  </a:tcPr>
                </a:tc>
                <a:tc>
                  <a:txBody>
                    <a:bodyPr/>
                    <a:lstStyle/>
                    <a:p>
                      <a:pPr algn="l"/>
                      <a:r>
                        <a:rPr sz="1400" b="1" i="0" dirty="0">
                          <a:solidFill>
                            <a:srgbClr val="22D3EE"/>
                          </a:solidFill>
                          <a:latin typeface="Tahoma" panose="020B0604030504040204" pitchFamily="34" charset="0"/>
                          <a:ea typeface="Tahoma" panose="020B0604030504040204" pitchFamily="34" charset="0"/>
                          <a:cs typeface="Tahoma" panose="020B0604030504040204" pitchFamily="34" charset="0"/>
                        </a:rPr>
                        <a:t>Ours</a:t>
                      </a:r>
                    </a:p>
                  </a:txBody>
                  <a:tcPr marL="137160" marR="13716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E3A42"/>
                    </a:solidFill>
                  </a:tcPr>
                </a:tc>
                <a:extLst>
                  <a:ext uri="{0D108BD9-81ED-4DB2-BD59-A6C34878D82A}">
                    <a16:rowId xmlns:a16="http://schemas.microsoft.com/office/drawing/2014/main" val="10000"/>
                  </a:ext>
                </a:extLst>
              </a:tr>
              <a:tr h="1062500">
                <a:tc>
                  <a:txBody>
                    <a:bodyPr/>
                    <a:lstStyle/>
                    <a:p>
                      <a:pPr algn="l"/>
                      <a:r>
                        <a:rPr sz="1250" b="1" i="0" dirty="0">
                          <a:solidFill>
                            <a:schemeClr val="bg2"/>
                          </a:solidFill>
                          <a:latin typeface="Tahoma" panose="020B0604030504040204" pitchFamily="34" charset="0"/>
                          <a:ea typeface="Tahoma" panose="020B0604030504040204" pitchFamily="34" charset="0"/>
                          <a:cs typeface="Tahoma" panose="020B0604030504040204" pitchFamily="34" charset="0"/>
                        </a:rPr>
                        <a:t>Cost</a:t>
                      </a:r>
                    </a:p>
                  </a:txBody>
                  <a:tcPr marL="137160" marR="13716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8233C"/>
                    </a:solidFill>
                  </a:tcPr>
                </a:tc>
                <a:tc>
                  <a:txBody>
                    <a:bodyPr/>
                    <a:lstStyle/>
                    <a:p>
                      <a:pPr algn="l"/>
                      <a:r>
                        <a:rPr lang="en-IN" sz="1200" b="0" i="0" dirty="0">
                          <a:solidFill>
                            <a:schemeClr val="bg2"/>
                          </a:solidFill>
                          <a:latin typeface="Tahoma" panose="020B0604030504040204" pitchFamily="34" charset="0"/>
                          <a:ea typeface="Tahoma" panose="020B0604030504040204" pitchFamily="34" charset="0"/>
                          <a:cs typeface="Tahoma" panose="020B0604030504040204" pitchFamily="34" charset="0"/>
                        </a:rPr>
                        <a:t>Paid (</a:t>
                      </a:r>
                      <a:r>
                        <a:rPr sz="1200" b="0" i="0" dirty="0">
                          <a:solidFill>
                            <a:schemeClr val="bg2"/>
                          </a:solidFill>
                          <a:latin typeface="Tahoma" panose="020B0604030504040204" pitchFamily="34" charset="0"/>
                          <a:ea typeface="Tahoma" panose="020B0604030504040204" pitchFamily="34" charset="0"/>
                          <a:cs typeface="Tahoma" panose="020B0604030504040204" pitchFamily="34" charset="0"/>
                        </a:rPr>
                        <a:t>₹260 / week</a:t>
                      </a:r>
                      <a:r>
                        <a:rPr lang="en-IN" sz="1200" b="0" i="0" dirty="0">
                          <a:solidFill>
                            <a:schemeClr val="bg2"/>
                          </a:solidFill>
                          <a:latin typeface="Tahoma" panose="020B0604030504040204" pitchFamily="34" charset="0"/>
                          <a:ea typeface="Tahoma" panose="020B0604030504040204" pitchFamily="34" charset="0"/>
                          <a:cs typeface="Tahoma" panose="020B0604030504040204" pitchFamily="34" charset="0"/>
                        </a:rPr>
                        <a:t>)</a:t>
                      </a:r>
                      <a:endParaRPr sz="1200" b="0" i="0" dirty="0">
                        <a:solidFill>
                          <a:schemeClr val="bg2"/>
                        </a:solidFill>
                        <a:latin typeface="Tahoma" panose="020B0604030504040204" pitchFamily="34" charset="0"/>
                        <a:ea typeface="Tahoma" panose="020B0604030504040204" pitchFamily="34" charset="0"/>
                        <a:cs typeface="Tahoma" panose="020B0604030504040204" pitchFamily="34" charset="0"/>
                      </a:endParaRPr>
                    </a:p>
                  </a:txBody>
                  <a:tcPr marL="137160" marR="13716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8233C"/>
                    </a:solidFill>
                  </a:tcPr>
                </a:tc>
                <a:tc>
                  <a:txBody>
                    <a:bodyPr/>
                    <a:lstStyle/>
                    <a:p>
                      <a:pPr algn="l"/>
                      <a:r>
                        <a:rPr sz="1200" b="0" i="0" dirty="0">
                          <a:solidFill>
                            <a:schemeClr val="bg2"/>
                          </a:solidFill>
                          <a:latin typeface="Tahoma" panose="020B0604030504040204" pitchFamily="34" charset="0"/>
                          <a:ea typeface="Tahoma" panose="020B0604030504040204" pitchFamily="34" charset="0"/>
                          <a:cs typeface="Tahoma" panose="020B0604030504040204" pitchFamily="34" charset="0"/>
                        </a:rPr>
                        <a:t>Free</a:t>
                      </a:r>
                    </a:p>
                  </a:txBody>
                  <a:tcPr marL="137160" marR="13716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8233C"/>
                    </a:solidFill>
                  </a:tcPr>
                </a:tc>
                <a:tc>
                  <a:txBody>
                    <a:bodyPr/>
                    <a:lstStyle/>
                    <a:p>
                      <a:pPr algn="l"/>
                      <a:r>
                        <a:rPr sz="1200" b="0" i="0">
                          <a:solidFill>
                            <a:schemeClr val="bg2"/>
                          </a:solidFill>
                          <a:latin typeface="Tahoma" panose="020B0604030504040204" pitchFamily="34" charset="0"/>
                          <a:ea typeface="Tahoma" panose="020B0604030504040204" pitchFamily="34" charset="0"/>
                          <a:cs typeface="Tahoma" panose="020B0604030504040204" pitchFamily="34" charset="0"/>
                        </a:rPr>
                        <a:t>Free (mostly)</a:t>
                      </a:r>
                    </a:p>
                  </a:txBody>
                  <a:tcPr marL="137160" marR="13716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8233C"/>
                    </a:solidFill>
                  </a:tcPr>
                </a:tc>
                <a:tc>
                  <a:txBody>
                    <a:bodyPr/>
                    <a:lstStyle/>
                    <a:p>
                      <a:pPr algn="l"/>
                      <a:r>
                        <a:rPr sz="1250" b="1" i="0">
                          <a:solidFill>
                            <a:srgbClr val="EAF0FA"/>
                          </a:solidFill>
                          <a:latin typeface="Tahoma" panose="020B0604030504040204" pitchFamily="34" charset="0"/>
                          <a:ea typeface="Tahoma" panose="020B0604030504040204" pitchFamily="34" charset="0"/>
                          <a:cs typeface="Tahoma" panose="020B0604030504040204" pitchFamily="34" charset="0"/>
                        </a:rPr>
                        <a:t>Free</a:t>
                      </a:r>
                    </a:p>
                  </a:txBody>
                  <a:tcPr marL="137160" marR="13716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E3A42"/>
                    </a:solidFill>
                  </a:tcPr>
                </a:tc>
                <a:extLst>
                  <a:ext uri="{0D108BD9-81ED-4DB2-BD59-A6C34878D82A}">
                    <a16:rowId xmlns:a16="http://schemas.microsoft.com/office/drawing/2014/main" val="10001"/>
                  </a:ext>
                </a:extLst>
              </a:tr>
              <a:tr h="1062500">
                <a:tc>
                  <a:txBody>
                    <a:bodyPr/>
                    <a:lstStyle/>
                    <a:p>
                      <a:pPr algn="l"/>
                      <a:r>
                        <a:rPr sz="1250" b="1" i="0" dirty="0">
                          <a:solidFill>
                            <a:schemeClr val="bg2"/>
                          </a:solidFill>
                          <a:latin typeface="Tahoma" panose="020B0604030504040204" pitchFamily="34" charset="0"/>
                          <a:ea typeface="Tahoma" panose="020B0604030504040204" pitchFamily="34" charset="0"/>
                          <a:cs typeface="Tahoma" panose="020B0604030504040204" pitchFamily="34" charset="0"/>
                        </a:rPr>
                        <a:t>Input Method</a:t>
                      </a:r>
                    </a:p>
                  </a:txBody>
                  <a:tcPr marL="137160" marR="13716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21B30"/>
                    </a:solidFill>
                  </a:tcPr>
                </a:tc>
                <a:tc>
                  <a:txBody>
                    <a:bodyPr/>
                    <a:lstStyle/>
                    <a:p>
                      <a:pPr algn="l"/>
                      <a:r>
                        <a:rPr sz="1200" b="0" i="0" dirty="0">
                          <a:solidFill>
                            <a:schemeClr val="bg2"/>
                          </a:solidFill>
                          <a:latin typeface="Tahoma" panose="020B0604030504040204" pitchFamily="34" charset="0"/>
                          <a:ea typeface="Tahoma" panose="020B0604030504040204" pitchFamily="34" charset="0"/>
                          <a:cs typeface="Tahoma" panose="020B0604030504040204" pitchFamily="34" charset="0"/>
                        </a:rPr>
                        <a:t>Manual entry, receipts, chat</a:t>
                      </a:r>
                    </a:p>
                  </a:txBody>
                  <a:tcPr marL="137160" marR="13716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21B30"/>
                    </a:solidFill>
                  </a:tcPr>
                </a:tc>
                <a:tc>
                  <a:txBody>
                    <a:bodyPr/>
                    <a:lstStyle/>
                    <a:p>
                      <a:pPr algn="l"/>
                      <a:r>
                        <a:rPr sz="1200" b="0" i="0">
                          <a:solidFill>
                            <a:schemeClr val="bg2"/>
                          </a:solidFill>
                          <a:latin typeface="Tahoma" panose="020B0604030504040204" pitchFamily="34" charset="0"/>
                          <a:ea typeface="Tahoma" panose="020B0604030504040204" pitchFamily="34" charset="0"/>
                          <a:cs typeface="Tahoma" panose="020B0604030504040204" pitchFamily="34" charset="0"/>
                        </a:rPr>
                        <a:t>SMS-based (automatic)</a:t>
                      </a:r>
                    </a:p>
                  </a:txBody>
                  <a:tcPr marL="137160" marR="13716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21B30"/>
                    </a:solidFill>
                  </a:tcPr>
                </a:tc>
                <a:tc>
                  <a:txBody>
                    <a:bodyPr/>
                    <a:lstStyle/>
                    <a:p>
                      <a:pPr algn="l"/>
                      <a:r>
                        <a:rPr sz="1200" b="0" i="0">
                          <a:solidFill>
                            <a:schemeClr val="bg2"/>
                          </a:solidFill>
                          <a:latin typeface="Tahoma" panose="020B0604030504040204" pitchFamily="34" charset="0"/>
                          <a:ea typeface="Tahoma" panose="020B0604030504040204" pitchFamily="34" charset="0"/>
                          <a:cs typeface="Tahoma" panose="020B0604030504040204" pitchFamily="34" charset="0"/>
                        </a:rPr>
                        <a:t>Manual entry, voice, or chat</a:t>
                      </a:r>
                    </a:p>
                  </a:txBody>
                  <a:tcPr marL="137160" marR="13716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21B30"/>
                    </a:solidFill>
                  </a:tcPr>
                </a:tc>
                <a:tc>
                  <a:txBody>
                    <a:bodyPr/>
                    <a:lstStyle/>
                    <a:p>
                      <a:pPr algn="l"/>
                      <a:r>
                        <a:rPr sz="1250" b="1" i="0">
                          <a:solidFill>
                            <a:srgbClr val="EAF0FA"/>
                          </a:solidFill>
                          <a:latin typeface="Tahoma" panose="020B0604030504040204" pitchFamily="34" charset="0"/>
                          <a:ea typeface="Tahoma" panose="020B0604030504040204" pitchFamily="34" charset="0"/>
                          <a:cs typeface="Tahoma" panose="020B0604030504040204" pitchFamily="34" charset="0"/>
                        </a:rPr>
                        <a:t>Upload full bank statement (CSV/PDF)</a:t>
                      </a:r>
                    </a:p>
                  </a:txBody>
                  <a:tcPr marL="137160" marR="13716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E3A42"/>
                    </a:solidFill>
                  </a:tcPr>
                </a:tc>
                <a:extLst>
                  <a:ext uri="{0D108BD9-81ED-4DB2-BD59-A6C34878D82A}">
                    <a16:rowId xmlns:a16="http://schemas.microsoft.com/office/drawing/2014/main" val="10002"/>
                  </a:ext>
                </a:extLst>
              </a:tr>
              <a:tr h="1062500">
                <a:tc>
                  <a:txBody>
                    <a:bodyPr/>
                    <a:lstStyle/>
                    <a:p>
                      <a:pPr algn="l"/>
                      <a:r>
                        <a:rPr sz="1250" b="1" i="0">
                          <a:solidFill>
                            <a:schemeClr val="bg2"/>
                          </a:solidFill>
                          <a:latin typeface="Tahoma" panose="020B0604030504040204" pitchFamily="34" charset="0"/>
                          <a:ea typeface="Tahoma" panose="020B0604030504040204" pitchFamily="34" charset="0"/>
                          <a:cs typeface="Tahoma" panose="020B0604030504040204" pitchFamily="34" charset="0"/>
                        </a:rPr>
                        <a:t>Historical Data</a:t>
                      </a:r>
                    </a:p>
                  </a:txBody>
                  <a:tcPr marL="137160" marR="13716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8233C"/>
                    </a:solidFill>
                  </a:tcPr>
                </a:tc>
                <a:tc>
                  <a:txBody>
                    <a:bodyPr/>
                    <a:lstStyle/>
                    <a:p>
                      <a:pPr algn="l"/>
                      <a:r>
                        <a:rPr sz="1200" b="0" i="0" dirty="0">
                          <a:solidFill>
                            <a:schemeClr val="bg2"/>
                          </a:solidFill>
                          <a:latin typeface="Tahoma" panose="020B0604030504040204" pitchFamily="34" charset="0"/>
                          <a:ea typeface="Tahoma" panose="020B0604030504040204" pitchFamily="34" charset="0"/>
                          <a:cs typeface="Tahoma" panose="020B0604030504040204" pitchFamily="34" charset="0"/>
                        </a:rPr>
                        <a:t>Limited to logged entries</a:t>
                      </a:r>
                    </a:p>
                  </a:txBody>
                  <a:tcPr marL="137160" marR="13716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8233C"/>
                    </a:solidFill>
                  </a:tcPr>
                </a:tc>
                <a:tc>
                  <a:txBody>
                    <a:bodyPr/>
                    <a:lstStyle/>
                    <a:p>
                      <a:pPr algn="l"/>
                      <a:r>
                        <a:rPr sz="1200" b="0" i="0" dirty="0">
                          <a:solidFill>
                            <a:schemeClr val="bg2"/>
                          </a:solidFill>
                          <a:latin typeface="Tahoma" panose="020B0604030504040204" pitchFamily="34" charset="0"/>
                          <a:ea typeface="Tahoma" panose="020B0604030504040204" pitchFamily="34" charset="0"/>
                          <a:cs typeface="Tahoma" panose="020B0604030504040204" pitchFamily="34" charset="0"/>
                        </a:rPr>
                        <a:t>Only from install date onward</a:t>
                      </a:r>
                    </a:p>
                  </a:txBody>
                  <a:tcPr marL="137160" marR="13716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8233C"/>
                    </a:solidFill>
                  </a:tcPr>
                </a:tc>
                <a:tc>
                  <a:txBody>
                    <a:bodyPr/>
                    <a:lstStyle/>
                    <a:p>
                      <a:pPr algn="l"/>
                      <a:r>
                        <a:rPr sz="1200" b="0" i="0">
                          <a:solidFill>
                            <a:schemeClr val="bg2"/>
                          </a:solidFill>
                          <a:latin typeface="Tahoma" panose="020B0604030504040204" pitchFamily="34" charset="0"/>
                          <a:ea typeface="Tahoma" panose="020B0604030504040204" pitchFamily="34" charset="0"/>
                          <a:cs typeface="Tahoma" panose="020B0604030504040204" pitchFamily="34" charset="0"/>
                        </a:rPr>
                        <a:t>None — starts from first log</a:t>
                      </a:r>
                    </a:p>
                  </a:txBody>
                  <a:tcPr marL="137160" marR="13716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8233C"/>
                    </a:solidFill>
                  </a:tcPr>
                </a:tc>
                <a:tc>
                  <a:txBody>
                    <a:bodyPr/>
                    <a:lstStyle/>
                    <a:p>
                      <a:pPr algn="l"/>
                      <a:r>
                        <a:rPr sz="1250" b="1" i="0">
                          <a:solidFill>
                            <a:srgbClr val="EAF0FA"/>
                          </a:solidFill>
                          <a:latin typeface="Tahoma" panose="020B0604030504040204" pitchFamily="34" charset="0"/>
                          <a:ea typeface="Tahoma" panose="020B0604030504040204" pitchFamily="34" charset="0"/>
                          <a:cs typeface="Tahoma" panose="020B0604030504040204" pitchFamily="34" charset="0"/>
                        </a:rPr>
                        <a:t>Entire past history in one upload</a:t>
                      </a:r>
                    </a:p>
                  </a:txBody>
                  <a:tcPr marL="137160" marR="13716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E3A42"/>
                    </a:solidFill>
                  </a:tcPr>
                </a:tc>
                <a:extLst>
                  <a:ext uri="{0D108BD9-81ED-4DB2-BD59-A6C34878D82A}">
                    <a16:rowId xmlns:a16="http://schemas.microsoft.com/office/drawing/2014/main" val="10003"/>
                  </a:ext>
                </a:extLst>
              </a:tr>
              <a:tr h="1062500">
                <a:tc>
                  <a:txBody>
                    <a:bodyPr/>
                    <a:lstStyle/>
                    <a:p>
                      <a:pPr algn="l"/>
                      <a:r>
                        <a:rPr sz="1250" b="1" i="0">
                          <a:solidFill>
                            <a:schemeClr val="bg2"/>
                          </a:solidFill>
                          <a:latin typeface="Tahoma" panose="020B0604030504040204" pitchFamily="34" charset="0"/>
                          <a:ea typeface="Tahoma" panose="020B0604030504040204" pitchFamily="34" charset="0"/>
                          <a:cs typeface="Tahoma" panose="020B0604030504040204" pitchFamily="34" charset="0"/>
                        </a:rPr>
                        <a:t>Categorization</a:t>
                      </a:r>
                    </a:p>
                  </a:txBody>
                  <a:tcPr marL="137160" marR="13716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21B30"/>
                    </a:solidFill>
                  </a:tcPr>
                </a:tc>
                <a:tc>
                  <a:txBody>
                    <a:bodyPr/>
                    <a:lstStyle/>
                    <a:p>
                      <a:pPr algn="l"/>
                      <a:r>
                        <a:rPr sz="1200" b="0" i="0">
                          <a:solidFill>
                            <a:schemeClr val="bg2"/>
                          </a:solidFill>
                          <a:latin typeface="Tahoma" panose="020B0604030504040204" pitchFamily="34" charset="0"/>
                          <a:ea typeface="Tahoma" panose="020B0604030504040204" pitchFamily="34" charset="0"/>
                          <a:cs typeface="Tahoma" panose="020B0604030504040204" pitchFamily="34" charset="0"/>
                        </a:rPr>
                        <a:t>AI-based</a:t>
                      </a:r>
                    </a:p>
                  </a:txBody>
                  <a:tcPr marL="137160" marR="13716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21B30"/>
                    </a:solidFill>
                  </a:tcPr>
                </a:tc>
                <a:tc>
                  <a:txBody>
                    <a:bodyPr/>
                    <a:lstStyle/>
                    <a:p>
                      <a:pPr algn="l"/>
                      <a:r>
                        <a:rPr sz="1200" b="0" i="0" dirty="0">
                          <a:solidFill>
                            <a:schemeClr val="bg2"/>
                          </a:solidFill>
                          <a:latin typeface="Tahoma" panose="020B0604030504040204" pitchFamily="34" charset="0"/>
                          <a:ea typeface="Tahoma" panose="020B0604030504040204" pitchFamily="34" charset="0"/>
                          <a:cs typeface="Tahoma" panose="020B0604030504040204" pitchFamily="34" charset="0"/>
                        </a:rPr>
                        <a:t>Rule-based (SMS parsing)</a:t>
                      </a:r>
                    </a:p>
                  </a:txBody>
                  <a:tcPr marL="137160" marR="13716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21B30"/>
                    </a:solidFill>
                  </a:tcPr>
                </a:tc>
                <a:tc>
                  <a:txBody>
                    <a:bodyPr/>
                    <a:lstStyle/>
                    <a:p>
                      <a:pPr algn="l"/>
                      <a:r>
                        <a:rPr sz="1200" b="0" i="0" dirty="0">
                          <a:solidFill>
                            <a:schemeClr val="bg2"/>
                          </a:solidFill>
                          <a:latin typeface="Tahoma" panose="020B0604030504040204" pitchFamily="34" charset="0"/>
                          <a:ea typeface="Tahoma" panose="020B0604030504040204" pitchFamily="34" charset="0"/>
                          <a:cs typeface="Tahoma" panose="020B0604030504040204" pitchFamily="34" charset="0"/>
                        </a:rPr>
                        <a:t>AI, on user-typed text</a:t>
                      </a:r>
                    </a:p>
                  </a:txBody>
                  <a:tcPr marL="137160" marR="13716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21B30"/>
                    </a:solidFill>
                  </a:tcPr>
                </a:tc>
                <a:tc>
                  <a:txBody>
                    <a:bodyPr/>
                    <a:lstStyle/>
                    <a:p>
                      <a:pPr algn="l"/>
                      <a:r>
                        <a:rPr sz="1250" b="1" i="0" dirty="0">
                          <a:solidFill>
                            <a:srgbClr val="EAF0FA"/>
                          </a:solidFill>
                          <a:latin typeface="Tahoma" panose="020B0604030504040204" pitchFamily="34" charset="0"/>
                          <a:ea typeface="Tahoma" panose="020B0604030504040204" pitchFamily="34" charset="0"/>
                          <a:cs typeface="Tahoma" panose="020B0604030504040204" pitchFamily="34" charset="0"/>
                        </a:rPr>
                        <a:t>AI (Gemini), on real transaction data</a:t>
                      </a:r>
                    </a:p>
                  </a:txBody>
                  <a:tcPr marL="137160" marR="13716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E3A42"/>
                    </a:solidFill>
                  </a:tcPr>
                </a:tc>
                <a:extLst>
                  <a:ext uri="{0D108BD9-81ED-4DB2-BD59-A6C34878D82A}">
                    <a16:rowId xmlns:a16="http://schemas.microsoft.com/office/drawing/2014/main" val="10004"/>
                  </a:ext>
                </a:extLst>
              </a:tr>
            </a:tbl>
          </a:graphicData>
        </a:graphic>
      </p:graphicFrame>
      <p:sp>
        <p:nvSpPr>
          <p:cNvPr id="8" name="Shape 36">
            <a:extLst>
              <a:ext uri="{FF2B5EF4-FFF2-40B4-BE49-F238E27FC236}">
                <a16:creationId xmlns:a16="http://schemas.microsoft.com/office/drawing/2014/main" id="{4F8303E5-1152-40CE-B69A-3539A48BD495}"/>
              </a:ext>
            </a:extLst>
          </p:cNvPr>
          <p:cNvSpPr/>
          <p:nvPr/>
        </p:nvSpPr>
        <p:spPr>
          <a:xfrm>
            <a:off x="548640" y="6355080"/>
            <a:ext cx="11091672" cy="0"/>
          </a:xfrm>
          <a:prstGeom prst="line">
            <a:avLst/>
          </a:prstGeom>
          <a:noFill/>
          <a:ln w="12700">
            <a:solidFill>
              <a:srgbClr val="1B2333"/>
            </a:solidFill>
            <a:prstDash val="solid"/>
          </a:ln>
        </p:spPr>
        <p:txBody>
          <a:bodyPr/>
          <a:lstStyle/>
          <a:p>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462</TotalTime>
  <Words>1225</Words>
  <Application>Microsoft Office PowerPoint</Application>
  <PresentationFormat>Widescreen</PresentationFormat>
  <Paragraphs>268</Paragraphs>
  <Slides>15</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Bookman Old Style</vt:lpstr>
      <vt:lpstr>Tahoma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Vishnu Vijay</cp:lastModifiedBy>
  <cp:revision>71</cp:revision>
  <dcterms:created xsi:type="dcterms:W3CDTF">2026-08-28T04:45:28Z</dcterms:created>
  <dcterms:modified xsi:type="dcterms:W3CDTF">2026-09-07T08:13:59Z</dcterms:modified>
</cp:coreProperties>
</file>