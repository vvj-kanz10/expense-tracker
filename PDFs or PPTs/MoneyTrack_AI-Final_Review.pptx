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6"/>
  </p:notesMasterIdLst>
  <p:sldIdLst>
    <p:sldId id="256" r:id="rId2"/>
    <p:sldId id="257" r:id="rId3"/>
    <p:sldId id="258" r:id="rId4"/>
    <p:sldId id="259" r:id="rId5"/>
    <p:sldId id="268" r:id="rId6"/>
    <p:sldId id="260" r:id="rId7"/>
    <p:sldId id="269" r:id="rId8"/>
    <p:sldId id="261" r:id="rId9"/>
    <p:sldId id="262" r:id="rId10"/>
    <p:sldId id="263" r:id="rId11"/>
    <p:sldId id="264" r:id="rId12"/>
    <p:sldId id="265" r:id="rId13"/>
    <p:sldId id="266" r:id="rId14"/>
    <p:sldId id="267" r:id="rId1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Final Review" id="{7DF8BE82-6B27-AB03-4322-3A9345C75F97}">
          <p14:sldIdLst>
            <p14:sldId id="256"/>
            <p14:sldId id="257"/>
            <p14:sldId id="258"/>
            <p14:sldId id="259"/>
            <p14:sldId id="268"/>
            <p14:sldId id="260"/>
            <p14:sldId id="269"/>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E749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49696" autoAdjust="0"/>
  </p:normalViewPr>
  <p:slideViewPr>
    <p:cSldViewPr snapToGrid="0" snapToObjects="1">
      <p:cViewPr varScale="1">
        <p:scale>
          <a:sx n="37" d="100"/>
          <a:sy n="37" d="100"/>
        </p:scale>
        <p:origin x="1764" y="24"/>
      </p:cViewPr>
      <p:guideLst/>
    </p:cSldViewPr>
  </p:slideViewPr>
  <p:notesTextViewPr>
    <p:cViewPr>
      <p:scale>
        <a:sx n="115" d="100"/>
        <a:sy n="11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61756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Good afternoon, ma’am. Our project is an AI-powered smart expense tracker, we have named it </a:t>
            </a:r>
            <a:r>
              <a:rPr lang="en-IN" sz="1200" kern="1200" dirty="0" err="1">
                <a:solidFill>
                  <a:schemeClr val="tx1"/>
                </a:solidFill>
                <a:effectLst/>
                <a:latin typeface="+mn-lt"/>
                <a:ea typeface="+mn-ea"/>
                <a:cs typeface="+mn-cs"/>
              </a:rPr>
              <a:t>MoneyTrack</a:t>
            </a:r>
            <a:r>
              <a:rPr lang="en-IN" sz="1200" kern="1200" dirty="0">
                <a:solidFill>
                  <a:schemeClr val="tx1"/>
                </a:solidFill>
                <a:effectLst/>
                <a:latin typeface="+mn-lt"/>
                <a:ea typeface="+mn-ea"/>
                <a:cs typeface="+mn-cs"/>
              </a:rPr>
              <a:t> AI. Our project guide is Kripa Ma’am and we are Akhilesh, Gokul and Vishnu.</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Our project allows users to upload bank statements, which are automatically read and categorised into Food, Bills, Shopping and other categories.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transactions are then displayed on a dashboard with charts, budgets, savings goals and tips.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We built this because manually entering every expense is tiring, so our aim is to make expense tracking automatic, simple and useful.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People currently use manual expense trackers, banking apps or spreadsheets to manage their money.</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Manual trackers require entering expenses, banking apps mostly show transaction lists, and spreadsheets need manual effort.</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main gaps are manual work, limited spending insights and a lack of early warnings about overspending. These are the problems we wanted to solve.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Users can upload PDF or CSV bank statements and import their past transactions instead of entering everything manually.</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application learns from category corrections, supports questions in plain English through Montra, and masks sensitive information before sending relevant data to AI.</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These features make </a:t>
            </a:r>
            <a:r>
              <a:rPr lang="en-IN" sz="1200" kern="1200" dirty="0" err="1">
                <a:solidFill>
                  <a:schemeClr val="tx1"/>
                </a:solidFill>
                <a:effectLst/>
                <a:latin typeface="+mn-lt"/>
                <a:ea typeface="+mn-ea"/>
                <a:cs typeface="+mn-cs"/>
              </a:rPr>
              <a:t>MoneyTrack</a:t>
            </a:r>
            <a:r>
              <a:rPr lang="en-IN" sz="1200" kern="1200" dirty="0">
                <a:solidFill>
                  <a:schemeClr val="tx1"/>
                </a:solidFill>
                <a:effectLst/>
                <a:latin typeface="+mn-lt"/>
                <a:ea typeface="+mn-ea"/>
                <a:cs typeface="+mn-cs"/>
              </a:rPr>
              <a:t> AI more than just an expense tracker. Now, Akhilesh will explain how the system works.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This slide shows how the different parts of our application communicate.</a:t>
            </a:r>
          </a:p>
          <a:p>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frontend uses React and communicates with the Spring Boot backend through REST APIs.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backend verifies login tokens and ensures each user can access only their own data.</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MySQL stores users, transactions, budgets and goals, while Gemini AI handles selected tasks like categorisation and savings tips.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browser communicates through the backend, never directly with the database or AI service.</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Our workflow has five steps: upload, read, sort, save and show.</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user uploads a PDF or CSV statement, and the application extracts the transactions into a common format.</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Categorisation happens in three layers: learned corrections, keyword rules, and finally Gemini AI for the remaining transactions.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transactions are saved, and the dashboard updates with the results.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Duplicate checks prevent re-uploaded transactions from being counted twice. If a manually added expense matches a statement entry, the app flags it as a possible match.</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We use </a:t>
            </a:r>
            <a:r>
              <a:rPr lang="en-IN" sz="1200" kern="1200" dirty="0" err="1">
                <a:solidFill>
                  <a:schemeClr val="tx1"/>
                </a:solidFill>
                <a:effectLst/>
                <a:latin typeface="+mn-lt"/>
                <a:ea typeface="+mn-ea"/>
                <a:cs typeface="+mn-cs"/>
              </a:rPr>
              <a:t>PDFBox</a:t>
            </a:r>
            <a:r>
              <a:rPr lang="en-IN" sz="1200" kern="1200" dirty="0">
                <a:solidFill>
                  <a:schemeClr val="tx1"/>
                </a:solidFill>
                <a:effectLst/>
                <a:latin typeface="+mn-lt"/>
                <a:ea typeface="+mn-ea"/>
                <a:cs typeface="+mn-cs"/>
              </a:rPr>
              <a:t> to extract text from PDF statements and pattern matching to identify dates, amounts and balances.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Categorisation follows three layers: learned corrections, keyword rules and finally Gemini AI for the remaining transactions.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We validate AI-generated results before using them.</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For Montra, questions are converted into structured searches that our backend runs on the user's data.</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Finally, budgets, forecasts and savings goals use mathematical calculations based on previous transactions, not AI predictions.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The main dashboard displays the balance, income, expenses and savings, with charts for monthly income versus expenses and spending by category.</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In the transactions section, users can search, filter, edit categories or merchants, and add or delete transactions.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Users can also delete an entire month's transactions, with confirmation.</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Other features include monthly PDF reports, light and dark modes, and support for phones and tablets.</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Now, Gokul will explain our AI features and money-planning tools.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err="1">
                <a:solidFill>
                  <a:schemeClr val="tx1"/>
                </a:solidFill>
                <a:effectLst/>
                <a:latin typeface="+mn-lt"/>
                <a:ea typeface="+mn-ea"/>
                <a:cs typeface="+mn-cs"/>
              </a:rPr>
              <a:t>MoneyTrack</a:t>
            </a:r>
            <a:r>
              <a:rPr lang="en-IN" sz="1200" kern="1200" dirty="0">
                <a:solidFill>
                  <a:schemeClr val="tx1"/>
                </a:solidFill>
                <a:effectLst/>
                <a:latin typeface="+mn-lt"/>
                <a:ea typeface="+mn-ea"/>
                <a:cs typeface="+mn-cs"/>
              </a:rPr>
              <a:t> AI uses AI for three main tasks: transaction categorisation, savings tip wording, and converting questions into structured searches.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All other tasks, including calculations, security checks, charts and data processing, are handled by our own code.</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application remembers category corrections, so users don't have to correct the same category repeatedly.</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Ask Montra doesn't receive the full transaction list. Our backend processes the search and calculates the answer.</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We also have fallback mechanisms to keep the application useful when the AI service is unavailable.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Apart from tracking expenses, </a:t>
            </a:r>
            <a:r>
              <a:rPr lang="en-IN" sz="1200" kern="1200" dirty="0" err="1">
                <a:solidFill>
                  <a:schemeClr val="tx1"/>
                </a:solidFill>
                <a:effectLst/>
                <a:latin typeface="+mn-lt"/>
                <a:ea typeface="+mn-ea"/>
                <a:cs typeface="+mn-cs"/>
              </a:rPr>
              <a:t>MoneyTrack</a:t>
            </a:r>
            <a:r>
              <a:rPr lang="en-IN" sz="1200" kern="1200" dirty="0">
                <a:solidFill>
                  <a:schemeClr val="tx1"/>
                </a:solidFill>
                <a:effectLst/>
                <a:latin typeface="+mn-lt"/>
                <a:ea typeface="+mn-ea"/>
                <a:cs typeface="+mn-cs"/>
              </a:rPr>
              <a:t> AI also helps users plan their finances.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Users can set overall and category-wise budgets, with warnings when spending approaches or exceeds the limits.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Savings goals let users set a target amount and date, track progress, and see whether they're on track or behind.</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month-end forecast estimates whether the user will have money left or fall short.</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We also provide insights into spending changes, recurring bills and unusual transactions.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Since our application handles financial information, privacy and security are important considerations.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Before transaction text reaches Gemini, account numbers, UPI IDs and reference numbers are masked. The original statement file is not stored; only transaction data with sensitive details masked is retained.</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We use JWT authentication to protect access and ensure each user can access only their own data.</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Users can also delete individual transactions or entire months and view or delete the category rules learned from their corrections.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As Akhilesh already explained the techniques: our frontend uses React and Tailwind CSS, while the backend is built with Java and Spring Boot. </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We use MySQL for the database and Gemini for AI features. We also used tools like Postman for testing and GitHub for version control.</a:t>
            </a:r>
          </a:p>
          <a:p>
            <a:endParaRPr lang="en-IN" sz="1200" kern="1200" dirty="0">
              <a:solidFill>
                <a:schemeClr val="tx1"/>
              </a:solidFill>
              <a:effectLst/>
              <a:latin typeface="+mn-lt"/>
              <a:ea typeface="+mn-ea"/>
              <a:cs typeface="+mn-cs"/>
            </a:endParaRPr>
          </a:p>
          <a:p>
            <a:r>
              <a:rPr lang="en-IN" sz="1200" kern="1200" dirty="0">
                <a:solidFill>
                  <a:schemeClr val="tx1"/>
                </a:solidFill>
                <a:effectLst/>
                <a:latin typeface="+mn-lt"/>
                <a:ea typeface="+mn-ea"/>
                <a:cs typeface="+mn-cs"/>
              </a:rPr>
              <a:t>We developed the application module by module, testing each part before integrating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IN" sz="1200" kern="1200" dirty="0">
                <a:solidFill>
                  <a:schemeClr val="tx1"/>
                </a:solidFill>
                <a:effectLst/>
                <a:latin typeface="+mn-lt"/>
                <a:ea typeface="+mn-ea"/>
                <a:cs typeface="+mn-cs"/>
              </a:rPr>
              <a:t>To conclude, we developed </a:t>
            </a:r>
            <a:r>
              <a:rPr lang="en-IN" sz="1200" kern="1200" dirty="0" err="1">
                <a:solidFill>
                  <a:schemeClr val="tx1"/>
                </a:solidFill>
                <a:effectLst/>
                <a:latin typeface="+mn-lt"/>
                <a:ea typeface="+mn-ea"/>
                <a:cs typeface="+mn-cs"/>
              </a:rPr>
              <a:t>MoneyTrack</a:t>
            </a:r>
            <a:r>
              <a:rPr lang="en-IN" sz="1200" kern="1200" dirty="0">
                <a:solidFill>
                  <a:schemeClr val="tx1"/>
                </a:solidFill>
                <a:effectLst/>
                <a:latin typeface="+mn-lt"/>
                <a:ea typeface="+mn-ea"/>
                <a:cs typeface="+mn-cs"/>
              </a:rPr>
              <a:t> AI as a working full-stack application with automatic expense categorisation, financial dashboards, budget alerts, savings goals and AI-powered insights.</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Moving forward, we plan to deploy it online, support more banks and statement formats, add Excel export and develop a dedicated mobile app.</a:t>
            </a:r>
          </a:p>
          <a:p>
            <a:pPr lvl="0"/>
            <a:r>
              <a:rPr lang="en-IN" sz="1200" kern="1200" dirty="0">
                <a:solidFill>
                  <a:schemeClr val="tx1"/>
                </a:solidFill>
                <a:effectLst/>
                <a:latin typeface="+mn-lt"/>
                <a:ea typeface="+mn-ea"/>
                <a:cs typeface="+mn-cs"/>
              </a:rPr>
              <a:t>Direct bank integration is another feature we would like to explore in the future.</a:t>
            </a:r>
          </a:p>
          <a:p>
            <a:pPr lvl="0"/>
            <a:endParaRPr lang="en-IN" sz="1200" kern="1200" dirty="0">
              <a:solidFill>
                <a:schemeClr val="tx1"/>
              </a:solidFill>
              <a:effectLst/>
              <a:latin typeface="+mn-lt"/>
              <a:ea typeface="+mn-ea"/>
              <a:cs typeface="+mn-cs"/>
            </a:endParaRPr>
          </a:p>
          <a:p>
            <a:pPr lvl="0"/>
            <a:r>
              <a:rPr lang="en-IN" sz="1200" kern="1200" dirty="0">
                <a:solidFill>
                  <a:schemeClr val="tx1"/>
                </a:solidFill>
                <a:effectLst/>
                <a:latin typeface="+mn-lt"/>
                <a:ea typeface="+mn-ea"/>
                <a:cs typeface="+mn-cs"/>
              </a:rPr>
              <a:t>The references we used throughout the project are listed on this slide.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sz="1200" kern="1200" dirty="0">
                <a:solidFill>
                  <a:schemeClr val="tx1"/>
                </a:solidFill>
                <a:effectLst/>
                <a:latin typeface="+mn-lt"/>
                <a:ea typeface="+mn-ea"/>
                <a:cs typeface="+mn-cs"/>
              </a:rPr>
              <a:t>With that, we have come to the end of our presentation.</a:t>
            </a:r>
          </a:p>
          <a:p>
            <a:r>
              <a:rPr lang="en-IN" sz="1200" kern="1200">
                <a:solidFill>
                  <a:schemeClr val="tx1"/>
                </a:solidFill>
                <a:effectLst/>
                <a:latin typeface="+mn-lt"/>
                <a:ea typeface="+mn-ea"/>
                <a:cs typeface="+mn-cs"/>
              </a:rPr>
              <a:t>Thank you.</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3F7FC"/>
        </a:solidFill>
        <a:effectLst/>
      </p:bgPr>
    </p:bg>
    <p:spTree>
      <p:nvGrpSpPr>
        <p:cNvPr id="1" name=""/>
        <p:cNvGrpSpPr/>
        <p:nvPr/>
      </p:nvGrpSpPr>
      <p:grpSpPr>
        <a:xfrm>
          <a:off x="0" y="0"/>
          <a:ext cx="0" cy="0"/>
          <a:chOff x="0" y="0"/>
          <a:chExt cx="0" cy="0"/>
        </a:xfrm>
      </p:grpSpPr>
      <p:sp>
        <p:nvSpPr>
          <p:cNvPr id="2" name="Shape 0"/>
          <p:cNvSpPr/>
          <p:nvPr/>
        </p:nvSpPr>
        <p:spPr>
          <a:xfrm>
            <a:off x="548640" y="274320"/>
            <a:ext cx="1051560" cy="822960"/>
          </a:xfrm>
          <a:prstGeom prst="rect">
            <a:avLst/>
          </a:prstGeom>
          <a:solidFill>
            <a:srgbClr val="FFFFFF"/>
          </a:solidFill>
          <a:ln w="12700">
            <a:solidFill>
              <a:srgbClr val="9FB0C8"/>
            </a:solidFill>
            <a:prstDash val="dash"/>
          </a:ln>
        </p:spPr>
      </p:sp>
      <p:sp>
        <p:nvSpPr>
          <p:cNvPr id="3" name="Text 1"/>
          <p:cNvSpPr/>
          <p:nvPr/>
        </p:nvSpPr>
        <p:spPr>
          <a:xfrm>
            <a:off x="548640" y="274320"/>
            <a:ext cx="1051560" cy="822960"/>
          </a:xfrm>
          <a:prstGeom prst="rect">
            <a:avLst/>
          </a:prstGeom>
          <a:noFill/>
          <a:ln/>
        </p:spPr>
        <p:txBody>
          <a:bodyPr wrap="square" rtlCol="0" anchor="ctr"/>
          <a:lstStyle/>
          <a:p>
            <a:pPr marL="0" indent="0" algn="ctr">
              <a:buNone/>
            </a:pPr>
            <a:r>
              <a:rPr lang="en-US" sz="1100" b="1" dirty="0">
                <a:solidFill>
                  <a:srgbClr val="53627A"/>
                </a:solidFill>
                <a:latin typeface="Tahoma" pitchFamily="34" charset="0"/>
                <a:ea typeface="Tahoma" pitchFamily="34" charset="-122"/>
                <a:cs typeface="Tahoma" pitchFamily="34" charset="-120"/>
              </a:rPr>
              <a:t>CVV LOGO</a:t>
            </a:r>
            <a:endParaRPr lang="en-US" sz="1100" dirty="0"/>
          </a:p>
        </p:txBody>
      </p:sp>
      <p:sp>
        <p:nvSpPr>
          <p:cNvPr id="4" name="Text 2"/>
          <p:cNvSpPr>
            <a:spLocks noGrp="1"/>
          </p:cNvSpPr>
          <p:nvPr>
            <p:ph type="title" idx="102" hasCustomPrompt="1"/>
          </p:nvPr>
        </p:nvSpPr>
        <p:spPr>
          <a:xfrm>
            <a:off x="1783080" y="256032"/>
            <a:ext cx="8778240" cy="566928"/>
          </a:xfrm>
          <a:prstGeom prst="rect">
            <a:avLst/>
          </a:prstGeom>
          <a:noFill/>
          <a:ln/>
        </p:spPr>
        <p:txBody>
          <a:bodyPr wrap="square" rtlCol="0"/>
          <a:lstStyle>
            <a:lvl1pPr marL="0" indent="0" algn="l">
              <a:buNone/>
              <a:defRPr lang="en-US" sz="2800" b="1" dirty="0">
                <a:solidFill>
                  <a:srgbClr val="0B1730"/>
                </a:solidFill>
                <a:latin typeface="Tahoma" pitchFamily="34" charset="0"/>
                <a:ea typeface="Tahoma" pitchFamily="34" charset="-122"/>
                <a:cs typeface="Tahoma" pitchFamily="34" charset="-120"/>
              </a:defRPr>
            </a:lvl1pPr>
          </a:lstStyle>
          <a:p>
            <a:pPr marL="0" indent="0" algn="l">
              <a:buNone/>
            </a:pPr>
            <a:endParaRPr lang="en-US" sz="2800" dirty="0"/>
          </a:p>
        </p:txBody>
      </p:sp>
      <p:sp>
        <p:nvSpPr>
          <p:cNvPr id="5" name="Text 2"/>
          <p:cNvSpPr>
            <a:spLocks noGrp="1"/>
          </p:cNvSpPr>
          <p:nvPr>
            <p:ph type="body" idx="103" hasCustomPrompt="1"/>
          </p:nvPr>
        </p:nvSpPr>
        <p:spPr>
          <a:xfrm>
            <a:off x="1783080" y="841248"/>
            <a:ext cx="8778240" cy="274320"/>
          </a:xfrm>
          <a:prstGeom prst="rect">
            <a:avLst/>
          </a:prstGeom>
          <a:noFill/>
          <a:ln/>
        </p:spPr>
        <p:txBody>
          <a:bodyPr wrap="square" rtlCol="0"/>
          <a:lstStyle>
            <a:lvl1pPr marL="0" indent="0">
              <a:buNone/>
              <a:defRPr lang="en-US" sz="1200" b="1" kern="0" spc="300" dirty="0">
                <a:solidFill>
                  <a:srgbClr val="0E7490"/>
                </a:solidFill>
                <a:latin typeface="Tahoma" pitchFamily="34" charset="0"/>
                <a:ea typeface="Tahoma" pitchFamily="34" charset="-122"/>
                <a:cs typeface="Tahoma" pitchFamily="34" charset="-120"/>
              </a:defRPr>
            </a:lvl1pPr>
          </a:lstStyle>
          <a:p>
            <a:pPr marL="0" indent="0">
              <a:buNone/>
            </a:pPr>
            <a:endParaRPr lang="en-US" sz="1200" dirty="0"/>
          </a:p>
        </p:txBody>
      </p:sp>
      <p:sp>
        <p:nvSpPr>
          <p:cNvPr id="25"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a:t>
            </a:fld>
            <a:endParaRPr lang="en-US"/>
          </a:p>
        </p:txBody>
      </p:sp>
      <p:pic>
        <p:nvPicPr>
          <p:cNvPr id="7" name="Picture 6">
            <a:extLst>
              <a:ext uri="{FF2B5EF4-FFF2-40B4-BE49-F238E27FC236}">
                <a16:creationId xmlns:a16="http://schemas.microsoft.com/office/drawing/2014/main" id="{3F08A745-4BF9-F10B-EAA2-5175EC9BEFC1}"/>
              </a:ext>
            </a:extLst>
          </p:cNvPr>
          <p:cNvPicPr>
            <a:picLocks noChangeAspect="1"/>
          </p:cNvPicPr>
          <p:nvPr userDrawn="1"/>
        </p:nvPicPr>
        <p:blipFill>
          <a:blip r:embed="rId2"/>
          <a:srcRect l="17396" t="1939" r="31768" b="10073"/>
          <a:stretch>
            <a:fillRect/>
          </a:stretch>
        </p:blipFill>
        <p:spPr>
          <a:xfrm>
            <a:off x="515425" y="194482"/>
            <a:ext cx="1141622" cy="936000"/>
          </a:xfrm>
          <a:prstGeom prst="round2DiagRect">
            <a:avLst/>
          </a:prstGeom>
          <a:ln w="6350">
            <a:solidFill>
              <a:srgbClr val="0E7490"/>
            </a:solid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3F7FC"/>
        </a:solidFill>
        <a:effectLst/>
      </p:bgPr>
    </p:bg>
    <p:spTree>
      <p:nvGrpSpPr>
        <p:cNvPr id="1" name=""/>
        <p:cNvGrpSpPr/>
        <p:nvPr/>
      </p:nvGrpSpPr>
      <p:grpSpPr>
        <a:xfrm>
          <a:off x="0" y="0"/>
          <a:ext cx="0" cy="0"/>
          <a:chOff x="0" y="0"/>
          <a:chExt cx="0" cy="0"/>
        </a:xfrm>
      </p:grpSpPr>
      <p:sp>
        <p:nvSpPr>
          <p:cNvPr id="5" name="Shape 0">
            <a:extLst>
              <a:ext uri="{FF2B5EF4-FFF2-40B4-BE49-F238E27FC236}">
                <a16:creationId xmlns:a16="http://schemas.microsoft.com/office/drawing/2014/main" id="{ED617E59-CD77-4488-7803-97582C65152F}"/>
              </a:ext>
            </a:extLst>
          </p:cNvPr>
          <p:cNvSpPr/>
          <p:nvPr userDrawn="1"/>
        </p:nvSpPr>
        <p:spPr>
          <a:xfrm>
            <a:off x="548640" y="274320"/>
            <a:ext cx="1051560" cy="822960"/>
          </a:xfrm>
          <a:prstGeom prst="rect">
            <a:avLst/>
          </a:prstGeom>
          <a:solidFill>
            <a:srgbClr val="FFFFFF"/>
          </a:solidFill>
          <a:ln w="12700">
            <a:solidFill>
              <a:srgbClr val="9FB0C8"/>
            </a:solidFill>
            <a:prstDash val="dash"/>
          </a:ln>
        </p:spPr>
      </p:sp>
      <p:sp>
        <p:nvSpPr>
          <p:cNvPr id="3" name="Text 1"/>
          <p:cNvSpPr/>
          <p:nvPr/>
        </p:nvSpPr>
        <p:spPr>
          <a:xfrm>
            <a:off x="548640" y="279061"/>
            <a:ext cx="1051560" cy="822960"/>
          </a:xfrm>
          <a:prstGeom prst="rect">
            <a:avLst/>
          </a:prstGeom>
          <a:noFill/>
          <a:ln/>
        </p:spPr>
        <p:txBody>
          <a:bodyPr wrap="square" rtlCol="0" anchor="ctr"/>
          <a:lstStyle/>
          <a:p>
            <a:pPr marL="0" indent="0" algn="ctr">
              <a:buNone/>
            </a:pPr>
            <a:r>
              <a:rPr lang="en-US" sz="1100" b="1" dirty="0">
                <a:solidFill>
                  <a:srgbClr val="53627A"/>
                </a:solidFill>
                <a:latin typeface="Tahoma" pitchFamily="34" charset="0"/>
                <a:ea typeface="Tahoma" pitchFamily="34" charset="-122"/>
                <a:cs typeface="Tahoma" pitchFamily="34" charset="-120"/>
              </a:rPr>
              <a:t>CVV LOGO</a:t>
            </a:r>
            <a:endParaRPr lang="en-US" sz="1100" dirty="0"/>
          </a:p>
        </p:txBody>
      </p:sp>
      <p:sp>
        <p:nvSpPr>
          <p:cNvPr id="25"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a:t>
            </a:fld>
            <a:endParaRPr lang="en-US"/>
          </a:p>
        </p:txBody>
      </p:sp>
      <p:pic>
        <p:nvPicPr>
          <p:cNvPr id="7" name="Picture 6">
            <a:extLst>
              <a:ext uri="{FF2B5EF4-FFF2-40B4-BE49-F238E27FC236}">
                <a16:creationId xmlns:a16="http://schemas.microsoft.com/office/drawing/2014/main" id="{DC67C4E4-6486-96BE-A840-56236C00D105}"/>
              </a:ext>
            </a:extLst>
          </p:cNvPr>
          <p:cNvPicPr>
            <a:picLocks noChangeAspect="1"/>
          </p:cNvPicPr>
          <p:nvPr userDrawn="1"/>
        </p:nvPicPr>
        <p:blipFill>
          <a:blip r:embed="rId2"/>
          <a:srcRect l="17396" t="1939" r="31768" b="10073"/>
          <a:stretch>
            <a:fillRect/>
          </a:stretch>
        </p:blipFill>
        <p:spPr>
          <a:xfrm>
            <a:off x="515425" y="194482"/>
            <a:ext cx="1141622" cy="936000"/>
          </a:xfrm>
          <a:prstGeom prst="round2DiagRect">
            <a:avLst/>
          </a:prstGeom>
          <a:ln w="6350">
            <a:solidFill>
              <a:srgbClr val="0E7490"/>
            </a:solidFill>
          </a:ln>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3.xm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18.png"/><Relationship Id="rId4" Type="http://schemas.openxmlformats.org/officeDocument/2006/relationships/image" Target="../media/image12.png"/><Relationship Id="rId9" Type="http://schemas.openxmlformats.org/officeDocument/2006/relationships/image" Target="../media/image17.png"/></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7" Type="http://schemas.openxmlformats.org/officeDocument/2006/relationships/image" Target="../media/image8.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5.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6.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8.png"/><Relationship Id="rId7" Type="http://schemas.openxmlformats.org/officeDocument/2006/relationships/image" Target="../media/image30.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5.png"/><Relationship Id="rId5" Type="http://schemas.openxmlformats.org/officeDocument/2006/relationships/image" Target="../media/image29.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32.png"/><Relationship Id="rId7"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9.xml.rels><?xml version="1.0" encoding="UTF-8" standalone="yes"?>
<Relationships xmlns="http://schemas.openxmlformats.org/package/2006/relationships"><Relationship Id="rId8" Type="http://schemas.openxmlformats.org/officeDocument/2006/relationships/image" Target="../media/image41.png"/><Relationship Id="rId3" Type="http://schemas.openxmlformats.org/officeDocument/2006/relationships/image" Target="../media/image38.png"/><Relationship Id="rId7" Type="http://schemas.openxmlformats.org/officeDocument/2006/relationships/image" Target="../media/image21.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40.png"/><Relationship Id="rId5" Type="http://schemas.openxmlformats.org/officeDocument/2006/relationships/image" Target="../media/image29.png"/><Relationship Id="rId10" Type="http://schemas.openxmlformats.org/officeDocument/2006/relationships/image" Target="../media/image43.png"/><Relationship Id="rId4" Type="http://schemas.openxmlformats.org/officeDocument/2006/relationships/image" Target="../media/image39.png"/><Relationship Id="rId9" Type="http://schemas.openxmlformats.org/officeDocument/2006/relationships/image" Target="../media/image42.png"/></Relationships>
</file>

<file path=ppt/slides/_rels/slide10.xml.rels><?xml version="1.0" encoding="UTF-8" standalone="yes"?>
<Relationships xmlns="http://schemas.openxmlformats.org/package/2006/relationships"><Relationship Id="rId8" Type="http://schemas.openxmlformats.org/officeDocument/2006/relationships/image" Target="../media/image48.png"/><Relationship Id="rId3" Type="http://schemas.openxmlformats.org/officeDocument/2006/relationships/image" Target="../media/image44.png"/><Relationship Id="rId7"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47.png"/><Relationship Id="rId5" Type="http://schemas.openxmlformats.org/officeDocument/2006/relationships/image" Target="../media/image46.png"/><Relationship Id="rId4" Type="http://schemas.openxmlformats.org/officeDocument/2006/relationships/image" Target="../media/image45.png"/></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image" Target="../media/image51.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1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5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hyperlink" Target="github.com/vvj-kanz10/expense-tracker" TargetMode="Externa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60.png"/><Relationship Id="rId5" Type="http://schemas.openxmlformats.org/officeDocument/2006/relationships/image" Target="../media/image4.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1783080" y="457200"/>
            <a:ext cx="8686800" cy="365760"/>
          </a:xfrm>
          <a:prstGeom prst="rect">
            <a:avLst/>
          </a:prstGeom>
          <a:noFill/>
          <a:ln/>
        </p:spPr>
        <p:txBody>
          <a:bodyPr wrap="square" lIns="0" tIns="0" rIns="0" bIns="0" rtlCol="0" anchor="ctr"/>
          <a:lstStyle/>
          <a:p>
            <a:pPr marL="0" indent="0">
              <a:buNone/>
            </a:pPr>
            <a:r>
              <a:rPr lang="en-US" sz="1400" b="1" kern="0" spc="300" dirty="0">
                <a:solidFill>
                  <a:srgbClr val="0E7490"/>
                </a:solidFill>
                <a:latin typeface="Tahoma" pitchFamily="34" charset="0"/>
                <a:ea typeface="Tahoma" pitchFamily="34" charset="-122"/>
                <a:cs typeface="Tahoma" pitchFamily="34" charset="-120"/>
              </a:rPr>
              <a:t>CSE 2 • S5 MINOR PROJECT • FINAL REVIEW</a:t>
            </a:r>
            <a:endParaRPr lang="en-US" sz="1400" dirty="0"/>
          </a:p>
        </p:txBody>
      </p:sp>
      <p:sp>
        <p:nvSpPr>
          <p:cNvPr id="4" name="Text 1"/>
          <p:cNvSpPr txBox="1"/>
          <p:nvPr/>
        </p:nvSpPr>
        <p:spPr>
          <a:xfrm>
            <a:off x="548640" y="1600200"/>
            <a:ext cx="11094415" cy="411480"/>
          </a:xfrm>
          <a:prstGeom prst="rect">
            <a:avLst/>
          </a:prstGeom>
          <a:noFill/>
          <a:ln/>
        </p:spPr>
        <p:txBody>
          <a:bodyPr wrap="square" lIns="0" tIns="0" rIns="0" bIns="0" rtlCol="0" anchor="ctr"/>
          <a:lstStyle/>
          <a:p>
            <a:pPr marL="0" indent="0" algn="ctr">
              <a:buNone/>
            </a:pPr>
            <a:r>
              <a:rPr lang="en-US" sz="2000" i="1" dirty="0">
                <a:solidFill>
                  <a:srgbClr val="53627A"/>
                </a:solidFill>
                <a:latin typeface="Tahoma" pitchFamily="34" charset="0"/>
                <a:ea typeface="Tahoma" pitchFamily="34" charset="-122"/>
                <a:cs typeface="Tahoma" pitchFamily="34" charset="-120"/>
              </a:rPr>
              <a:t>AI-Powered Smart Expense Tracker</a:t>
            </a:r>
            <a:endParaRPr lang="en-US" sz="2000" dirty="0"/>
          </a:p>
        </p:txBody>
      </p:sp>
      <p:pic>
        <p:nvPicPr>
          <p:cNvPr id="5" name="Image 0" descr="MoneyTrack AI logo"/>
          <p:cNvPicPr>
            <a:picLocks noChangeAspect="1"/>
          </p:cNvPicPr>
          <p:nvPr/>
        </p:nvPicPr>
        <p:blipFill>
          <a:blip r:embed="rId3"/>
          <a:stretch>
            <a:fillRect/>
          </a:stretch>
        </p:blipFill>
        <p:spPr>
          <a:xfrm>
            <a:off x="2743200" y="2194560"/>
            <a:ext cx="1234440" cy="1234440"/>
          </a:xfrm>
          <a:prstGeom prst="rect">
            <a:avLst/>
          </a:prstGeom>
        </p:spPr>
      </p:pic>
      <p:sp>
        <p:nvSpPr>
          <p:cNvPr id="6" name="Text 2"/>
          <p:cNvSpPr txBox="1"/>
          <p:nvPr/>
        </p:nvSpPr>
        <p:spPr>
          <a:xfrm>
            <a:off x="4206240" y="2148840"/>
            <a:ext cx="5669280" cy="1325880"/>
          </a:xfrm>
          <a:prstGeom prst="rect">
            <a:avLst/>
          </a:prstGeom>
          <a:noFill/>
          <a:ln/>
        </p:spPr>
        <p:txBody>
          <a:bodyPr wrap="square" lIns="0" tIns="0" rIns="0" bIns="0" rtlCol="0" anchor="ctr"/>
          <a:lstStyle/>
          <a:p>
            <a:pPr marL="0" indent="0">
              <a:buNone/>
            </a:pPr>
            <a:r>
              <a:rPr lang="en-US" sz="5200" b="1" dirty="0">
                <a:solidFill>
                  <a:srgbClr val="0B1730"/>
                </a:solidFill>
                <a:latin typeface="Tahoma" pitchFamily="34" charset="0"/>
                <a:ea typeface="Tahoma" pitchFamily="34" charset="-122"/>
                <a:cs typeface="Tahoma" pitchFamily="34" charset="-120"/>
              </a:rPr>
              <a:t>MoneyTrack AI</a:t>
            </a:r>
            <a:endParaRPr lang="en-US" sz="5200" dirty="0"/>
          </a:p>
        </p:txBody>
      </p:sp>
      <p:sp>
        <p:nvSpPr>
          <p:cNvPr id="7" name="Team panel"/>
          <p:cNvSpPr/>
          <p:nvPr/>
        </p:nvSpPr>
        <p:spPr>
          <a:xfrm>
            <a:off x="548640" y="3977640"/>
            <a:ext cx="5486400" cy="2331720"/>
          </a:xfrm>
          <a:prstGeom prst="roundRect">
            <a:avLst>
              <a:gd name="adj" fmla="val 4706"/>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8" name="Icon circle"/>
          <p:cNvSpPr/>
          <p:nvPr/>
        </p:nvSpPr>
        <p:spPr>
          <a:xfrm>
            <a:off x="822960" y="4178808"/>
            <a:ext cx="457200" cy="457200"/>
          </a:xfrm>
          <a:prstGeom prst="ellipse">
            <a:avLst/>
          </a:prstGeom>
          <a:solidFill>
            <a:srgbClr val="DCE8FE"/>
          </a:solidFill>
          <a:ln w="12700">
            <a:solidFill>
              <a:srgbClr val="DCE8FE"/>
            </a:solidFill>
            <a:prstDash val="solid"/>
          </a:ln>
        </p:spPr>
      </p:sp>
      <p:pic>
        <p:nvPicPr>
          <p:cNvPr id="9" name="Image 1" descr="Users icon"/>
          <p:cNvPicPr>
            <a:picLocks noChangeAspect="1"/>
          </p:cNvPicPr>
          <p:nvPr/>
        </p:nvPicPr>
        <p:blipFill>
          <a:blip r:embed="rId4"/>
          <a:stretch>
            <a:fillRect/>
          </a:stretch>
        </p:blipFill>
        <p:spPr>
          <a:xfrm>
            <a:off x="937260" y="4293108"/>
            <a:ext cx="228600" cy="228600"/>
          </a:xfrm>
          <a:prstGeom prst="rect">
            <a:avLst/>
          </a:prstGeom>
        </p:spPr>
      </p:pic>
      <p:sp>
        <p:nvSpPr>
          <p:cNvPr id="10" name="Text 5"/>
          <p:cNvSpPr txBox="1"/>
          <p:nvPr/>
        </p:nvSpPr>
        <p:spPr>
          <a:xfrm>
            <a:off x="1417320" y="4178808"/>
            <a:ext cx="2743200" cy="457200"/>
          </a:xfrm>
          <a:prstGeom prst="rect">
            <a:avLst/>
          </a:prstGeom>
          <a:noFill/>
          <a:ln/>
        </p:spPr>
        <p:txBody>
          <a:bodyPr wrap="square" lIns="0" tIns="0" rIns="0" bIns="0" rtlCol="0" anchor="ctr"/>
          <a:lstStyle/>
          <a:p>
            <a:pPr marL="0" indent="0">
              <a:buNone/>
            </a:pPr>
            <a:r>
              <a:rPr lang="en-US" sz="1400" b="1" kern="0" spc="300" dirty="0">
                <a:solidFill>
                  <a:srgbClr val="2563EB"/>
                </a:solidFill>
                <a:latin typeface="Tahoma" pitchFamily="34" charset="0"/>
                <a:ea typeface="Tahoma" pitchFamily="34" charset="-122"/>
                <a:cs typeface="Tahoma" pitchFamily="34" charset="-120"/>
              </a:rPr>
              <a:t>TEAM</a:t>
            </a:r>
            <a:endParaRPr lang="en-US" sz="1400" dirty="0"/>
          </a:p>
        </p:txBody>
      </p:sp>
      <p:sp>
        <p:nvSpPr>
          <p:cNvPr id="11" name="Text 6"/>
          <p:cNvSpPr txBox="1"/>
          <p:nvPr/>
        </p:nvSpPr>
        <p:spPr>
          <a:xfrm>
            <a:off x="868680" y="4846320"/>
            <a:ext cx="2926080" cy="365760"/>
          </a:xfrm>
          <a:prstGeom prst="rect">
            <a:avLst/>
          </a:prstGeom>
          <a:noFill/>
          <a:ln/>
        </p:spPr>
        <p:txBody>
          <a:bodyPr wrap="square" lIns="0" tIns="0" rIns="0" bIns="0" rtlCol="0" anchor="ctr"/>
          <a:lstStyle/>
          <a:p>
            <a:pPr marL="0" indent="0">
              <a:buNone/>
            </a:pPr>
            <a:r>
              <a:rPr lang="en-US" sz="1700" b="1" dirty="0">
                <a:solidFill>
                  <a:srgbClr val="0B1730"/>
                </a:solidFill>
                <a:latin typeface="Tahoma" pitchFamily="34" charset="0"/>
                <a:ea typeface="Tahoma" pitchFamily="34" charset="-122"/>
                <a:cs typeface="Tahoma" pitchFamily="34" charset="-120"/>
              </a:rPr>
              <a:t>Akhilesh A</a:t>
            </a:r>
            <a:endParaRPr lang="en-US" sz="1700" dirty="0"/>
          </a:p>
        </p:txBody>
      </p:sp>
      <p:sp>
        <p:nvSpPr>
          <p:cNvPr id="12" name="Text 7"/>
          <p:cNvSpPr txBox="1"/>
          <p:nvPr/>
        </p:nvSpPr>
        <p:spPr>
          <a:xfrm>
            <a:off x="3657600" y="4846320"/>
            <a:ext cx="2057400" cy="365760"/>
          </a:xfrm>
          <a:prstGeom prst="rect">
            <a:avLst/>
          </a:prstGeom>
          <a:noFill/>
          <a:ln/>
        </p:spPr>
        <p:txBody>
          <a:bodyPr wrap="square" lIns="0" tIns="0" rIns="0" bIns="0" rtlCol="0" anchor="ctr"/>
          <a:lstStyle/>
          <a:p>
            <a:pPr marL="0" indent="0" algn="r">
              <a:buNone/>
            </a:pPr>
            <a:r>
              <a:rPr lang="en-US" sz="1500" dirty="0">
                <a:solidFill>
                  <a:srgbClr val="53627A"/>
                </a:solidFill>
                <a:latin typeface="Tahoma" pitchFamily="34" charset="0"/>
                <a:ea typeface="Tahoma" pitchFamily="34" charset="-122"/>
                <a:cs typeface="Tahoma" pitchFamily="34" charset="-120"/>
              </a:rPr>
              <a:t>241140110</a:t>
            </a:r>
            <a:endParaRPr lang="en-US" sz="1500" dirty="0"/>
          </a:p>
        </p:txBody>
      </p:sp>
      <p:sp>
        <p:nvSpPr>
          <p:cNvPr id="13" name="Text 8"/>
          <p:cNvSpPr txBox="1"/>
          <p:nvPr/>
        </p:nvSpPr>
        <p:spPr>
          <a:xfrm>
            <a:off x="868680" y="5303520"/>
            <a:ext cx="2926080" cy="365760"/>
          </a:xfrm>
          <a:prstGeom prst="rect">
            <a:avLst/>
          </a:prstGeom>
          <a:noFill/>
          <a:ln/>
        </p:spPr>
        <p:txBody>
          <a:bodyPr wrap="square" lIns="0" tIns="0" rIns="0" bIns="0" rtlCol="0" anchor="ctr"/>
          <a:lstStyle/>
          <a:p>
            <a:pPr marL="0" indent="0">
              <a:buNone/>
            </a:pPr>
            <a:r>
              <a:rPr lang="en-US" sz="1700" b="1" dirty="0">
                <a:solidFill>
                  <a:srgbClr val="0B1730"/>
                </a:solidFill>
                <a:latin typeface="Tahoma" pitchFamily="34" charset="0"/>
                <a:ea typeface="Tahoma" pitchFamily="34" charset="-122"/>
                <a:cs typeface="Tahoma" pitchFamily="34" charset="-120"/>
              </a:rPr>
              <a:t>Gokul Sajith</a:t>
            </a:r>
            <a:endParaRPr lang="en-US" sz="1700" dirty="0"/>
          </a:p>
        </p:txBody>
      </p:sp>
      <p:sp>
        <p:nvSpPr>
          <p:cNvPr id="14" name="Text 9"/>
          <p:cNvSpPr txBox="1"/>
          <p:nvPr/>
        </p:nvSpPr>
        <p:spPr>
          <a:xfrm>
            <a:off x="3657600" y="5303520"/>
            <a:ext cx="2057400" cy="365760"/>
          </a:xfrm>
          <a:prstGeom prst="rect">
            <a:avLst/>
          </a:prstGeom>
          <a:noFill/>
          <a:ln/>
        </p:spPr>
        <p:txBody>
          <a:bodyPr wrap="square" lIns="0" tIns="0" rIns="0" bIns="0" rtlCol="0" anchor="ctr"/>
          <a:lstStyle/>
          <a:p>
            <a:pPr marL="0" indent="0" algn="r">
              <a:buNone/>
            </a:pPr>
            <a:r>
              <a:rPr lang="en-US" sz="1500" dirty="0">
                <a:solidFill>
                  <a:srgbClr val="53627A"/>
                </a:solidFill>
                <a:latin typeface="Tahoma" pitchFamily="34" charset="0"/>
                <a:ea typeface="Tahoma" pitchFamily="34" charset="-122"/>
                <a:cs typeface="Tahoma" pitchFamily="34" charset="-120"/>
              </a:rPr>
              <a:t>241140129</a:t>
            </a:r>
            <a:endParaRPr lang="en-US" sz="1500" dirty="0"/>
          </a:p>
        </p:txBody>
      </p:sp>
      <p:sp>
        <p:nvSpPr>
          <p:cNvPr id="15" name="Text 10"/>
          <p:cNvSpPr txBox="1"/>
          <p:nvPr/>
        </p:nvSpPr>
        <p:spPr>
          <a:xfrm>
            <a:off x="868680" y="5760720"/>
            <a:ext cx="2926080" cy="365760"/>
          </a:xfrm>
          <a:prstGeom prst="rect">
            <a:avLst/>
          </a:prstGeom>
          <a:noFill/>
          <a:ln/>
        </p:spPr>
        <p:txBody>
          <a:bodyPr wrap="square" lIns="0" tIns="0" rIns="0" bIns="0" rtlCol="0" anchor="ctr"/>
          <a:lstStyle/>
          <a:p>
            <a:pPr marL="0" indent="0">
              <a:buNone/>
            </a:pPr>
            <a:r>
              <a:rPr lang="en-US" sz="1700" b="1" dirty="0">
                <a:solidFill>
                  <a:srgbClr val="0B1730"/>
                </a:solidFill>
                <a:latin typeface="Tahoma" pitchFamily="34" charset="0"/>
                <a:ea typeface="Tahoma" pitchFamily="34" charset="-122"/>
                <a:cs typeface="Tahoma" pitchFamily="34" charset="-120"/>
              </a:rPr>
              <a:t>Vishnu Vijay</a:t>
            </a:r>
            <a:endParaRPr lang="en-US" sz="1700" dirty="0"/>
          </a:p>
        </p:txBody>
      </p:sp>
      <p:sp>
        <p:nvSpPr>
          <p:cNvPr id="16" name="Text 11"/>
          <p:cNvSpPr txBox="1"/>
          <p:nvPr/>
        </p:nvSpPr>
        <p:spPr>
          <a:xfrm>
            <a:off x="3657600" y="5760720"/>
            <a:ext cx="2057400" cy="365760"/>
          </a:xfrm>
          <a:prstGeom prst="rect">
            <a:avLst/>
          </a:prstGeom>
          <a:noFill/>
          <a:ln/>
        </p:spPr>
        <p:txBody>
          <a:bodyPr wrap="square" lIns="0" tIns="0" rIns="0" bIns="0" rtlCol="0" anchor="ctr"/>
          <a:lstStyle/>
          <a:p>
            <a:pPr marL="0" indent="0" algn="r">
              <a:buNone/>
            </a:pPr>
            <a:r>
              <a:rPr lang="en-US" sz="1500" dirty="0">
                <a:solidFill>
                  <a:srgbClr val="53627A"/>
                </a:solidFill>
                <a:latin typeface="Tahoma" pitchFamily="34" charset="0"/>
                <a:ea typeface="Tahoma" pitchFamily="34" charset="-122"/>
                <a:cs typeface="Tahoma" pitchFamily="34" charset="-120"/>
              </a:rPr>
              <a:t>241140120</a:t>
            </a:r>
            <a:endParaRPr lang="en-US" sz="1500" dirty="0"/>
          </a:p>
        </p:txBody>
      </p:sp>
      <p:sp>
        <p:nvSpPr>
          <p:cNvPr id="17" name="Guide panel"/>
          <p:cNvSpPr/>
          <p:nvPr/>
        </p:nvSpPr>
        <p:spPr>
          <a:xfrm>
            <a:off x="6156655" y="3977640"/>
            <a:ext cx="5486400" cy="2331720"/>
          </a:xfrm>
          <a:prstGeom prst="roundRect">
            <a:avLst>
              <a:gd name="adj" fmla="val 4706"/>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8" name="Icon circle"/>
          <p:cNvSpPr/>
          <p:nvPr/>
        </p:nvSpPr>
        <p:spPr>
          <a:xfrm>
            <a:off x="6430975" y="4178808"/>
            <a:ext cx="457200" cy="457200"/>
          </a:xfrm>
          <a:prstGeom prst="ellipse">
            <a:avLst/>
          </a:prstGeom>
          <a:solidFill>
            <a:srgbClr val="CFF1F7"/>
          </a:solidFill>
          <a:ln w="12700">
            <a:solidFill>
              <a:srgbClr val="CFF1F7"/>
            </a:solidFill>
            <a:prstDash val="solid"/>
          </a:ln>
        </p:spPr>
      </p:sp>
      <p:pic>
        <p:nvPicPr>
          <p:cNvPr id="19" name="Image 2" descr="ChalkboardTeacher icon"/>
          <p:cNvPicPr>
            <a:picLocks noChangeAspect="1"/>
          </p:cNvPicPr>
          <p:nvPr/>
        </p:nvPicPr>
        <p:blipFill>
          <a:blip r:embed="rId5"/>
          <a:stretch>
            <a:fillRect/>
          </a:stretch>
        </p:blipFill>
        <p:spPr>
          <a:xfrm>
            <a:off x="6545275" y="4293108"/>
            <a:ext cx="228600" cy="228600"/>
          </a:xfrm>
          <a:prstGeom prst="rect">
            <a:avLst/>
          </a:prstGeom>
        </p:spPr>
      </p:pic>
      <p:sp>
        <p:nvSpPr>
          <p:cNvPr id="20" name="Text 14"/>
          <p:cNvSpPr txBox="1"/>
          <p:nvPr/>
        </p:nvSpPr>
        <p:spPr>
          <a:xfrm>
            <a:off x="7025335" y="4178808"/>
            <a:ext cx="2743200" cy="457200"/>
          </a:xfrm>
          <a:prstGeom prst="rect">
            <a:avLst/>
          </a:prstGeom>
          <a:noFill/>
          <a:ln/>
        </p:spPr>
        <p:txBody>
          <a:bodyPr wrap="square" lIns="0" tIns="0" rIns="0" bIns="0" rtlCol="0" anchor="ctr"/>
          <a:lstStyle/>
          <a:p>
            <a:pPr marL="0" indent="0">
              <a:buNone/>
            </a:pPr>
            <a:r>
              <a:rPr lang="en-US" sz="1400" b="1" kern="0" spc="300" dirty="0">
                <a:solidFill>
                  <a:srgbClr val="0E7490"/>
                </a:solidFill>
                <a:latin typeface="Tahoma" pitchFamily="34" charset="0"/>
                <a:ea typeface="Tahoma" pitchFamily="34" charset="-122"/>
                <a:cs typeface="Tahoma" pitchFamily="34" charset="-120"/>
              </a:rPr>
              <a:t>GUIDE</a:t>
            </a:r>
            <a:endParaRPr lang="en-US" sz="1400" dirty="0"/>
          </a:p>
        </p:txBody>
      </p:sp>
      <p:sp>
        <p:nvSpPr>
          <p:cNvPr id="21" name="Text 15"/>
          <p:cNvSpPr txBox="1"/>
          <p:nvPr/>
        </p:nvSpPr>
        <p:spPr>
          <a:xfrm>
            <a:off x="6476695" y="4846320"/>
            <a:ext cx="4846320" cy="411480"/>
          </a:xfrm>
          <a:prstGeom prst="rect">
            <a:avLst/>
          </a:prstGeom>
          <a:noFill/>
          <a:ln/>
        </p:spPr>
        <p:txBody>
          <a:bodyPr wrap="square" lIns="0" tIns="0" rIns="0" bIns="0" rtlCol="0" anchor="ctr"/>
          <a:lstStyle/>
          <a:p>
            <a:pPr marL="0" indent="0">
              <a:buNone/>
            </a:pPr>
            <a:r>
              <a:rPr lang="en-US" sz="1900" b="1" dirty="0">
                <a:solidFill>
                  <a:srgbClr val="0B1730"/>
                </a:solidFill>
                <a:latin typeface="Tahoma" pitchFamily="34" charset="0"/>
                <a:ea typeface="Tahoma" pitchFamily="34" charset="-122"/>
                <a:cs typeface="Tahoma" pitchFamily="34" charset="-120"/>
              </a:rPr>
              <a:t>Ms. Kripa Radhakrishnan</a:t>
            </a:r>
            <a:endParaRPr lang="en-US" sz="1900" dirty="0"/>
          </a:p>
        </p:txBody>
      </p:sp>
      <p:sp>
        <p:nvSpPr>
          <p:cNvPr id="22" name="Text 16"/>
          <p:cNvSpPr txBox="1"/>
          <p:nvPr/>
        </p:nvSpPr>
        <p:spPr>
          <a:xfrm>
            <a:off x="6476695" y="5303520"/>
            <a:ext cx="4846320" cy="365760"/>
          </a:xfrm>
          <a:prstGeom prst="rect">
            <a:avLst/>
          </a:prstGeom>
          <a:noFill/>
          <a:ln/>
        </p:spPr>
        <p:txBody>
          <a:bodyPr wrap="square" lIns="0" tIns="0" rIns="0" bIns="0" rtlCol="0" anchor="ctr"/>
          <a:lstStyle/>
          <a:p>
            <a:pPr marL="0" indent="0">
              <a:buNone/>
            </a:pPr>
            <a:r>
              <a:rPr lang="en-US" sz="1400" dirty="0">
                <a:solidFill>
                  <a:srgbClr val="53627A"/>
                </a:solidFill>
                <a:latin typeface="Tahoma" pitchFamily="34" charset="0"/>
                <a:ea typeface="Tahoma" pitchFamily="34" charset="-122"/>
                <a:cs typeface="Tahoma" pitchFamily="34" charset="-120"/>
              </a:rPr>
              <a:t>Assistant Professor - Department of CSE</a:t>
            </a:r>
            <a:endParaRPr lang="en-US" sz="1400" dirty="0"/>
          </a:p>
        </p:txBody>
      </p:sp>
      <p:sp>
        <p:nvSpPr>
          <p:cNvPr id="25"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Abstract, Purpose and Objectives</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WHAT IT IS, WHY WE BUILT IT, WHAT WE AIM FOR</a:t>
            </a:r>
            <a:endParaRPr lang="en-US" sz="1200" dirty="0"/>
          </a:p>
        </p:txBody>
      </p:sp>
      <p:sp>
        <p:nvSpPr>
          <p:cNvPr id="5" name="Abstract card"/>
          <p:cNvSpPr/>
          <p:nvPr/>
        </p:nvSpPr>
        <p:spPr>
          <a:xfrm>
            <a:off x="548640" y="1371600"/>
            <a:ext cx="6858000" cy="2514600"/>
          </a:xfrm>
          <a:prstGeom prst="roundRect">
            <a:avLst>
              <a:gd name="adj" fmla="val 4364"/>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6" name="Icon circle"/>
          <p:cNvSpPr/>
          <p:nvPr/>
        </p:nvSpPr>
        <p:spPr>
          <a:xfrm>
            <a:off x="777240" y="1572768"/>
            <a:ext cx="457200" cy="457200"/>
          </a:xfrm>
          <a:prstGeom prst="ellipse">
            <a:avLst/>
          </a:prstGeom>
          <a:solidFill>
            <a:srgbClr val="CFF1F7"/>
          </a:solidFill>
          <a:ln w="12700">
            <a:solidFill>
              <a:srgbClr val="CFF1F7"/>
            </a:solidFill>
            <a:prstDash val="solid"/>
          </a:ln>
        </p:spPr>
      </p:sp>
      <p:pic>
        <p:nvPicPr>
          <p:cNvPr id="7" name="Image 0" descr="FileAlt icon"/>
          <p:cNvPicPr>
            <a:picLocks noChangeAspect="1"/>
          </p:cNvPicPr>
          <p:nvPr/>
        </p:nvPicPr>
        <p:blipFill>
          <a:blip r:embed="rId3"/>
          <a:stretch>
            <a:fillRect/>
          </a:stretch>
        </p:blipFill>
        <p:spPr>
          <a:xfrm>
            <a:off x="891540" y="1687068"/>
            <a:ext cx="228600" cy="228600"/>
          </a:xfrm>
          <a:prstGeom prst="rect">
            <a:avLst/>
          </a:prstGeom>
        </p:spPr>
      </p:pic>
      <p:sp>
        <p:nvSpPr>
          <p:cNvPr id="8" name="Text 4"/>
          <p:cNvSpPr txBox="1"/>
          <p:nvPr/>
        </p:nvSpPr>
        <p:spPr>
          <a:xfrm>
            <a:off x="1371600" y="1572768"/>
            <a:ext cx="3657600" cy="457200"/>
          </a:xfrm>
          <a:prstGeom prst="rect">
            <a:avLst/>
          </a:prstGeom>
          <a:noFill/>
          <a:ln/>
        </p:spPr>
        <p:txBody>
          <a:bodyPr wrap="square" lIns="0" tIns="0" rIns="0" bIns="0" rtlCol="0" anchor="ctr"/>
          <a:lstStyle/>
          <a:p>
            <a:pPr marL="0" indent="0">
              <a:buNone/>
            </a:pPr>
            <a:r>
              <a:rPr lang="en-US" sz="1300" b="1" kern="0" spc="300" dirty="0">
                <a:solidFill>
                  <a:srgbClr val="0E7490"/>
                </a:solidFill>
                <a:latin typeface="Tahoma" pitchFamily="34" charset="0"/>
                <a:ea typeface="Tahoma" pitchFamily="34" charset="-122"/>
                <a:cs typeface="Tahoma" pitchFamily="34" charset="-120"/>
              </a:rPr>
              <a:t>ABSTRACT</a:t>
            </a:r>
            <a:endParaRPr lang="en-US" sz="1300" dirty="0"/>
          </a:p>
        </p:txBody>
      </p:sp>
      <p:sp>
        <p:nvSpPr>
          <p:cNvPr id="9" name="Text 5"/>
          <p:cNvSpPr txBox="1"/>
          <p:nvPr/>
        </p:nvSpPr>
        <p:spPr>
          <a:xfrm>
            <a:off x="822960" y="2194560"/>
            <a:ext cx="6309360" cy="1554480"/>
          </a:xfrm>
          <a:prstGeom prst="rect">
            <a:avLst/>
          </a:prstGeom>
          <a:noFill/>
          <a:ln/>
        </p:spPr>
        <p:txBody>
          <a:bodyPr wrap="square" lIns="0" tIns="0" rIns="0" bIns="0" rtlCol="0" anchor="t"/>
          <a:lstStyle/>
          <a:p>
            <a:pPr marL="0" indent="0">
              <a:lnSpc>
                <a:spcPct val="110000"/>
              </a:lnSpc>
              <a:buNone/>
            </a:pPr>
            <a:r>
              <a:rPr lang="en-US" sz="1400" dirty="0">
                <a:solidFill>
                  <a:srgbClr val="0B1730"/>
                </a:solidFill>
                <a:latin typeface="Tahoma" pitchFamily="34" charset="0"/>
                <a:ea typeface="Tahoma" pitchFamily="34" charset="-122"/>
                <a:cs typeface="Tahoma" pitchFamily="34" charset="-120"/>
              </a:rPr>
              <a:t>Upload your bank statement and the app reads every transaction, uses AI to label it (Food, Bills, Shopping...), and shows it on a dashboard with charts, budgets, goals and savings tips. Unlike apps where you type every expense, ours does it automatically, and you can correct it.</a:t>
            </a:r>
            <a:endParaRPr lang="en-US" sz="1400" dirty="0"/>
          </a:p>
        </p:txBody>
      </p:sp>
      <p:sp>
        <p:nvSpPr>
          <p:cNvPr id="10" name="Why card"/>
          <p:cNvSpPr/>
          <p:nvPr/>
        </p:nvSpPr>
        <p:spPr>
          <a:xfrm>
            <a:off x="7589520" y="1371600"/>
            <a:ext cx="4053535" cy="2514600"/>
          </a:xfrm>
          <a:prstGeom prst="roundRect">
            <a:avLst>
              <a:gd name="adj" fmla="val 4364"/>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1" name="Icon circle"/>
          <p:cNvSpPr/>
          <p:nvPr/>
        </p:nvSpPr>
        <p:spPr>
          <a:xfrm>
            <a:off x="7818120" y="1572768"/>
            <a:ext cx="457200" cy="457200"/>
          </a:xfrm>
          <a:prstGeom prst="ellipse">
            <a:avLst/>
          </a:prstGeom>
          <a:solidFill>
            <a:srgbClr val="FDE2E8"/>
          </a:solidFill>
          <a:ln w="12700">
            <a:solidFill>
              <a:srgbClr val="FDE2E8"/>
            </a:solidFill>
            <a:prstDash val="solid"/>
          </a:ln>
        </p:spPr>
      </p:sp>
      <p:pic>
        <p:nvPicPr>
          <p:cNvPr id="12" name="Image 1" descr="QuestionCircle icon"/>
          <p:cNvPicPr>
            <a:picLocks noChangeAspect="1"/>
          </p:cNvPicPr>
          <p:nvPr/>
        </p:nvPicPr>
        <p:blipFill>
          <a:blip r:embed="rId4"/>
          <a:stretch>
            <a:fillRect/>
          </a:stretch>
        </p:blipFill>
        <p:spPr>
          <a:xfrm>
            <a:off x="7932420" y="1687068"/>
            <a:ext cx="228600" cy="228600"/>
          </a:xfrm>
          <a:prstGeom prst="rect">
            <a:avLst/>
          </a:prstGeom>
        </p:spPr>
      </p:pic>
      <p:sp>
        <p:nvSpPr>
          <p:cNvPr id="13" name="Text 8"/>
          <p:cNvSpPr txBox="1"/>
          <p:nvPr/>
        </p:nvSpPr>
        <p:spPr>
          <a:xfrm>
            <a:off x="8412480" y="1572768"/>
            <a:ext cx="3108960" cy="457200"/>
          </a:xfrm>
          <a:prstGeom prst="rect">
            <a:avLst/>
          </a:prstGeom>
          <a:noFill/>
          <a:ln/>
        </p:spPr>
        <p:txBody>
          <a:bodyPr wrap="square" lIns="0" tIns="0" rIns="0" bIns="0" rtlCol="0" anchor="ctr"/>
          <a:lstStyle/>
          <a:p>
            <a:pPr marL="0" indent="0">
              <a:buNone/>
            </a:pPr>
            <a:r>
              <a:rPr lang="en-US" sz="1300" b="1" kern="0" spc="300" dirty="0">
                <a:solidFill>
                  <a:srgbClr val="C2365A"/>
                </a:solidFill>
                <a:latin typeface="Tahoma" pitchFamily="34" charset="0"/>
                <a:ea typeface="Tahoma" pitchFamily="34" charset="-122"/>
                <a:cs typeface="Tahoma" pitchFamily="34" charset="-120"/>
              </a:rPr>
              <a:t>WHY WE BUILT IT</a:t>
            </a:r>
            <a:endParaRPr lang="en-US" sz="1300" dirty="0"/>
          </a:p>
        </p:txBody>
      </p:sp>
      <p:sp>
        <p:nvSpPr>
          <p:cNvPr id="14" name="Text 9"/>
          <p:cNvSpPr txBox="1"/>
          <p:nvPr/>
        </p:nvSpPr>
        <p:spPr>
          <a:xfrm>
            <a:off x="7863840" y="2194560"/>
            <a:ext cx="3504895" cy="1554480"/>
          </a:xfrm>
          <a:prstGeom prst="rect">
            <a:avLst/>
          </a:prstGeom>
          <a:noFill/>
          <a:ln/>
        </p:spPr>
        <p:txBody>
          <a:bodyPr wrap="square" lIns="0" tIns="0" rIns="0" bIns="0" rtlCol="0" anchor="t"/>
          <a:lstStyle/>
          <a:p>
            <a:pPr marL="0" indent="0">
              <a:lnSpc>
                <a:spcPct val="110000"/>
              </a:lnSpc>
              <a:buNone/>
            </a:pPr>
            <a:r>
              <a:rPr lang="en-US" sz="1400" dirty="0">
                <a:solidFill>
                  <a:srgbClr val="0B1730"/>
                </a:solidFill>
                <a:latin typeface="Tahoma" pitchFamily="34" charset="0"/>
                <a:ea typeface="Tahoma" pitchFamily="34" charset="-122"/>
                <a:cs typeface="Tahoma" pitchFamily="34" charset="-120"/>
              </a:rPr>
              <a:t>People stop tracking their money because typing every expense is tiring, and bank apps only show a raw list.</a:t>
            </a:r>
            <a:endParaRPr lang="en-US" sz="1400" dirty="0"/>
          </a:p>
        </p:txBody>
      </p:sp>
      <p:sp>
        <p:nvSpPr>
          <p:cNvPr id="15" name="Objective AUTOMATE"/>
          <p:cNvSpPr/>
          <p:nvPr/>
        </p:nvSpPr>
        <p:spPr>
          <a:xfrm>
            <a:off x="548640" y="4206240"/>
            <a:ext cx="2377440" cy="2103120"/>
          </a:xfrm>
          <a:prstGeom prst="roundRect">
            <a:avLst>
              <a:gd name="adj" fmla="val 521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6" name="Icon circle"/>
          <p:cNvSpPr/>
          <p:nvPr/>
        </p:nvSpPr>
        <p:spPr>
          <a:xfrm>
            <a:off x="777240" y="4434840"/>
            <a:ext cx="594360" cy="594360"/>
          </a:xfrm>
          <a:prstGeom prst="ellipse">
            <a:avLst/>
          </a:prstGeom>
          <a:solidFill>
            <a:srgbClr val="DCE8FE"/>
          </a:solidFill>
          <a:ln w="12700">
            <a:solidFill>
              <a:srgbClr val="DCE8FE"/>
            </a:solidFill>
            <a:prstDash val="solid"/>
          </a:ln>
        </p:spPr>
      </p:sp>
      <p:pic>
        <p:nvPicPr>
          <p:cNvPr id="17" name="Image 2" descr="Bolt icon"/>
          <p:cNvPicPr>
            <a:picLocks noChangeAspect="1"/>
          </p:cNvPicPr>
          <p:nvPr/>
        </p:nvPicPr>
        <p:blipFill>
          <a:blip r:embed="rId5"/>
          <a:stretch>
            <a:fillRect/>
          </a:stretch>
        </p:blipFill>
        <p:spPr>
          <a:xfrm>
            <a:off x="925830" y="4583430"/>
            <a:ext cx="297180" cy="297180"/>
          </a:xfrm>
          <a:prstGeom prst="rect">
            <a:avLst/>
          </a:prstGeom>
        </p:spPr>
      </p:pic>
      <p:sp>
        <p:nvSpPr>
          <p:cNvPr id="18" name="Text 12"/>
          <p:cNvSpPr txBox="1"/>
          <p:nvPr/>
        </p:nvSpPr>
        <p:spPr>
          <a:xfrm>
            <a:off x="777240" y="5212080"/>
            <a:ext cx="1920240" cy="365760"/>
          </a:xfrm>
          <a:prstGeom prst="rect">
            <a:avLst/>
          </a:prstGeom>
          <a:noFill/>
          <a:ln/>
        </p:spPr>
        <p:txBody>
          <a:bodyPr wrap="square" lIns="0" tIns="0" rIns="0" bIns="0" rtlCol="0" anchor="t"/>
          <a:lstStyle/>
          <a:p>
            <a:pPr marL="0" indent="0">
              <a:buNone/>
            </a:pPr>
            <a:r>
              <a:rPr lang="en-US" sz="1700" b="1" kern="0" spc="200" dirty="0">
                <a:solidFill>
                  <a:srgbClr val="2563EB"/>
                </a:solidFill>
                <a:latin typeface="Tahoma" pitchFamily="34" charset="0"/>
                <a:ea typeface="Tahoma" pitchFamily="34" charset="-122"/>
                <a:cs typeface="Tahoma" pitchFamily="34" charset="-120"/>
              </a:rPr>
              <a:t>AUTOMATE</a:t>
            </a:r>
            <a:endParaRPr lang="en-US" sz="1700" dirty="0"/>
          </a:p>
        </p:txBody>
      </p:sp>
      <p:sp>
        <p:nvSpPr>
          <p:cNvPr id="19" name="Text 13"/>
          <p:cNvSpPr txBox="1"/>
          <p:nvPr/>
        </p:nvSpPr>
        <p:spPr>
          <a:xfrm>
            <a:off x="777240" y="5577840"/>
            <a:ext cx="1920240" cy="640080"/>
          </a:xfrm>
          <a:prstGeom prst="rect">
            <a:avLst/>
          </a:prstGeom>
          <a:noFill/>
          <a:ln/>
        </p:spPr>
        <p:txBody>
          <a:bodyPr wrap="square" lIns="0" tIns="0" rIns="0" bIns="0" rtlCol="0" anchor="t"/>
          <a:lstStyle/>
          <a:p>
            <a:pPr marL="0" indent="0">
              <a:buNone/>
            </a:pPr>
            <a:r>
              <a:rPr lang="en-US" sz="1300" dirty="0">
                <a:solidFill>
                  <a:srgbClr val="53627A"/>
                </a:solidFill>
                <a:latin typeface="Tahoma" pitchFamily="34" charset="0"/>
                <a:ea typeface="Tahoma" pitchFamily="34" charset="-122"/>
                <a:cs typeface="Tahoma" pitchFamily="34" charset="-120"/>
              </a:rPr>
              <a:t>Read and sort statements automatically</a:t>
            </a:r>
            <a:endParaRPr lang="en-US" sz="1300" dirty="0"/>
          </a:p>
        </p:txBody>
      </p:sp>
      <p:sp>
        <p:nvSpPr>
          <p:cNvPr id="20" name="Arrow"/>
          <p:cNvSpPr/>
          <p:nvPr/>
        </p:nvSpPr>
        <p:spPr>
          <a:xfrm>
            <a:off x="3017520" y="5074920"/>
            <a:ext cx="345338" cy="365760"/>
          </a:xfrm>
          <a:prstGeom prst="rightArrow">
            <a:avLst/>
          </a:prstGeom>
          <a:solidFill>
            <a:srgbClr val="9FB0C8"/>
          </a:solidFill>
          <a:ln w="12700">
            <a:solidFill>
              <a:srgbClr val="9FB0C8"/>
            </a:solidFill>
            <a:prstDash val="solid"/>
          </a:ln>
        </p:spPr>
      </p:sp>
      <p:sp>
        <p:nvSpPr>
          <p:cNvPr id="21" name="Objective SECURE"/>
          <p:cNvSpPr/>
          <p:nvPr/>
        </p:nvSpPr>
        <p:spPr>
          <a:xfrm>
            <a:off x="3454298" y="4206240"/>
            <a:ext cx="2377440" cy="2103120"/>
          </a:xfrm>
          <a:prstGeom prst="roundRect">
            <a:avLst>
              <a:gd name="adj" fmla="val 521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2" name="Icon circle"/>
          <p:cNvSpPr/>
          <p:nvPr/>
        </p:nvSpPr>
        <p:spPr>
          <a:xfrm>
            <a:off x="3682898" y="4434840"/>
            <a:ext cx="594360" cy="594360"/>
          </a:xfrm>
          <a:prstGeom prst="ellipse">
            <a:avLst/>
          </a:prstGeom>
          <a:solidFill>
            <a:srgbClr val="CFF1F7"/>
          </a:solidFill>
          <a:ln w="12700">
            <a:solidFill>
              <a:srgbClr val="CFF1F7"/>
            </a:solidFill>
            <a:prstDash val="solid"/>
          </a:ln>
        </p:spPr>
      </p:sp>
      <p:pic>
        <p:nvPicPr>
          <p:cNvPr id="23" name="Image 3" descr="Lock icon"/>
          <p:cNvPicPr>
            <a:picLocks noChangeAspect="1"/>
          </p:cNvPicPr>
          <p:nvPr/>
        </p:nvPicPr>
        <p:blipFill>
          <a:blip r:embed="rId6"/>
          <a:stretch>
            <a:fillRect/>
          </a:stretch>
        </p:blipFill>
        <p:spPr>
          <a:xfrm>
            <a:off x="3831488" y="4583430"/>
            <a:ext cx="297180" cy="297180"/>
          </a:xfrm>
          <a:prstGeom prst="rect">
            <a:avLst/>
          </a:prstGeom>
        </p:spPr>
      </p:pic>
      <p:sp>
        <p:nvSpPr>
          <p:cNvPr id="24" name="Text 17"/>
          <p:cNvSpPr txBox="1"/>
          <p:nvPr/>
        </p:nvSpPr>
        <p:spPr>
          <a:xfrm>
            <a:off x="3682898" y="5212080"/>
            <a:ext cx="1920240" cy="365760"/>
          </a:xfrm>
          <a:prstGeom prst="rect">
            <a:avLst/>
          </a:prstGeom>
          <a:noFill/>
          <a:ln/>
        </p:spPr>
        <p:txBody>
          <a:bodyPr wrap="square" lIns="0" tIns="0" rIns="0" bIns="0" rtlCol="0" anchor="t"/>
          <a:lstStyle/>
          <a:p>
            <a:pPr marL="0" indent="0">
              <a:buNone/>
            </a:pPr>
            <a:r>
              <a:rPr lang="en-US" sz="1700" b="1" kern="0" spc="200" dirty="0">
                <a:solidFill>
                  <a:srgbClr val="0E7490"/>
                </a:solidFill>
                <a:latin typeface="Tahoma" pitchFamily="34" charset="0"/>
                <a:ea typeface="Tahoma" pitchFamily="34" charset="-122"/>
                <a:cs typeface="Tahoma" pitchFamily="34" charset="-120"/>
              </a:rPr>
              <a:t>SECURE</a:t>
            </a:r>
            <a:endParaRPr lang="en-US" sz="1700" dirty="0"/>
          </a:p>
        </p:txBody>
      </p:sp>
      <p:sp>
        <p:nvSpPr>
          <p:cNvPr id="25" name="Text 18"/>
          <p:cNvSpPr txBox="1"/>
          <p:nvPr/>
        </p:nvSpPr>
        <p:spPr>
          <a:xfrm>
            <a:off x="3682898" y="5577840"/>
            <a:ext cx="1920240" cy="640080"/>
          </a:xfrm>
          <a:prstGeom prst="rect">
            <a:avLst/>
          </a:prstGeom>
          <a:noFill/>
          <a:ln/>
        </p:spPr>
        <p:txBody>
          <a:bodyPr wrap="square" lIns="0" tIns="0" rIns="0" bIns="0" rtlCol="0" anchor="t"/>
          <a:lstStyle/>
          <a:p>
            <a:pPr marL="0" indent="0">
              <a:buNone/>
            </a:pPr>
            <a:r>
              <a:rPr lang="en-US" sz="1300" dirty="0">
                <a:solidFill>
                  <a:srgbClr val="53627A"/>
                </a:solidFill>
                <a:latin typeface="Tahoma" pitchFamily="34" charset="0"/>
                <a:ea typeface="Tahoma" pitchFamily="34" charset="-122"/>
                <a:cs typeface="Tahoma" pitchFamily="34" charset="-120"/>
              </a:rPr>
              <a:t>Private, per-user dashboard</a:t>
            </a:r>
            <a:endParaRPr lang="en-US" sz="1300" dirty="0"/>
          </a:p>
        </p:txBody>
      </p:sp>
      <p:sp>
        <p:nvSpPr>
          <p:cNvPr id="26" name="Arrow"/>
          <p:cNvSpPr/>
          <p:nvPr/>
        </p:nvSpPr>
        <p:spPr>
          <a:xfrm>
            <a:off x="5923178" y="5074920"/>
            <a:ext cx="345338" cy="365760"/>
          </a:xfrm>
          <a:prstGeom prst="rightArrow">
            <a:avLst/>
          </a:prstGeom>
          <a:solidFill>
            <a:srgbClr val="9FB0C8"/>
          </a:solidFill>
          <a:ln w="12700">
            <a:solidFill>
              <a:srgbClr val="9FB0C8"/>
            </a:solidFill>
            <a:prstDash val="solid"/>
          </a:ln>
        </p:spPr>
      </p:sp>
      <p:sp>
        <p:nvSpPr>
          <p:cNvPr id="27" name="Objective MONITOR"/>
          <p:cNvSpPr/>
          <p:nvPr/>
        </p:nvSpPr>
        <p:spPr>
          <a:xfrm>
            <a:off x="6359957" y="4206240"/>
            <a:ext cx="2377440" cy="2103120"/>
          </a:xfrm>
          <a:prstGeom prst="roundRect">
            <a:avLst>
              <a:gd name="adj" fmla="val 521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8" name="Icon circle"/>
          <p:cNvSpPr/>
          <p:nvPr/>
        </p:nvSpPr>
        <p:spPr>
          <a:xfrm>
            <a:off x="6588557" y="4434840"/>
            <a:ext cx="594360" cy="594360"/>
          </a:xfrm>
          <a:prstGeom prst="ellipse">
            <a:avLst/>
          </a:prstGeom>
          <a:solidFill>
            <a:srgbClr val="DCE8FE"/>
          </a:solidFill>
          <a:ln w="12700">
            <a:solidFill>
              <a:srgbClr val="DCE8FE"/>
            </a:solidFill>
            <a:prstDash val="solid"/>
          </a:ln>
        </p:spPr>
      </p:sp>
      <p:pic>
        <p:nvPicPr>
          <p:cNvPr id="29" name="Image 4" descr="TachometerAlt icon"/>
          <p:cNvPicPr>
            <a:picLocks noChangeAspect="1"/>
          </p:cNvPicPr>
          <p:nvPr/>
        </p:nvPicPr>
        <p:blipFill>
          <a:blip r:embed="rId7"/>
          <a:stretch>
            <a:fillRect/>
          </a:stretch>
        </p:blipFill>
        <p:spPr>
          <a:xfrm>
            <a:off x="6737147" y="4583430"/>
            <a:ext cx="297180" cy="297180"/>
          </a:xfrm>
          <a:prstGeom prst="rect">
            <a:avLst/>
          </a:prstGeom>
        </p:spPr>
      </p:pic>
      <p:sp>
        <p:nvSpPr>
          <p:cNvPr id="30" name="Text 22"/>
          <p:cNvSpPr txBox="1"/>
          <p:nvPr/>
        </p:nvSpPr>
        <p:spPr>
          <a:xfrm>
            <a:off x="6588557" y="5212080"/>
            <a:ext cx="1920240" cy="365760"/>
          </a:xfrm>
          <a:prstGeom prst="rect">
            <a:avLst/>
          </a:prstGeom>
          <a:noFill/>
          <a:ln/>
        </p:spPr>
        <p:txBody>
          <a:bodyPr wrap="square" lIns="0" tIns="0" rIns="0" bIns="0" rtlCol="0" anchor="t"/>
          <a:lstStyle/>
          <a:p>
            <a:pPr marL="0" indent="0">
              <a:buNone/>
            </a:pPr>
            <a:r>
              <a:rPr lang="en-US" sz="1700" b="1" kern="0" spc="200" dirty="0">
                <a:solidFill>
                  <a:srgbClr val="2563EB"/>
                </a:solidFill>
                <a:latin typeface="Tahoma" pitchFamily="34" charset="0"/>
                <a:ea typeface="Tahoma" pitchFamily="34" charset="-122"/>
                <a:cs typeface="Tahoma" pitchFamily="34" charset="-120"/>
              </a:rPr>
              <a:t>MONITOR</a:t>
            </a:r>
            <a:endParaRPr lang="en-US" sz="1700" dirty="0"/>
          </a:p>
        </p:txBody>
      </p:sp>
      <p:sp>
        <p:nvSpPr>
          <p:cNvPr id="31" name="Text 23"/>
          <p:cNvSpPr txBox="1"/>
          <p:nvPr/>
        </p:nvSpPr>
        <p:spPr>
          <a:xfrm>
            <a:off x="6588557" y="5577840"/>
            <a:ext cx="1920240" cy="640080"/>
          </a:xfrm>
          <a:prstGeom prst="rect">
            <a:avLst/>
          </a:prstGeom>
          <a:noFill/>
          <a:ln/>
        </p:spPr>
        <p:txBody>
          <a:bodyPr wrap="square" lIns="0" tIns="0" rIns="0" bIns="0" rtlCol="0" anchor="t"/>
          <a:lstStyle/>
          <a:p>
            <a:pPr marL="0" indent="0">
              <a:buNone/>
            </a:pPr>
            <a:r>
              <a:rPr lang="en-US" sz="1300" dirty="0">
                <a:solidFill>
                  <a:srgbClr val="53627A"/>
                </a:solidFill>
                <a:latin typeface="Tahoma" pitchFamily="34" charset="0"/>
                <a:ea typeface="Tahoma" pitchFamily="34" charset="-122"/>
                <a:cs typeface="Tahoma" pitchFamily="34" charset="-120"/>
              </a:rPr>
              <a:t>Budget limits and alerts</a:t>
            </a:r>
            <a:endParaRPr lang="en-US" sz="1300" dirty="0"/>
          </a:p>
        </p:txBody>
      </p:sp>
      <p:sp>
        <p:nvSpPr>
          <p:cNvPr id="32" name="Arrow"/>
          <p:cNvSpPr/>
          <p:nvPr/>
        </p:nvSpPr>
        <p:spPr>
          <a:xfrm>
            <a:off x="8828837" y="5074920"/>
            <a:ext cx="345338" cy="365760"/>
          </a:xfrm>
          <a:prstGeom prst="rightArrow">
            <a:avLst/>
          </a:prstGeom>
          <a:solidFill>
            <a:srgbClr val="9FB0C8"/>
          </a:solidFill>
          <a:ln w="12700">
            <a:solidFill>
              <a:srgbClr val="9FB0C8"/>
            </a:solidFill>
            <a:prstDash val="solid"/>
          </a:ln>
        </p:spPr>
      </p:sp>
      <p:sp>
        <p:nvSpPr>
          <p:cNvPr id="33" name="Objective OPTIMIZE"/>
          <p:cNvSpPr/>
          <p:nvPr/>
        </p:nvSpPr>
        <p:spPr>
          <a:xfrm>
            <a:off x="9265615" y="4206240"/>
            <a:ext cx="2377440" cy="2103120"/>
          </a:xfrm>
          <a:prstGeom prst="roundRect">
            <a:avLst>
              <a:gd name="adj" fmla="val 521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4" name="Icon circle"/>
          <p:cNvSpPr/>
          <p:nvPr/>
        </p:nvSpPr>
        <p:spPr>
          <a:xfrm>
            <a:off x="9494215" y="4434840"/>
            <a:ext cx="594360" cy="594360"/>
          </a:xfrm>
          <a:prstGeom prst="ellipse">
            <a:avLst/>
          </a:prstGeom>
          <a:solidFill>
            <a:srgbClr val="CFF1F7"/>
          </a:solidFill>
          <a:ln w="12700">
            <a:solidFill>
              <a:srgbClr val="CFF1F7"/>
            </a:solidFill>
            <a:prstDash val="solid"/>
          </a:ln>
        </p:spPr>
      </p:sp>
      <p:pic>
        <p:nvPicPr>
          <p:cNvPr id="35" name="Image 5" descr="ChartLine icon"/>
          <p:cNvPicPr>
            <a:picLocks noChangeAspect="1"/>
          </p:cNvPicPr>
          <p:nvPr/>
        </p:nvPicPr>
        <p:blipFill>
          <a:blip r:embed="rId8"/>
          <a:stretch>
            <a:fillRect/>
          </a:stretch>
        </p:blipFill>
        <p:spPr>
          <a:xfrm>
            <a:off x="9642805" y="4583430"/>
            <a:ext cx="297180" cy="297180"/>
          </a:xfrm>
          <a:prstGeom prst="rect">
            <a:avLst/>
          </a:prstGeom>
        </p:spPr>
      </p:pic>
      <p:sp>
        <p:nvSpPr>
          <p:cNvPr id="36" name="Text 27"/>
          <p:cNvSpPr txBox="1"/>
          <p:nvPr/>
        </p:nvSpPr>
        <p:spPr>
          <a:xfrm>
            <a:off x="9494215" y="5212080"/>
            <a:ext cx="1920240" cy="365760"/>
          </a:xfrm>
          <a:prstGeom prst="rect">
            <a:avLst/>
          </a:prstGeom>
          <a:noFill/>
          <a:ln/>
        </p:spPr>
        <p:txBody>
          <a:bodyPr wrap="square" lIns="0" tIns="0" rIns="0" bIns="0" rtlCol="0" anchor="t"/>
          <a:lstStyle/>
          <a:p>
            <a:pPr marL="0" indent="0">
              <a:buNone/>
            </a:pPr>
            <a:r>
              <a:rPr lang="en-US" sz="1700" b="1" kern="0" spc="200" dirty="0">
                <a:solidFill>
                  <a:srgbClr val="0E7490"/>
                </a:solidFill>
                <a:latin typeface="Tahoma" pitchFamily="34" charset="0"/>
                <a:ea typeface="Tahoma" pitchFamily="34" charset="-122"/>
                <a:cs typeface="Tahoma" pitchFamily="34" charset="-120"/>
              </a:rPr>
              <a:t>OPTIMIZE</a:t>
            </a:r>
            <a:endParaRPr lang="en-US" sz="1700" dirty="0"/>
          </a:p>
        </p:txBody>
      </p:sp>
      <p:sp>
        <p:nvSpPr>
          <p:cNvPr id="37" name="Text 28"/>
          <p:cNvSpPr txBox="1"/>
          <p:nvPr/>
        </p:nvSpPr>
        <p:spPr>
          <a:xfrm>
            <a:off x="9494215" y="5577840"/>
            <a:ext cx="1920240" cy="640080"/>
          </a:xfrm>
          <a:prstGeom prst="rect">
            <a:avLst/>
          </a:prstGeom>
          <a:noFill/>
          <a:ln/>
        </p:spPr>
        <p:txBody>
          <a:bodyPr wrap="square" lIns="0" tIns="0" rIns="0" bIns="0" rtlCol="0" anchor="t"/>
          <a:lstStyle/>
          <a:p>
            <a:pPr marL="0" indent="0">
              <a:buNone/>
            </a:pPr>
            <a:r>
              <a:rPr lang="en-US" sz="1300" dirty="0">
                <a:solidFill>
                  <a:srgbClr val="53627A"/>
                </a:solidFill>
                <a:latin typeface="Tahoma" pitchFamily="34" charset="0"/>
                <a:ea typeface="Tahoma" pitchFamily="34" charset="-122"/>
                <a:cs typeface="Tahoma" pitchFamily="34" charset="-120"/>
              </a:rPr>
              <a:t>AI savings tips and plans</a:t>
            </a:r>
            <a:endParaRPr lang="en-US" sz="130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Existing Tools and Their Gaps</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WHAT PEOPLE USE TODAY AND WHAT IS MISSING</a:t>
            </a:r>
            <a:endParaRPr lang="en-US" sz="1200" dirty="0"/>
          </a:p>
        </p:txBody>
      </p:sp>
      <p:sp>
        <p:nvSpPr>
          <p:cNvPr id="5" name="Text 2"/>
          <p:cNvSpPr txBox="1"/>
          <p:nvPr/>
        </p:nvSpPr>
        <p:spPr>
          <a:xfrm>
            <a:off x="548640" y="1353312"/>
            <a:ext cx="5074920" cy="274320"/>
          </a:xfrm>
          <a:prstGeom prst="rect">
            <a:avLst/>
          </a:prstGeom>
          <a:noFill/>
          <a:ln/>
        </p:spPr>
        <p:txBody>
          <a:bodyPr wrap="square" lIns="0" tIns="0" rIns="0" bIns="0" rtlCol="0" anchor="t"/>
          <a:lstStyle/>
          <a:p>
            <a:pPr marL="0" indent="0">
              <a:buNone/>
            </a:pPr>
            <a:r>
              <a:rPr lang="en-US" sz="1300" b="1" kern="0" spc="300" dirty="0">
                <a:solidFill>
                  <a:srgbClr val="2563EB"/>
                </a:solidFill>
                <a:latin typeface="Tahoma" pitchFamily="34" charset="0"/>
                <a:ea typeface="Tahoma" pitchFamily="34" charset="-122"/>
                <a:cs typeface="Tahoma" pitchFamily="34" charset="-120"/>
              </a:rPr>
              <a:t>WHAT EXISTS TODAY</a:t>
            </a:r>
            <a:endParaRPr lang="en-US" sz="1300" dirty="0"/>
          </a:p>
        </p:txBody>
      </p:sp>
      <p:sp>
        <p:nvSpPr>
          <p:cNvPr id="6" name="Text 3"/>
          <p:cNvSpPr txBox="1"/>
          <p:nvPr/>
        </p:nvSpPr>
        <p:spPr>
          <a:xfrm>
            <a:off x="6568135" y="1353312"/>
            <a:ext cx="5074920" cy="274320"/>
          </a:xfrm>
          <a:prstGeom prst="rect">
            <a:avLst/>
          </a:prstGeom>
          <a:noFill/>
          <a:ln/>
        </p:spPr>
        <p:txBody>
          <a:bodyPr wrap="square" lIns="0" tIns="0" rIns="0" bIns="0" rtlCol="0" anchor="t"/>
          <a:lstStyle/>
          <a:p>
            <a:pPr marL="0" indent="0">
              <a:buNone/>
            </a:pPr>
            <a:r>
              <a:rPr lang="en-US" sz="1300" b="1" kern="0" spc="300" dirty="0">
                <a:solidFill>
                  <a:srgbClr val="C2365A"/>
                </a:solidFill>
                <a:latin typeface="Tahoma" pitchFamily="34" charset="0"/>
                <a:ea typeface="Tahoma" pitchFamily="34" charset="-122"/>
                <a:cs typeface="Tahoma" pitchFamily="34" charset="-120"/>
              </a:rPr>
              <a:t>THE GAPS</a:t>
            </a:r>
            <a:endParaRPr lang="en-US" sz="1300" dirty="0"/>
          </a:p>
        </p:txBody>
      </p:sp>
      <p:sp>
        <p:nvSpPr>
          <p:cNvPr id="7" name="Manual tracking apps"/>
          <p:cNvSpPr/>
          <p:nvPr/>
        </p:nvSpPr>
        <p:spPr>
          <a:xfrm>
            <a:off x="548640" y="1737360"/>
            <a:ext cx="5074920" cy="1005840"/>
          </a:xfrm>
          <a:prstGeom prst="roundRect">
            <a:avLst>
              <a:gd name="adj" fmla="val 1090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8" name="Icon circle"/>
          <p:cNvSpPr/>
          <p:nvPr/>
        </p:nvSpPr>
        <p:spPr>
          <a:xfrm>
            <a:off x="731520" y="2002536"/>
            <a:ext cx="475488" cy="475488"/>
          </a:xfrm>
          <a:prstGeom prst="ellipse">
            <a:avLst/>
          </a:prstGeom>
          <a:solidFill>
            <a:srgbClr val="DCE8FE"/>
          </a:solidFill>
          <a:ln w="12700">
            <a:solidFill>
              <a:srgbClr val="DCE8FE"/>
            </a:solidFill>
            <a:prstDash val="solid"/>
          </a:ln>
        </p:spPr>
      </p:sp>
      <p:pic>
        <p:nvPicPr>
          <p:cNvPr id="9" name="Image 0" descr="Keyboard icon"/>
          <p:cNvPicPr>
            <a:picLocks noChangeAspect="1"/>
          </p:cNvPicPr>
          <p:nvPr/>
        </p:nvPicPr>
        <p:blipFill>
          <a:blip r:embed="rId3"/>
          <a:stretch>
            <a:fillRect/>
          </a:stretch>
        </p:blipFill>
        <p:spPr>
          <a:xfrm>
            <a:off x="850392" y="2121408"/>
            <a:ext cx="237744" cy="237744"/>
          </a:xfrm>
          <a:prstGeom prst="rect">
            <a:avLst/>
          </a:prstGeom>
        </p:spPr>
      </p:pic>
      <p:sp>
        <p:nvSpPr>
          <p:cNvPr id="10" name="Text 6"/>
          <p:cNvSpPr txBox="1"/>
          <p:nvPr/>
        </p:nvSpPr>
        <p:spPr>
          <a:xfrm>
            <a:off x="1371600" y="1837944"/>
            <a:ext cx="4069080" cy="731520"/>
          </a:xfrm>
          <a:prstGeom prst="rect">
            <a:avLst/>
          </a:prstGeom>
          <a:noFill/>
          <a:ln/>
        </p:spPr>
        <p:txBody>
          <a:bodyPr wrap="square" lIns="0" tIns="0" rIns="0" bIns="0" rtlCol="0" anchor="ctr"/>
          <a:lstStyle/>
          <a:p>
            <a:pPr marL="0" indent="0">
              <a:spcAft>
                <a:spcPts val="300"/>
              </a:spcAft>
              <a:buNone/>
            </a:pPr>
            <a:r>
              <a:rPr lang="en-US" sz="1500" b="1" dirty="0">
                <a:solidFill>
                  <a:srgbClr val="0B1730"/>
                </a:solidFill>
                <a:latin typeface="Tahoma" pitchFamily="34" charset="0"/>
                <a:ea typeface="Tahoma" pitchFamily="34" charset="-122"/>
                <a:cs typeface="Tahoma" pitchFamily="34" charset="-120"/>
              </a:rPr>
              <a:t>Manual tracking apps</a:t>
            </a:r>
            <a:endParaRPr lang="en-US" sz="1200" dirty="0"/>
          </a:p>
          <a:p>
            <a:pPr marL="0" indent="0">
              <a:buNone/>
            </a:pPr>
            <a:r>
              <a:rPr lang="en-US" sz="1300" dirty="0">
                <a:solidFill>
                  <a:srgbClr val="53627A"/>
                </a:solidFill>
                <a:latin typeface="Tahoma" pitchFamily="34" charset="0"/>
                <a:ea typeface="Tahoma" pitchFamily="34" charset="-122"/>
                <a:cs typeface="Tahoma" pitchFamily="34" charset="-120"/>
              </a:rPr>
              <a:t>You type every entry yourself.</a:t>
            </a:r>
            <a:endParaRPr lang="en-US" sz="1200" dirty="0"/>
          </a:p>
        </p:txBody>
      </p:sp>
      <p:sp>
        <p:nvSpPr>
          <p:cNvPr id="11" name="High manual effort"/>
          <p:cNvSpPr/>
          <p:nvPr/>
        </p:nvSpPr>
        <p:spPr>
          <a:xfrm>
            <a:off x="6568135" y="1737360"/>
            <a:ext cx="5074920" cy="1005840"/>
          </a:xfrm>
          <a:prstGeom prst="roundRect">
            <a:avLst>
              <a:gd name="adj" fmla="val 1090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2" name="Icon circle"/>
          <p:cNvSpPr/>
          <p:nvPr/>
        </p:nvSpPr>
        <p:spPr>
          <a:xfrm>
            <a:off x="6751015" y="2002536"/>
            <a:ext cx="475488" cy="475488"/>
          </a:xfrm>
          <a:prstGeom prst="ellipse">
            <a:avLst/>
          </a:prstGeom>
          <a:solidFill>
            <a:srgbClr val="FDE2E8"/>
          </a:solidFill>
          <a:ln w="12700">
            <a:solidFill>
              <a:srgbClr val="FDE2E8"/>
            </a:solidFill>
            <a:prstDash val="solid"/>
          </a:ln>
        </p:spPr>
      </p:sp>
      <p:pic>
        <p:nvPicPr>
          <p:cNvPr id="13" name="Image 1" descr="HourglassHalf icon"/>
          <p:cNvPicPr>
            <a:picLocks noChangeAspect="1"/>
          </p:cNvPicPr>
          <p:nvPr/>
        </p:nvPicPr>
        <p:blipFill>
          <a:blip r:embed="rId4"/>
          <a:stretch>
            <a:fillRect/>
          </a:stretch>
        </p:blipFill>
        <p:spPr>
          <a:xfrm>
            <a:off x="6869887" y="2121408"/>
            <a:ext cx="237744" cy="237744"/>
          </a:xfrm>
          <a:prstGeom prst="rect">
            <a:avLst/>
          </a:prstGeom>
        </p:spPr>
      </p:pic>
      <p:sp>
        <p:nvSpPr>
          <p:cNvPr id="14" name="Text 9"/>
          <p:cNvSpPr txBox="1"/>
          <p:nvPr/>
        </p:nvSpPr>
        <p:spPr>
          <a:xfrm>
            <a:off x="7391095" y="1837944"/>
            <a:ext cx="4069080" cy="731520"/>
          </a:xfrm>
          <a:prstGeom prst="rect">
            <a:avLst/>
          </a:prstGeom>
          <a:noFill/>
          <a:ln/>
        </p:spPr>
        <p:txBody>
          <a:bodyPr wrap="square" lIns="0" tIns="0" rIns="0" bIns="0" rtlCol="0" anchor="ctr"/>
          <a:lstStyle/>
          <a:p>
            <a:pPr marL="0" indent="0">
              <a:spcAft>
                <a:spcPts val="300"/>
              </a:spcAft>
              <a:buNone/>
            </a:pPr>
            <a:r>
              <a:rPr lang="en-US" sz="1500" b="1" dirty="0">
                <a:solidFill>
                  <a:srgbClr val="0B1730"/>
                </a:solidFill>
                <a:latin typeface="Tahoma" pitchFamily="34" charset="0"/>
                <a:ea typeface="Tahoma" pitchFamily="34" charset="-122"/>
                <a:cs typeface="Tahoma" pitchFamily="34" charset="-120"/>
              </a:rPr>
              <a:t>High manual effort</a:t>
            </a:r>
            <a:endParaRPr lang="en-US" sz="1200" dirty="0"/>
          </a:p>
          <a:p>
            <a:pPr marL="0" indent="0">
              <a:buNone/>
            </a:pPr>
            <a:r>
              <a:rPr lang="en-US" sz="1300" dirty="0">
                <a:solidFill>
                  <a:srgbClr val="53627A"/>
                </a:solidFill>
                <a:latin typeface="Tahoma" pitchFamily="34" charset="0"/>
                <a:ea typeface="Tahoma" pitchFamily="34" charset="-122"/>
                <a:cs typeface="Tahoma" pitchFamily="34" charset="-120"/>
              </a:rPr>
              <a:t>Typing every expense is tiring.</a:t>
            </a:r>
            <a:endParaRPr lang="en-US" sz="1200" dirty="0"/>
          </a:p>
        </p:txBody>
      </p:sp>
      <p:sp>
        <p:nvSpPr>
          <p:cNvPr id="15" name="Bank apps"/>
          <p:cNvSpPr/>
          <p:nvPr/>
        </p:nvSpPr>
        <p:spPr>
          <a:xfrm>
            <a:off x="548640" y="2880360"/>
            <a:ext cx="5074920" cy="1005840"/>
          </a:xfrm>
          <a:prstGeom prst="roundRect">
            <a:avLst>
              <a:gd name="adj" fmla="val 1090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6" name="Icon circle"/>
          <p:cNvSpPr/>
          <p:nvPr/>
        </p:nvSpPr>
        <p:spPr>
          <a:xfrm>
            <a:off x="731520" y="3145536"/>
            <a:ext cx="475488" cy="475488"/>
          </a:xfrm>
          <a:prstGeom prst="ellipse">
            <a:avLst/>
          </a:prstGeom>
          <a:solidFill>
            <a:srgbClr val="DCE8FE"/>
          </a:solidFill>
          <a:ln w="12700">
            <a:solidFill>
              <a:srgbClr val="DCE8FE"/>
            </a:solidFill>
            <a:prstDash val="solid"/>
          </a:ln>
        </p:spPr>
      </p:sp>
      <p:pic>
        <p:nvPicPr>
          <p:cNvPr id="17" name="Image 2" descr="University icon"/>
          <p:cNvPicPr>
            <a:picLocks noChangeAspect="1"/>
          </p:cNvPicPr>
          <p:nvPr/>
        </p:nvPicPr>
        <p:blipFill>
          <a:blip r:embed="rId5"/>
          <a:stretch>
            <a:fillRect/>
          </a:stretch>
        </p:blipFill>
        <p:spPr>
          <a:xfrm>
            <a:off x="850392" y="3264408"/>
            <a:ext cx="237744" cy="237744"/>
          </a:xfrm>
          <a:prstGeom prst="rect">
            <a:avLst/>
          </a:prstGeom>
        </p:spPr>
      </p:pic>
      <p:sp>
        <p:nvSpPr>
          <p:cNvPr id="18" name="Text 12"/>
          <p:cNvSpPr txBox="1"/>
          <p:nvPr/>
        </p:nvSpPr>
        <p:spPr>
          <a:xfrm>
            <a:off x="1371600" y="2980944"/>
            <a:ext cx="4069080" cy="731520"/>
          </a:xfrm>
          <a:prstGeom prst="rect">
            <a:avLst/>
          </a:prstGeom>
          <a:noFill/>
          <a:ln/>
        </p:spPr>
        <p:txBody>
          <a:bodyPr wrap="square" lIns="0" tIns="0" rIns="0" bIns="0" rtlCol="0" anchor="ctr"/>
          <a:lstStyle/>
          <a:p>
            <a:pPr marL="0" indent="0">
              <a:spcAft>
                <a:spcPts val="300"/>
              </a:spcAft>
              <a:buNone/>
            </a:pPr>
            <a:r>
              <a:rPr lang="en-US" sz="1500" b="1" dirty="0">
                <a:solidFill>
                  <a:srgbClr val="0B1730"/>
                </a:solidFill>
                <a:latin typeface="Tahoma" pitchFamily="34" charset="0"/>
                <a:ea typeface="Tahoma" pitchFamily="34" charset="-122"/>
                <a:cs typeface="Tahoma" pitchFamily="34" charset="-120"/>
              </a:rPr>
              <a:t>Bank apps</a:t>
            </a:r>
            <a:endParaRPr lang="en-US" sz="1200" dirty="0"/>
          </a:p>
          <a:p>
            <a:pPr marL="0" indent="0">
              <a:buNone/>
            </a:pPr>
            <a:r>
              <a:rPr lang="en-US" sz="1300" dirty="0">
                <a:solidFill>
                  <a:srgbClr val="53627A"/>
                </a:solidFill>
                <a:latin typeface="Tahoma" pitchFamily="34" charset="0"/>
                <a:ea typeface="Tahoma" pitchFamily="34" charset="-122"/>
                <a:cs typeface="Tahoma" pitchFamily="34" charset="-120"/>
              </a:rPr>
              <a:t>They show a raw list with no meaning.</a:t>
            </a:r>
            <a:endParaRPr lang="en-US" sz="1200" dirty="0"/>
          </a:p>
        </p:txBody>
      </p:sp>
      <p:sp>
        <p:nvSpPr>
          <p:cNvPr id="19" name="No automatic categorisation"/>
          <p:cNvSpPr/>
          <p:nvPr/>
        </p:nvSpPr>
        <p:spPr>
          <a:xfrm>
            <a:off x="6568135" y="2880360"/>
            <a:ext cx="5074920" cy="1005840"/>
          </a:xfrm>
          <a:prstGeom prst="roundRect">
            <a:avLst>
              <a:gd name="adj" fmla="val 1090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0" name="Icon circle"/>
          <p:cNvSpPr/>
          <p:nvPr/>
        </p:nvSpPr>
        <p:spPr>
          <a:xfrm>
            <a:off x="6751015" y="3145536"/>
            <a:ext cx="475488" cy="475488"/>
          </a:xfrm>
          <a:prstGeom prst="ellipse">
            <a:avLst/>
          </a:prstGeom>
          <a:solidFill>
            <a:srgbClr val="FDE2E8"/>
          </a:solidFill>
          <a:ln w="12700">
            <a:solidFill>
              <a:srgbClr val="FDE2E8"/>
            </a:solidFill>
            <a:prstDash val="solid"/>
          </a:ln>
        </p:spPr>
      </p:sp>
      <p:pic>
        <p:nvPicPr>
          <p:cNvPr id="21" name="Image 3" descr="Tag icon"/>
          <p:cNvPicPr>
            <a:picLocks noChangeAspect="1"/>
          </p:cNvPicPr>
          <p:nvPr/>
        </p:nvPicPr>
        <p:blipFill>
          <a:blip r:embed="rId6"/>
          <a:stretch>
            <a:fillRect/>
          </a:stretch>
        </p:blipFill>
        <p:spPr>
          <a:xfrm>
            <a:off x="6869887" y="3264408"/>
            <a:ext cx="237744" cy="237744"/>
          </a:xfrm>
          <a:prstGeom prst="rect">
            <a:avLst/>
          </a:prstGeom>
        </p:spPr>
      </p:pic>
      <p:sp>
        <p:nvSpPr>
          <p:cNvPr id="22" name="Text 15"/>
          <p:cNvSpPr txBox="1"/>
          <p:nvPr/>
        </p:nvSpPr>
        <p:spPr>
          <a:xfrm>
            <a:off x="7391095" y="2980944"/>
            <a:ext cx="4069080" cy="731520"/>
          </a:xfrm>
          <a:prstGeom prst="rect">
            <a:avLst/>
          </a:prstGeom>
          <a:noFill/>
          <a:ln/>
        </p:spPr>
        <p:txBody>
          <a:bodyPr wrap="square" lIns="0" tIns="0" rIns="0" bIns="0" rtlCol="0" anchor="ctr"/>
          <a:lstStyle/>
          <a:p>
            <a:pPr marL="0" indent="0">
              <a:spcAft>
                <a:spcPts val="300"/>
              </a:spcAft>
              <a:buNone/>
            </a:pPr>
            <a:r>
              <a:rPr lang="en-US" sz="1500" b="1" dirty="0">
                <a:solidFill>
                  <a:srgbClr val="0B1730"/>
                </a:solidFill>
                <a:latin typeface="Tahoma" pitchFamily="34" charset="0"/>
                <a:ea typeface="Tahoma" pitchFamily="34" charset="-122"/>
                <a:cs typeface="Tahoma" pitchFamily="34" charset="-120"/>
              </a:rPr>
              <a:t>No automatic categorisation</a:t>
            </a:r>
            <a:endParaRPr lang="en-US" sz="1200" dirty="0"/>
          </a:p>
          <a:p>
            <a:pPr marL="0" indent="0">
              <a:buNone/>
            </a:pPr>
            <a:r>
              <a:rPr lang="en-US" sz="1300" dirty="0">
                <a:solidFill>
                  <a:srgbClr val="53627A"/>
                </a:solidFill>
                <a:latin typeface="Tahoma" pitchFamily="34" charset="0"/>
                <a:ea typeface="Tahoma" pitchFamily="34" charset="-122"/>
                <a:cs typeface="Tahoma" pitchFamily="34" charset="-120"/>
              </a:rPr>
              <a:t>Every item must be labelled by hand.</a:t>
            </a:r>
            <a:endParaRPr lang="en-US" sz="1200" dirty="0"/>
          </a:p>
        </p:txBody>
      </p:sp>
      <p:sp>
        <p:nvSpPr>
          <p:cNvPr id="23" name="Spreadsheets"/>
          <p:cNvSpPr/>
          <p:nvPr/>
        </p:nvSpPr>
        <p:spPr>
          <a:xfrm>
            <a:off x="548640" y="4023360"/>
            <a:ext cx="5074920" cy="1005840"/>
          </a:xfrm>
          <a:prstGeom prst="roundRect">
            <a:avLst>
              <a:gd name="adj" fmla="val 1090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4" name="Icon circle"/>
          <p:cNvSpPr/>
          <p:nvPr/>
        </p:nvSpPr>
        <p:spPr>
          <a:xfrm>
            <a:off x="731520" y="4288536"/>
            <a:ext cx="475488" cy="475488"/>
          </a:xfrm>
          <a:prstGeom prst="ellipse">
            <a:avLst/>
          </a:prstGeom>
          <a:solidFill>
            <a:srgbClr val="DCE8FE"/>
          </a:solidFill>
          <a:ln w="12700">
            <a:solidFill>
              <a:srgbClr val="DCE8FE"/>
            </a:solidFill>
            <a:prstDash val="solid"/>
          </a:ln>
        </p:spPr>
      </p:sp>
      <p:pic>
        <p:nvPicPr>
          <p:cNvPr id="25" name="Image 4" descr="Table icon"/>
          <p:cNvPicPr>
            <a:picLocks noChangeAspect="1"/>
          </p:cNvPicPr>
          <p:nvPr/>
        </p:nvPicPr>
        <p:blipFill>
          <a:blip r:embed="rId7"/>
          <a:stretch>
            <a:fillRect/>
          </a:stretch>
        </p:blipFill>
        <p:spPr>
          <a:xfrm>
            <a:off x="850392" y="4407408"/>
            <a:ext cx="237744" cy="237744"/>
          </a:xfrm>
          <a:prstGeom prst="rect">
            <a:avLst/>
          </a:prstGeom>
        </p:spPr>
      </p:pic>
      <p:sp>
        <p:nvSpPr>
          <p:cNvPr id="26" name="Text 18"/>
          <p:cNvSpPr txBox="1"/>
          <p:nvPr/>
        </p:nvSpPr>
        <p:spPr>
          <a:xfrm>
            <a:off x="1371600" y="4123944"/>
            <a:ext cx="4069080" cy="731520"/>
          </a:xfrm>
          <a:prstGeom prst="rect">
            <a:avLst/>
          </a:prstGeom>
          <a:noFill/>
          <a:ln/>
        </p:spPr>
        <p:txBody>
          <a:bodyPr wrap="square" lIns="0" tIns="0" rIns="0" bIns="0" rtlCol="0" anchor="ctr"/>
          <a:lstStyle/>
          <a:p>
            <a:pPr marL="0" indent="0">
              <a:spcAft>
                <a:spcPts val="300"/>
              </a:spcAft>
              <a:buNone/>
            </a:pPr>
            <a:r>
              <a:rPr lang="en-US" sz="1500" b="1" dirty="0">
                <a:solidFill>
                  <a:srgbClr val="0B1730"/>
                </a:solidFill>
                <a:latin typeface="Tahoma" pitchFamily="34" charset="0"/>
                <a:ea typeface="Tahoma" pitchFamily="34" charset="-122"/>
                <a:cs typeface="Tahoma" pitchFamily="34" charset="-120"/>
              </a:rPr>
              <a:t>Spreadsheets</a:t>
            </a:r>
            <a:endParaRPr lang="en-US" sz="1200" dirty="0"/>
          </a:p>
          <a:p>
            <a:pPr marL="0" indent="0">
              <a:buNone/>
            </a:pPr>
            <a:r>
              <a:rPr lang="en-US" sz="1300" dirty="0">
                <a:solidFill>
                  <a:srgbClr val="53627A"/>
                </a:solidFill>
                <a:latin typeface="Tahoma" pitchFamily="34" charset="0"/>
                <a:ea typeface="Tahoma" pitchFamily="34" charset="-122"/>
                <a:cs typeface="Tahoma" pitchFamily="34" charset="-120"/>
              </a:rPr>
              <a:t>Slow, and easy to get wrong.</a:t>
            </a:r>
            <a:endParaRPr lang="en-US" sz="1200" dirty="0"/>
          </a:p>
        </p:txBody>
      </p:sp>
      <p:sp>
        <p:nvSpPr>
          <p:cNvPr id="27" name="Little personal insight"/>
          <p:cNvSpPr/>
          <p:nvPr/>
        </p:nvSpPr>
        <p:spPr>
          <a:xfrm>
            <a:off x="6568135" y="4023360"/>
            <a:ext cx="5074920" cy="1005840"/>
          </a:xfrm>
          <a:prstGeom prst="roundRect">
            <a:avLst>
              <a:gd name="adj" fmla="val 1090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8" name="Icon circle"/>
          <p:cNvSpPr/>
          <p:nvPr/>
        </p:nvSpPr>
        <p:spPr>
          <a:xfrm>
            <a:off x="6751015" y="4288536"/>
            <a:ext cx="475488" cy="475488"/>
          </a:xfrm>
          <a:prstGeom prst="ellipse">
            <a:avLst/>
          </a:prstGeom>
          <a:solidFill>
            <a:srgbClr val="FDE2E8"/>
          </a:solidFill>
          <a:ln w="12700">
            <a:solidFill>
              <a:srgbClr val="FDE2E8"/>
            </a:solidFill>
            <a:prstDash val="solid"/>
          </a:ln>
        </p:spPr>
      </p:sp>
      <p:pic>
        <p:nvPicPr>
          <p:cNvPr id="29" name="Image 5" descr="Search icon"/>
          <p:cNvPicPr>
            <a:picLocks noChangeAspect="1"/>
          </p:cNvPicPr>
          <p:nvPr/>
        </p:nvPicPr>
        <p:blipFill>
          <a:blip r:embed="rId8"/>
          <a:stretch>
            <a:fillRect/>
          </a:stretch>
        </p:blipFill>
        <p:spPr>
          <a:xfrm>
            <a:off x="6869887" y="4407408"/>
            <a:ext cx="237744" cy="237744"/>
          </a:xfrm>
          <a:prstGeom prst="rect">
            <a:avLst/>
          </a:prstGeom>
        </p:spPr>
      </p:pic>
      <p:sp>
        <p:nvSpPr>
          <p:cNvPr id="30" name="Text 21"/>
          <p:cNvSpPr txBox="1"/>
          <p:nvPr/>
        </p:nvSpPr>
        <p:spPr>
          <a:xfrm>
            <a:off x="7391095" y="4123944"/>
            <a:ext cx="4069080" cy="731520"/>
          </a:xfrm>
          <a:prstGeom prst="rect">
            <a:avLst/>
          </a:prstGeom>
          <a:noFill/>
          <a:ln/>
        </p:spPr>
        <p:txBody>
          <a:bodyPr wrap="square" lIns="0" tIns="0" rIns="0" bIns="0" rtlCol="0" anchor="ctr"/>
          <a:lstStyle/>
          <a:p>
            <a:pPr marL="0" indent="0">
              <a:spcAft>
                <a:spcPts val="300"/>
              </a:spcAft>
              <a:buNone/>
            </a:pPr>
            <a:r>
              <a:rPr lang="en-US" sz="1500" b="1" dirty="0">
                <a:solidFill>
                  <a:srgbClr val="0B1730"/>
                </a:solidFill>
                <a:latin typeface="Tahoma" pitchFamily="34" charset="0"/>
                <a:ea typeface="Tahoma" pitchFamily="34" charset="-122"/>
                <a:cs typeface="Tahoma" pitchFamily="34" charset="-120"/>
              </a:rPr>
              <a:t>Little personal insight</a:t>
            </a:r>
            <a:endParaRPr lang="en-US" sz="1200" dirty="0"/>
          </a:p>
          <a:p>
            <a:pPr marL="0" indent="0">
              <a:buNone/>
            </a:pPr>
            <a:r>
              <a:rPr lang="en-US" sz="1300" dirty="0">
                <a:solidFill>
                  <a:srgbClr val="53627A"/>
                </a:solidFill>
                <a:latin typeface="Tahoma" pitchFamily="34" charset="0"/>
                <a:ea typeface="Tahoma" pitchFamily="34" charset="-122"/>
                <a:cs typeface="Tahoma" pitchFamily="34" charset="-120"/>
              </a:rPr>
              <a:t>Numbers are shown, but not explained.</a:t>
            </a:r>
            <a:endParaRPr lang="en-US" sz="1200" dirty="0"/>
          </a:p>
        </p:txBody>
      </p:sp>
      <p:sp>
        <p:nvSpPr>
          <p:cNvPr id="31" name="Most existing tools"/>
          <p:cNvSpPr/>
          <p:nvPr/>
        </p:nvSpPr>
        <p:spPr>
          <a:xfrm>
            <a:off x="548640" y="5166360"/>
            <a:ext cx="5074920" cy="1005840"/>
          </a:xfrm>
          <a:prstGeom prst="roundRect">
            <a:avLst>
              <a:gd name="adj" fmla="val 1090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2" name="Icon circle"/>
          <p:cNvSpPr/>
          <p:nvPr/>
        </p:nvSpPr>
        <p:spPr>
          <a:xfrm>
            <a:off x="731520" y="5431536"/>
            <a:ext cx="475488" cy="475488"/>
          </a:xfrm>
          <a:prstGeom prst="ellipse">
            <a:avLst/>
          </a:prstGeom>
          <a:solidFill>
            <a:srgbClr val="DCE8FE"/>
          </a:solidFill>
          <a:ln w="12700">
            <a:solidFill>
              <a:srgbClr val="DCE8FE"/>
            </a:solidFill>
            <a:prstDash val="solid"/>
          </a:ln>
        </p:spPr>
      </p:sp>
      <p:pic>
        <p:nvPicPr>
          <p:cNvPr id="33" name="Image 6" descr="Ban icon"/>
          <p:cNvPicPr>
            <a:picLocks noChangeAspect="1"/>
          </p:cNvPicPr>
          <p:nvPr/>
        </p:nvPicPr>
        <p:blipFill>
          <a:blip r:embed="rId9"/>
          <a:stretch>
            <a:fillRect/>
          </a:stretch>
        </p:blipFill>
        <p:spPr>
          <a:xfrm>
            <a:off x="850392" y="5550408"/>
            <a:ext cx="237744" cy="237744"/>
          </a:xfrm>
          <a:prstGeom prst="rect">
            <a:avLst/>
          </a:prstGeom>
        </p:spPr>
      </p:pic>
      <p:sp>
        <p:nvSpPr>
          <p:cNvPr id="34" name="Text 24"/>
          <p:cNvSpPr txBox="1"/>
          <p:nvPr/>
        </p:nvSpPr>
        <p:spPr>
          <a:xfrm>
            <a:off x="1371600" y="5266944"/>
            <a:ext cx="4069080" cy="731520"/>
          </a:xfrm>
          <a:prstGeom prst="rect">
            <a:avLst/>
          </a:prstGeom>
          <a:noFill/>
          <a:ln/>
        </p:spPr>
        <p:txBody>
          <a:bodyPr wrap="square" lIns="0" tIns="0" rIns="0" bIns="0" rtlCol="0" anchor="ctr"/>
          <a:lstStyle/>
          <a:p>
            <a:pPr marL="0" indent="0">
              <a:spcAft>
                <a:spcPts val="300"/>
              </a:spcAft>
              <a:buNone/>
            </a:pPr>
            <a:r>
              <a:rPr lang="en-US" sz="1500" b="1" dirty="0">
                <a:solidFill>
                  <a:srgbClr val="0B1730"/>
                </a:solidFill>
                <a:latin typeface="Tahoma" pitchFamily="34" charset="0"/>
                <a:ea typeface="Tahoma" pitchFamily="34" charset="-122"/>
                <a:cs typeface="Tahoma" pitchFamily="34" charset="-120"/>
              </a:rPr>
              <a:t>Most existing tools</a:t>
            </a:r>
            <a:endParaRPr lang="en-US" sz="1200" dirty="0"/>
          </a:p>
          <a:p>
            <a:pPr marL="0" indent="0">
              <a:buNone/>
            </a:pPr>
            <a:r>
              <a:rPr lang="en-US" sz="1300" dirty="0">
                <a:solidFill>
                  <a:srgbClr val="53627A"/>
                </a:solidFill>
                <a:latin typeface="Tahoma" pitchFamily="34" charset="0"/>
                <a:ea typeface="Tahoma" pitchFamily="34" charset="-122"/>
                <a:cs typeface="Tahoma" pitchFamily="34" charset="-120"/>
              </a:rPr>
              <a:t>No statement reading and no AI sorting.</a:t>
            </a:r>
            <a:endParaRPr lang="en-US" sz="1200" dirty="0"/>
          </a:p>
        </p:txBody>
      </p:sp>
      <p:sp>
        <p:nvSpPr>
          <p:cNvPr id="35" name="No early warning"/>
          <p:cNvSpPr/>
          <p:nvPr/>
        </p:nvSpPr>
        <p:spPr>
          <a:xfrm>
            <a:off x="6568135" y="5166360"/>
            <a:ext cx="5074920" cy="1005840"/>
          </a:xfrm>
          <a:prstGeom prst="roundRect">
            <a:avLst>
              <a:gd name="adj" fmla="val 1090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6" name="Icon circle"/>
          <p:cNvSpPr/>
          <p:nvPr/>
        </p:nvSpPr>
        <p:spPr>
          <a:xfrm>
            <a:off x="6751015" y="5431536"/>
            <a:ext cx="475488" cy="475488"/>
          </a:xfrm>
          <a:prstGeom prst="ellipse">
            <a:avLst/>
          </a:prstGeom>
          <a:solidFill>
            <a:srgbClr val="FDE2E8"/>
          </a:solidFill>
          <a:ln w="12700">
            <a:solidFill>
              <a:srgbClr val="FDE2E8"/>
            </a:solidFill>
            <a:prstDash val="solid"/>
          </a:ln>
        </p:spPr>
      </p:sp>
      <p:pic>
        <p:nvPicPr>
          <p:cNvPr id="37" name="Image 7" descr="BellSlash icon"/>
          <p:cNvPicPr>
            <a:picLocks noChangeAspect="1"/>
          </p:cNvPicPr>
          <p:nvPr/>
        </p:nvPicPr>
        <p:blipFill>
          <a:blip r:embed="rId10"/>
          <a:stretch>
            <a:fillRect/>
          </a:stretch>
        </p:blipFill>
        <p:spPr>
          <a:xfrm>
            <a:off x="6869887" y="5550408"/>
            <a:ext cx="237744" cy="237744"/>
          </a:xfrm>
          <a:prstGeom prst="rect">
            <a:avLst/>
          </a:prstGeom>
        </p:spPr>
      </p:pic>
      <p:sp>
        <p:nvSpPr>
          <p:cNvPr id="38" name="Text 27"/>
          <p:cNvSpPr txBox="1"/>
          <p:nvPr/>
        </p:nvSpPr>
        <p:spPr>
          <a:xfrm>
            <a:off x="7391095" y="5266944"/>
            <a:ext cx="4069080" cy="731520"/>
          </a:xfrm>
          <a:prstGeom prst="rect">
            <a:avLst/>
          </a:prstGeom>
          <a:noFill/>
          <a:ln/>
        </p:spPr>
        <p:txBody>
          <a:bodyPr wrap="square" lIns="0" tIns="0" rIns="0" bIns="0" rtlCol="0" anchor="ctr"/>
          <a:lstStyle/>
          <a:p>
            <a:pPr marL="0" indent="0">
              <a:spcAft>
                <a:spcPts val="300"/>
              </a:spcAft>
              <a:buNone/>
            </a:pPr>
            <a:r>
              <a:rPr lang="en-US" sz="1500" b="1" dirty="0">
                <a:solidFill>
                  <a:srgbClr val="0B1730"/>
                </a:solidFill>
                <a:latin typeface="Tahoma" pitchFamily="34" charset="0"/>
                <a:ea typeface="Tahoma" pitchFamily="34" charset="-122"/>
                <a:cs typeface="Tahoma" pitchFamily="34" charset="-120"/>
              </a:rPr>
              <a:t>No early warning</a:t>
            </a:r>
            <a:endParaRPr lang="en-US" sz="1200" dirty="0"/>
          </a:p>
          <a:p>
            <a:pPr marL="0" indent="0">
              <a:buNone/>
            </a:pPr>
            <a:r>
              <a:rPr lang="en-US" sz="1300" dirty="0">
                <a:solidFill>
                  <a:srgbClr val="53627A"/>
                </a:solidFill>
                <a:latin typeface="Tahoma" pitchFamily="34" charset="0"/>
                <a:ea typeface="Tahoma" pitchFamily="34" charset="-122"/>
                <a:cs typeface="Tahoma" pitchFamily="34" charset="-120"/>
              </a:rPr>
              <a:t>Nothing warns you before you overspend.</a:t>
            </a:r>
            <a:endParaRPr lang="en-US" sz="1200" dirty="0"/>
          </a:p>
        </p:txBody>
      </p:sp>
      <p:sp>
        <p:nvSpPr>
          <p:cNvPr id="39" name="Arrow"/>
          <p:cNvSpPr/>
          <p:nvPr/>
        </p:nvSpPr>
        <p:spPr>
          <a:xfrm>
            <a:off x="5788152" y="3794760"/>
            <a:ext cx="615391" cy="457200"/>
          </a:xfrm>
          <a:prstGeom prst="rightArrow">
            <a:avLst/>
          </a:prstGeom>
          <a:solidFill>
            <a:srgbClr val="9FB0C8"/>
          </a:solidFill>
          <a:ln w="12700">
            <a:solidFill>
              <a:srgbClr val="9FB0C8"/>
            </a:solidFill>
            <a:prstDash val="solid"/>
          </a:ln>
        </p:spPr>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How We Are Different</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COMPARED WITH EXISTING EXPENSE APPS</a:t>
            </a:r>
            <a:endParaRPr lang="en-US" sz="12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4415" cy="2880360"/>
        </p:xfrm>
        <a:graphic>
          <a:graphicData uri="http://schemas.openxmlformats.org/drawingml/2006/table">
            <a:tbl>
              <a:tblPr/>
              <a:tblGrid>
                <a:gridCol w="164592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2377440">
                  <a:extLst>
                    <a:ext uri="{9D8B030D-6E8A-4147-A177-3AD203B41FA5}">
                      <a16:colId xmlns:a16="http://schemas.microsoft.com/office/drawing/2014/main" val="20002"/>
                    </a:ext>
                  </a:extLst>
                </a:gridCol>
                <a:gridCol w="2377440">
                  <a:extLst>
                    <a:ext uri="{9D8B030D-6E8A-4147-A177-3AD203B41FA5}">
                      <a16:colId xmlns:a16="http://schemas.microsoft.com/office/drawing/2014/main" val="20003"/>
                    </a:ext>
                  </a:extLst>
                </a:gridCol>
                <a:gridCol w="2316175">
                  <a:extLst>
                    <a:ext uri="{9D8B030D-6E8A-4147-A177-3AD203B41FA5}">
                      <a16:colId xmlns:a16="http://schemas.microsoft.com/office/drawing/2014/main" val="20004"/>
                    </a:ext>
                  </a:extLst>
                </a:gridCol>
              </a:tblGrid>
              <a:tr h="457200">
                <a:tc>
                  <a:txBody>
                    <a:bodyPr/>
                    <a:lstStyle/>
                    <a:p>
                      <a:pPr marL="0" indent="0">
                        <a:buNone/>
                      </a:pP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EAF1FA"/>
                    </a:solidFill>
                  </a:tcPr>
                </a:tc>
                <a:tc>
                  <a:txBody>
                    <a:bodyPr/>
                    <a:lstStyle/>
                    <a:p>
                      <a:pPr marL="0" indent="0" algn="ctr">
                        <a:buNone/>
                      </a:pPr>
                      <a:r>
                        <a:rPr lang="en-US" sz="1300" b="1" dirty="0">
                          <a:solidFill>
                            <a:srgbClr val="0B1730"/>
                          </a:solidFill>
                          <a:latin typeface="Tahoma" pitchFamily="34" charset="0"/>
                          <a:ea typeface="Tahoma" pitchFamily="34" charset="-122"/>
                          <a:cs typeface="Tahoma" pitchFamily="34" charset="-120"/>
                        </a:rPr>
                        <a:t>Expense AI</a:t>
                      </a:r>
                      <a:endParaRPr lang="en-US" sz="13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EAF1FA"/>
                    </a:solidFill>
                  </a:tcPr>
                </a:tc>
                <a:tc>
                  <a:txBody>
                    <a:bodyPr/>
                    <a:lstStyle/>
                    <a:p>
                      <a:pPr marL="0" indent="0" algn="ctr">
                        <a:buNone/>
                      </a:pPr>
                      <a:r>
                        <a:rPr lang="en-US" sz="1300" b="1" dirty="0">
                          <a:solidFill>
                            <a:srgbClr val="0B1730"/>
                          </a:solidFill>
                          <a:latin typeface="Tahoma" pitchFamily="34" charset="0"/>
                          <a:ea typeface="Tahoma" pitchFamily="34" charset="-122"/>
                          <a:cs typeface="Tahoma" pitchFamily="34" charset="-120"/>
                        </a:rPr>
                        <a:t>FinArt</a:t>
                      </a:r>
                      <a:endParaRPr lang="en-US" sz="13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EAF1FA"/>
                    </a:solidFill>
                  </a:tcPr>
                </a:tc>
                <a:tc>
                  <a:txBody>
                    <a:bodyPr/>
                    <a:lstStyle/>
                    <a:p>
                      <a:pPr marL="0" indent="0" algn="ctr">
                        <a:buNone/>
                      </a:pPr>
                      <a:r>
                        <a:rPr lang="en-US" sz="1300" b="1" dirty="0">
                          <a:solidFill>
                            <a:srgbClr val="0B1730"/>
                          </a:solidFill>
                          <a:latin typeface="Tahoma" pitchFamily="34" charset="0"/>
                          <a:ea typeface="Tahoma" pitchFamily="34" charset="-122"/>
                          <a:cs typeface="Tahoma" pitchFamily="34" charset="-120"/>
                        </a:rPr>
                        <a:t>Other AI trackers</a:t>
                      </a:r>
                      <a:endParaRPr lang="en-US" sz="13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EAF1FA"/>
                    </a:solidFill>
                  </a:tcPr>
                </a:tc>
                <a:tc>
                  <a:txBody>
                    <a:bodyPr/>
                    <a:lstStyle/>
                    <a:p>
                      <a:pPr marL="0" indent="0" algn="ctr">
                        <a:buNone/>
                      </a:pPr>
                      <a:r>
                        <a:rPr lang="en-US" sz="1300" b="1" dirty="0">
                          <a:solidFill>
                            <a:srgbClr val="FFFFFF"/>
                          </a:solidFill>
                          <a:latin typeface="Tahoma" pitchFamily="34" charset="0"/>
                          <a:ea typeface="Tahoma" pitchFamily="34" charset="-122"/>
                          <a:cs typeface="Tahoma" pitchFamily="34" charset="-120"/>
                        </a:rPr>
                        <a:t>MoneyTrack AI</a:t>
                      </a:r>
                      <a:endParaRPr lang="en-US" sz="13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0E7490"/>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0B1730"/>
                          </a:solidFill>
                          <a:latin typeface="Tahoma" pitchFamily="34" charset="0"/>
                          <a:ea typeface="Tahoma" pitchFamily="34" charset="-122"/>
                          <a:cs typeface="Tahoma" pitchFamily="34" charset="-120"/>
                        </a:rPr>
                        <a:t>Cost</a:t>
                      </a:r>
                      <a:endParaRPr lang="en-US" sz="13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EAF1FA"/>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Paid (Rs 260/week)</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Free</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Free (mostly)</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1730"/>
                          </a:solidFill>
                          <a:latin typeface="Tahoma" pitchFamily="34" charset="0"/>
                          <a:ea typeface="Tahoma" pitchFamily="34" charset="-122"/>
                          <a:cs typeface="Tahoma" pitchFamily="34" charset="-120"/>
                        </a:rPr>
                        <a:t>Free</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DDF6FA"/>
                    </a:solidFill>
                  </a:tcPr>
                </a:tc>
                <a:extLst>
                  <a:ext uri="{0D108BD9-81ED-4DB2-BD59-A6C34878D82A}">
                    <a16:rowId xmlns:a16="http://schemas.microsoft.com/office/drawing/2014/main" val="10001"/>
                  </a:ext>
                </a:extLst>
              </a:tr>
              <a:tr h="640080">
                <a:tc>
                  <a:txBody>
                    <a:bodyPr/>
                    <a:lstStyle/>
                    <a:p>
                      <a:pPr marL="0" indent="0">
                        <a:buNone/>
                      </a:pPr>
                      <a:r>
                        <a:rPr lang="en-US" sz="1300" b="1" dirty="0">
                          <a:solidFill>
                            <a:srgbClr val="0B1730"/>
                          </a:solidFill>
                          <a:latin typeface="Tahoma" pitchFamily="34" charset="0"/>
                          <a:ea typeface="Tahoma" pitchFamily="34" charset="-122"/>
                          <a:cs typeface="Tahoma" pitchFamily="34" charset="-120"/>
                        </a:rPr>
                        <a:t>Input method</a:t>
                      </a:r>
                      <a:endParaRPr lang="en-US" sz="13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EAF1FA"/>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Manual entry, receipts, chat</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SMS-based (automatic)</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Manual entry, voice or chat</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1730"/>
                          </a:solidFill>
                          <a:latin typeface="Tahoma" pitchFamily="34" charset="0"/>
                          <a:ea typeface="Tahoma" pitchFamily="34" charset="-122"/>
                          <a:cs typeface="Tahoma" pitchFamily="34" charset="-120"/>
                        </a:rPr>
                        <a:t>Upload full bank statement (CSV/PDF)</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DDF6FA"/>
                    </a:solidFill>
                  </a:tcPr>
                </a:tc>
                <a:extLst>
                  <a:ext uri="{0D108BD9-81ED-4DB2-BD59-A6C34878D82A}">
                    <a16:rowId xmlns:a16="http://schemas.microsoft.com/office/drawing/2014/main" val="10002"/>
                  </a:ext>
                </a:extLst>
              </a:tr>
              <a:tr h="640080">
                <a:tc>
                  <a:txBody>
                    <a:bodyPr/>
                    <a:lstStyle/>
                    <a:p>
                      <a:pPr marL="0" indent="0">
                        <a:buNone/>
                      </a:pPr>
                      <a:r>
                        <a:rPr lang="en-US" sz="1300" b="1" dirty="0">
                          <a:solidFill>
                            <a:srgbClr val="0B1730"/>
                          </a:solidFill>
                          <a:latin typeface="Tahoma" pitchFamily="34" charset="0"/>
                          <a:ea typeface="Tahoma" pitchFamily="34" charset="-122"/>
                          <a:cs typeface="Tahoma" pitchFamily="34" charset="-120"/>
                        </a:rPr>
                        <a:t>Historical data</a:t>
                      </a:r>
                      <a:endParaRPr lang="en-US" sz="13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EAF1FA"/>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Limited to logged entries</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Only from install date onward</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None, starts from first log</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1730"/>
                          </a:solidFill>
                          <a:latin typeface="Tahoma" pitchFamily="34" charset="0"/>
                          <a:ea typeface="Tahoma" pitchFamily="34" charset="-122"/>
                          <a:cs typeface="Tahoma" pitchFamily="34" charset="-120"/>
                        </a:rPr>
                        <a:t>Entire past history in one upload</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DDF6FA"/>
                    </a:solidFill>
                  </a:tcPr>
                </a:tc>
                <a:extLst>
                  <a:ext uri="{0D108BD9-81ED-4DB2-BD59-A6C34878D82A}">
                    <a16:rowId xmlns:a16="http://schemas.microsoft.com/office/drawing/2014/main" val="10003"/>
                  </a:ext>
                </a:extLst>
              </a:tr>
              <a:tr h="640080">
                <a:tc>
                  <a:txBody>
                    <a:bodyPr/>
                    <a:lstStyle/>
                    <a:p>
                      <a:pPr marL="0" indent="0">
                        <a:buNone/>
                      </a:pPr>
                      <a:r>
                        <a:rPr lang="en-US" sz="1300" b="1" dirty="0">
                          <a:solidFill>
                            <a:srgbClr val="0B1730"/>
                          </a:solidFill>
                          <a:latin typeface="Tahoma" pitchFamily="34" charset="0"/>
                          <a:ea typeface="Tahoma" pitchFamily="34" charset="-122"/>
                          <a:cs typeface="Tahoma" pitchFamily="34" charset="-120"/>
                        </a:rPr>
                        <a:t>Categorisation</a:t>
                      </a:r>
                      <a:endParaRPr lang="en-US" sz="13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EAF1FA"/>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AI-based</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Rule-based (reads SMS text)</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0B1730"/>
                          </a:solidFill>
                          <a:latin typeface="Tahoma" pitchFamily="34" charset="0"/>
                          <a:ea typeface="Tahoma" pitchFamily="34" charset="-122"/>
                          <a:cs typeface="Tahoma" pitchFamily="34" charset="-120"/>
                        </a:rPr>
                        <a:t>AI on user-typed text</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FFFFFF"/>
                    </a:solidFill>
                  </a:tcPr>
                </a:tc>
                <a:tc>
                  <a:txBody>
                    <a:bodyPr/>
                    <a:lstStyle/>
                    <a:p>
                      <a:pPr marL="0" indent="0" algn="ctr">
                        <a:buNone/>
                      </a:pPr>
                      <a:r>
                        <a:rPr lang="en-US" sz="1200" b="1" dirty="0">
                          <a:solidFill>
                            <a:srgbClr val="0B1730"/>
                          </a:solidFill>
                          <a:latin typeface="Tahoma" pitchFamily="34" charset="0"/>
                          <a:ea typeface="Tahoma" pitchFamily="34" charset="-122"/>
                          <a:cs typeface="Tahoma" pitchFamily="34" charset="-120"/>
                        </a:rPr>
                        <a:t>AI (Google Gemini) on real transaction data</a:t>
                      </a:r>
                      <a:endParaRPr lang="en-US" sz="1200" dirty="0">
                        <a:latin typeface="Tahoma" charset="0"/>
                        <a:ea typeface="Tahoma" charset="0"/>
                        <a:cs typeface="Tahoma" charset="0"/>
                      </a:endParaRPr>
                    </a:p>
                  </a:txBody>
                  <a:tcPr marT="36576" marB="36576" anchor="ctr">
                    <a:lnL w="9525" cap="flat" cmpd="sng" algn="ctr">
                      <a:solidFill>
                        <a:srgbClr val="D9E3F0"/>
                      </a:solidFill>
                      <a:prstDash val="solid"/>
                      <a:round/>
                      <a:headEnd type="none" w="med" len="med"/>
                      <a:tailEnd type="none" w="med" len="med"/>
                    </a:lnL>
                    <a:lnR w="9525" cap="flat" cmpd="sng" algn="ctr">
                      <a:solidFill>
                        <a:srgbClr val="D9E3F0"/>
                      </a:solidFill>
                      <a:prstDash val="solid"/>
                      <a:round/>
                      <a:headEnd type="none" w="med" len="med"/>
                      <a:tailEnd type="none" w="med" len="med"/>
                    </a:lnR>
                    <a:lnT w="9525" cap="flat" cmpd="sng" algn="ctr">
                      <a:solidFill>
                        <a:srgbClr val="D9E3F0"/>
                      </a:solidFill>
                      <a:prstDash val="solid"/>
                      <a:round/>
                      <a:headEnd type="none" w="med" len="med"/>
                      <a:tailEnd type="none" w="med" len="med"/>
                    </a:lnT>
                    <a:lnB w="9525" cap="flat" cmpd="sng" algn="ctr">
                      <a:solidFill>
                        <a:srgbClr val="D9E3F0"/>
                      </a:solidFill>
                      <a:prstDash val="solid"/>
                      <a:round/>
                      <a:headEnd type="none" w="med" len="med"/>
                      <a:tailEnd type="none" w="med" len="med"/>
                    </a:lnB>
                    <a:solidFill>
                      <a:srgbClr val="DDF6FA"/>
                    </a:solidFill>
                  </a:tcPr>
                </a:tc>
                <a:extLst>
                  <a:ext uri="{0D108BD9-81ED-4DB2-BD59-A6C34878D82A}">
                    <a16:rowId xmlns:a16="http://schemas.microsoft.com/office/drawing/2014/main" val="10004"/>
                  </a:ext>
                </a:extLst>
              </a:tr>
            </a:tbl>
          </a:graphicData>
        </a:graphic>
      </p:graphicFrame>
      <p:sp>
        <p:nvSpPr>
          <p:cNvPr id="6" name="Text 2"/>
          <p:cNvSpPr txBox="1"/>
          <p:nvPr/>
        </p:nvSpPr>
        <p:spPr>
          <a:xfrm>
            <a:off x="548640" y="4572000"/>
            <a:ext cx="5486400" cy="274320"/>
          </a:xfrm>
          <a:prstGeom prst="rect">
            <a:avLst/>
          </a:prstGeom>
          <a:noFill/>
          <a:ln/>
        </p:spPr>
        <p:txBody>
          <a:bodyPr wrap="square" lIns="0" tIns="0" rIns="0" bIns="0" rtlCol="0" anchor="t"/>
          <a:lstStyle/>
          <a:p>
            <a:pPr marL="0" indent="0">
              <a:buNone/>
            </a:pPr>
            <a:r>
              <a:rPr lang="en-US" sz="1300" b="1" kern="0" spc="300" dirty="0">
                <a:solidFill>
                  <a:srgbClr val="0E7490"/>
                </a:solidFill>
                <a:latin typeface="Tahoma" pitchFamily="34" charset="0"/>
                <a:ea typeface="Tahoma" pitchFamily="34" charset="-122"/>
                <a:cs typeface="Tahoma" pitchFamily="34" charset="-120"/>
              </a:rPr>
              <a:t>WHAT MONEYTRACK AI ADDS</a:t>
            </a:r>
            <a:endParaRPr lang="en-US" sz="1300" dirty="0"/>
          </a:p>
        </p:txBody>
      </p:sp>
      <p:sp>
        <p:nvSpPr>
          <p:cNvPr id="7" name="Adds: Learns from your corrections"/>
          <p:cNvSpPr/>
          <p:nvPr/>
        </p:nvSpPr>
        <p:spPr>
          <a:xfrm>
            <a:off x="548640" y="4937760"/>
            <a:ext cx="2072579" cy="1371600"/>
          </a:xfrm>
          <a:prstGeom prst="roundRect">
            <a:avLst>
              <a:gd name="adj" fmla="val 8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8" name="Icon circle"/>
          <p:cNvSpPr/>
          <p:nvPr/>
        </p:nvSpPr>
        <p:spPr>
          <a:xfrm>
            <a:off x="731520" y="5120640"/>
            <a:ext cx="457200" cy="457200"/>
          </a:xfrm>
          <a:prstGeom prst="ellipse">
            <a:avLst/>
          </a:prstGeom>
          <a:solidFill>
            <a:srgbClr val="DCE8FE"/>
          </a:solidFill>
          <a:ln w="12700">
            <a:solidFill>
              <a:srgbClr val="DCE8FE"/>
            </a:solidFill>
            <a:prstDash val="solid"/>
          </a:ln>
        </p:spPr>
      </p:sp>
      <p:pic>
        <p:nvPicPr>
          <p:cNvPr id="9" name="Image 0" descr="SyncAlt icon"/>
          <p:cNvPicPr>
            <a:picLocks noChangeAspect="1"/>
          </p:cNvPicPr>
          <p:nvPr/>
        </p:nvPicPr>
        <p:blipFill>
          <a:blip r:embed="rId3"/>
          <a:stretch>
            <a:fillRect/>
          </a:stretch>
        </p:blipFill>
        <p:spPr>
          <a:xfrm>
            <a:off x="845820" y="5234940"/>
            <a:ext cx="228600" cy="228600"/>
          </a:xfrm>
          <a:prstGeom prst="rect">
            <a:avLst/>
          </a:prstGeom>
        </p:spPr>
      </p:pic>
      <p:sp>
        <p:nvSpPr>
          <p:cNvPr id="10" name="Text 5"/>
          <p:cNvSpPr txBox="1"/>
          <p:nvPr/>
        </p:nvSpPr>
        <p:spPr>
          <a:xfrm>
            <a:off x="731520" y="5669280"/>
            <a:ext cx="1706819" cy="594360"/>
          </a:xfrm>
          <a:prstGeom prst="rect">
            <a:avLst/>
          </a:prstGeom>
          <a:noFill/>
          <a:ln/>
        </p:spPr>
        <p:txBody>
          <a:bodyPr wrap="square" lIns="0" tIns="0" rIns="0" bIns="0" rtlCol="0" anchor="t"/>
          <a:lstStyle/>
          <a:p>
            <a:pPr marL="0" indent="0">
              <a:buNone/>
            </a:pPr>
            <a:r>
              <a:rPr lang="en-US" sz="1200" b="1" dirty="0">
                <a:solidFill>
                  <a:srgbClr val="0B1730"/>
                </a:solidFill>
                <a:latin typeface="Tahoma" pitchFamily="34" charset="0"/>
                <a:ea typeface="Tahoma" pitchFamily="34" charset="-122"/>
                <a:cs typeface="Tahoma" pitchFamily="34" charset="-120"/>
              </a:rPr>
              <a:t>Learns from your corrections</a:t>
            </a:r>
            <a:endParaRPr lang="en-US" sz="1200" dirty="0"/>
          </a:p>
        </p:txBody>
      </p:sp>
      <p:sp>
        <p:nvSpPr>
          <p:cNvPr id="11" name="Adds: Ask questions in plain English"/>
          <p:cNvSpPr/>
          <p:nvPr/>
        </p:nvSpPr>
        <p:spPr>
          <a:xfrm>
            <a:off x="2804099" y="4937760"/>
            <a:ext cx="2072579" cy="1371600"/>
          </a:xfrm>
          <a:prstGeom prst="roundRect">
            <a:avLst>
              <a:gd name="adj" fmla="val 8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2" name="Icon circle"/>
          <p:cNvSpPr/>
          <p:nvPr/>
        </p:nvSpPr>
        <p:spPr>
          <a:xfrm>
            <a:off x="2986979" y="5120640"/>
            <a:ext cx="457200" cy="457200"/>
          </a:xfrm>
          <a:prstGeom prst="ellipse">
            <a:avLst/>
          </a:prstGeom>
          <a:solidFill>
            <a:srgbClr val="CFF1F7"/>
          </a:solidFill>
          <a:ln w="12700">
            <a:solidFill>
              <a:srgbClr val="CFF1F7"/>
            </a:solidFill>
            <a:prstDash val="solid"/>
          </a:ln>
        </p:spPr>
      </p:sp>
      <p:pic>
        <p:nvPicPr>
          <p:cNvPr id="13" name="Image 1" descr="Comments icon"/>
          <p:cNvPicPr>
            <a:picLocks noChangeAspect="1"/>
          </p:cNvPicPr>
          <p:nvPr/>
        </p:nvPicPr>
        <p:blipFill>
          <a:blip r:embed="rId4"/>
          <a:stretch>
            <a:fillRect/>
          </a:stretch>
        </p:blipFill>
        <p:spPr>
          <a:xfrm>
            <a:off x="3101279" y="5234940"/>
            <a:ext cx="228600" cy="228600"/>
          </a:xfrm>
          <a:prstGeom prst="rect">
            <a:avLst/>
          </a:prstGeom>
        </p:spPr>
      </p:pic>
      <p:sp>
        <p:nvSpPr>
          <p:cNvPr id="14" name="Text 8"/>
          <p:cNvSpPr txBox="1"/>
          <p:nvPr/>
        </p:nvSpPr>
        <p:spPr>
          <a:xfrm>
            <a:off x="2986979" y="5669280"/>
            <a:ext cx="1706819" cy="594360"/>
          </a:xfrm>
          <a:prstGeom prst="rect">
            <a:avLst/>
          </a:prstGeom>
          <a:noFill/>
          <a:ln/>
        </p:spPr>
        <p:txBody>
          <a:bodyPr wrap="square" lIns="0" tIns="0" rIns="0" bIns="0" rtlCol="0" anchor="t"/>
          <a:lstStyle/>
          <a:p>
            <a:pPr marL="0" indent="0">
              <a:buNone/>
            </a:pPr>
            <a:r>
              <a:rPr lang="en-US" sz="1200" b="1" dirty="0">
                <a:solidFill>
                  <a:srgbClr val="0B1730"/>
                </a:solidFill>
                <a:latin typeface="Tahoma" pitchFamily="34" charset="0"/>
                <a:ea typeface="Tahoma" pitchFamily="34" charset="-122"/>
                <a:cs typeface="Tahoma" pitchFamily="34" charset="-120"/>
              </a:rPr>
              <a:t>Ask questions in plain English</a:t>
            </a:r>
            <a:endParaRPr lang="en-US" sz="1200" dirty="0"/>
          </a:p>
        </p:txBody>
      </p:sp>
      <p:sp>
        <p:nvSpPr>
          <p:cNvPr id="15" name="Adds: Savings goals and month-end forecast"/>
          <p:cNvSpPr/>
          <p:nvPr/>
        </p:nvSpPr>
        <p:spPr>
          <a:xfrm>
            <a:off x="5059558" y="4937760"/>
            <a:ext cx="2072579" cy="1371600"/>
          </a:xfrm>
          <a:prstGeom prst="roundRect">
            <a:avLst>
              <a:gd name="adj" fmla="val 8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6" name="Icon circle"/>
          <p:cNvSpPr/>
          <p:nvPr/>
        </p:nvSpPr>
        <p:spPr>
          <a:xfrm>
            <a:off x="5242438" y="5120640"/>
            <a:ext cx="457200" cy="457200"/>
          </a:xfrm>
          <a:prstGeom prst="ellipse">
            <a:avLst/>
          </a:prstGeom>
          <a:solidFill>
            <a:srgbClr val="D5F5E8"/>
          </a:solidFill>
          <a:ln w="12700">
            <a:solidFill>
              <a:srgbClr val="D5F5E8"/>
            </a:solidFill>
            <a:prstDash val="solid"/>
          </a:ln>
        </p:spPr>
      </p:sp>
      <p:pic>
        <p:nvPicPr>
          <p:cNvPr id="17" name="Image 2" descr="PiggyBank icon"/>
          <p:cNvPicPr>
            <a:picLocks noChangeAspect="1"/>
          </p:cNvPicPr>
          <p:nvPr/>
        </p:nvPicPr>
        <p:blipFill>
          <a:blip r:embed="rId5"/>
          <a:stretch>
            <a:fillRect/>
          </a:stretch>
        </p:blipFill>
        <p:spPr>
          <a:xfrm>
            <a:off x="5356738" y="5234940"/>
            <a:ext cx="228600" cy="228600"/>
          </a:xfrm>
          <a:prstGeom prst="rect">
            <a:avLst/>
          </a:prstGeom>
        </p:spPr>
      </p:pic>
      <p:sp>
        <p:nvSpPr>
          <p:cNvPr id="18" name="Text 11"/>
          <p:cNvSpPr txBox="1"/>
          <p:nvPr/>
        </p:nvSpPr>
        <p:spPr>
          <a:xfrm>
            <a:off x="5242438" y="5669280"/>
            <a:ext cx="1706819" cy="594360"/>
          </a:xfrm>
          <a:prstGeom prst="rect">
            <a:avLst/>
          </a:prstGeom>
          <a:noFill/>
          <a:ln/>
        </p:spPr>
        <p:txBody>
          <a:bodyPr wrap="square" lIns="0" tIns="0" rIns="0" bIns="0" rtlCol="0" anchor="t"/>
          <a:lstStyle/>
          <a:p>
            <a:pPr marL="0" indent="0">
              <a:buNone/>
            </a:pPr>
            <a:r>
              <a:rPr lang="en-US" sz="1200" b="1" dirty="0">
                <a:solidFill>
                  <a:srgbClr val="0B1730"/>
                </a:solidFill>
                <a:latin typeface="Tahoma" pitchFamily="34" charset="0"/>
                <a:ea typeface="Tahoma" pitchFamily="34" charset="-122"/>
                <a:cs typeface="Tahoma" pitchFamily="34" charset="-120"/>
              </a:rPr>
              <a:t>Savings goals and month-end forecast</a:t>
            </a:r>
            <a:endParaRPr lang="en-US" sz="1200" dirty="0"/>
          </a:p>
        </p:txBody>
      </p:sp>
      <p:sp>
        <p:nvSpPr>
          <p:cNvPr id="19" name="Adds: Privacy masking (hides account numbers)"/>
          <p:cNvSpPr/>
          <p:nvPr/>
        </p:nvSpPr>
        <p:spPr>
          <a:xfrm>
            <a:off x="7315017" y="4937760"/>
            <a:ext cx="2072579" cy="1371600"/>
          </a:xfrm>
          <a:prstGeom prst="roundRect">
            <a:avLst>
              <a:gd name="adj" fmla="val 8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0" name="Icon circle"/>
          <p:cNvSpPr/>
          <p:nvPr/>
        </p:nvSpPr>
        <p:spPr>
          <a:xfrm>
            <a:off x="7497897" y="5120640"/>
            <a:ext cx="457200" cy="457200"/>
          </a:xfrm>
          <a:prstGeom prst="ellipse">
            <a:avLst/>
          </a:prstGeom>
          <a:solidFill>
            <a:srgbClr val="DCE8FE"/>
          </a:solidFill>
          <a:ln w="12700">
            <a:solidFill>
              <a:srgbClr val="DCE8FE"/>
            </a:solidFill>
            <a:prstDash val="solid"/>
          </a:ln>
        </p:spPr>
      </p:sp>
      <p:pic>
        <p:nvPicPr>
          <p:cNvPr id="21" name="Image 3" descr="EyeSlash icon"/>
          <p:cNvPicPr>
            <a:picLocks noChangeAspect="1"/>
          </p:cNvPicPr>
          <p:nvPr/>
        </p:nvPicPr>
        <p:blipFill>
          <a:blip r:embed="rId6"/>
          <a:stretch>
            <a:fillRect/>
          </a:stretch>
        </p:blipFill>
        <p:spPr>
          <a:xfrm>
            <a:off x="7612197" y="5234940"/>
            <a:ext cx="228600" cy="228600"/>
          </a:xfrm>
          <a:prstGeom prst="rect">
            <a:avLst/>
          </a:prstGeom>
        </p:spPr>
      </p:pic>
      <p:sp>
        <p:nvSpPr>
          <p:cNvPr id="22" name="Text 14"/>
          <p:cNvSpPr txBox="1"/>
          <p:nvPr/>
        </p:nvSpPr>
        <p:spPr>
          <a:xfrm>
            <a:off x="7497897" y="5669280"/>
            <a:ext cx="1706819" cy="594360"/>
          </a:xfrm>
          <a:prstGeom prst="rect">
            <a:avLst/>
          </a:prstGeom>
          <a:noFill/>
          <a:ln/>
        </p:spPr>
        <p:txBody>
          <a:bodyPr wrap="square" lIns="0" tIns="0" rIns="0" bIns="0" rtlCol="0" anchor="t"/>
          <a:lstStyle/>
          <a:p>
            <a:pPr marL="0" indent="0">
              <a:buNone/>
            </a:pPr>
            <a:r>
              <a:rPr lang="en-US" sz="1200" b="1" dirty="0">
                <a:solidFill>
                  <a:srgbClr val="0B1730"/>
                </a:solidFill>
                <a:latin typeface="Tahoma" pitchFamily="34" charset="0"/>
                <a:ea typeface="Tahoma" pitchFamily="34" charset="-122"/>
                <a:cs typeface="Tahoma" pitchFamily="34" charset="-120"/>
              </a:rPr>
              <a:t>Privacy masking (hides account numbers)</a:t>
            </a:r>
            <a:endParaRPr lang="en-US" sz="1200" dirty="0"/>
          </a:p>
        </p:txBody>
      </p:sp>
      <p:sp>
        <p:nvSpPr>
          <p:cNvPr id="23" name="Adds: Password-protected PDFs"/>
          <p:cNvSpPr/>
          <p:nvPr/>
        </p:nvSpPr>
        <p:spPr>
          <a:xfrm>
            <a:off x="9570476" y="4937760"/>
            <a:ext cx="2072579" cy="1371600"/>
          </a:xfrm>
          <a:prstGeom prst="roundRect">
            <a:avLst>
              <a:gd name="adj" fmla="val 8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4" name="Icon circle"/>
          <p:cNvSpPr/>
          <p:nvPr/>
        </p:nvSpPr>
        <p:spPr>
          <a:xfrm>
            <a:off x="9753356" y="5120640"/>
            <a:ext cx="457200" cy="457200"/>
          </a:xfrm>
          <a:prstGeom prst="ellipse">
            <a:avLst/>
          </a:prstGeom>
          <a:solidFill>
            <a:srgbClr val="CFF1F7"/>
          </a:solidFill>
          <a:ln w="12700">
            <a:solidFill>
              <a:srgbClr val="CFF1F7"/>
            </a:solidFill>
            <a:prstDash val="solid"/>
          </a:ln>
        </p:spPr>
      </p:sp>
      <p:pic>
        <p:nvPicPr>
          <p:cNvPr id="25" name="Image 4" descr="Lock icon"/>
          <p:cNvPicPr>
            <a:picLocks noChangeAspect="1"/>
          </p:cNvPicPr>
          <p:nvPr/>
        </p:nvPicPr>
        <p:blipFill>
          <a:blip r:embed="rId7"/>
          <a:stretch>
            <a:fillRect/>
          </a:stretch>
        </p:blipFill>
        <p:spPr>
          <a:xfrm>
            <a:off x="9867656" y="5234940"/>
            <a:ext cx="228600" cy="228600"/>
          </a:xfrm>
          <a:prstGeom prst="rect">
            <a:avLst/>
          </a:prstGeom>
        </p:spPr>
      </p:pic>
      <p:sp>
        <p:nvSpPr>
          <p:cNvPr id="26" name="Text 17"/>
          <p:cNvSpPr txBox="1"/>
          <p:nvPr/>
        </p:nvSpPr>
        <p:spPr>
          <a:xfrm>
            <a:off x="9753356" y="5669280"/>
            <a:ext cx="1706819" cy="594360"/>
          </a:xfrm>
          <a:prstGeom prst="rect">
            <a:avLst/>
          </a:prstGeom>
          <a:noFill/>
          <a:ln/>
        </p:spPr>
        <p:txBody>
          <a:bodyPr wrap="square" lIns="0" tIns="0" rIns="0" bIns="0" rtlCol="0" anchor="t"/>
          <a:lstStyle/>
          <a:p>
            <a:pPr marL="0" indent="0">
              <a:buNone/>
            </a:pPr>
            <a:r>
              <a:rPr lang="en-US" sz="1200" b="1" dirty="0">
                <a:solidFill>
                  <a:srgbClr val="0B1730"/>
                </a:solidFill>
                <a:latin typeface="Tahoma" pitchFamily="34" charset="0"/>
                <a:ea typeface="Tahoma" pitchFamily="34" charset="-122"/>
                <a:cs typeface="Tahoma" pitchFamily="34" charset="-120"/>
              </a:rPr>
              <a:t>Password-protected PDFs</a:t>
            </a:r>
            <a:endParaRPr lang="en-US" sz="120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System Architecture</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HOW THE PARTS OF MONEYTRACK AI FIT TOGETHER</a:t>
            </a:r>
            <a:endParaRPr lang="en-US" sz="120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5</a:t>
            </a:fld>
            <a:endParaRPr lang="en-US"/>
          </a:p>
        </p:txBody>
      </p:sp>
      <p:sp>
        <p:nvSpPr>
          <p:cNvPr id="5" name="Frontend card"/>
          <p:cNvSpPr/>
          <p:nvPr/>
        </p:nvSpPr>
        <p:spPr>
          <a:xfrm>
            <a:off x="548640" y="1325880"/>
            <a:ext cx="2286000" cy="411480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40" name="Icon circle frontend"/>
          <p:cNvSpPr/>
          <p:nvPr/>
        </p:nvSpPr>
        <p:spPr>
          <a:xfrm>
            <a:off x="731520" y="1508760"/>
            <a:ext cx="548640" cy="548640"/>
          </a:xfrm>
          <a:prstGeom prst="ellipse">
            <a:avLst/>
          </a:prstGeom>
          <a:solidFill>
            <a:srgbClr val="DCE8FE"/>
          </a:solidFill>
          <a:ln w="12700">
            <a:solidFill>
              <a:srgbClr val="FDEFCF"/>
            </a:solidFill>
            <a:prstDash val="solid"/>
          </a:ln>
        </p:spPr>
      </p:sp>
      <p:pic>
        <p:nvPicPr>
          <p:cNvPr id="41" name="Icon frontend" descr="desktop.png"/>
          <p:cNvPicPr>
            <a:picLocks noChangeAspect="1"/>
          </p:cNvPicPr>
          <p:nvPr/>
        </p:nvPicPr>
        <p:blipFill>
          <a:blip r:embed="rId3"/>
          <a:stretch>
            <a:fillRect/>
          </a:stretch>
        </p:blipFill>
        <p:spPr>
          <a:xfrm>
            <a:off x="868680" y="1645919"/>
            <a:ext cx="274320" cy="274320"/>
          </a:xfrm>
          <a:prstGeom prst="rect">
            <a:avLst/>
          </a:prstGeom>
        </p:spPr>
      </p:pic>
      <p:sp>
        <p:nvSpPr>
          <p:cNvPr id="42" name="Frontend title"/>
          <p:cNvSpPr txBox="1"/>
          <p:nvPr/>
        </p:nvSpPr>
        <p:spPr>
          <a:xfrm>
            <a:off x="1417320" y="1527048"/>
            <a:ext cx="1325880" cy="548640"/>
          </a:xfrm>
          <a:prstGeom prst="rect">
            <a:avLst/>
          </a:prstGeom>
          <a:noFill/>
        </p:spPr>
        <p:txBody>
          <a:bodyPr wrap="square" lIns="0" tIns="0" rIns="0" bIns="0" anchor="ctr">
            <a:spAutoFit/>
          </a:bodyPr>
          <a:lstStyle/>
          <a:p>
            <a:pPr algn="l"/>
            <a:r>
              <a:rPr sz="1700" b="1">
                <a:solidFill>
                  <a:srgbClr val="2563EB"/>
                </a:solidFill>
                <a:latin typeface="Tahoma"/>
              </a:rPr>
              <a:t>Frontend</a:t>
            </a:r>
          </a:p>
          <a:p>
            <a:pPr algn="l"/>
            <a:r>
              <a:rPr sz="1100" b="0">
                <a:solidFill>
                  <a:srgbClr val="53627A"/>
                </a:solidFill>
                <a:latin typeface="Tahoma"/>
              </a:rPr>
              <a:t>React, in the browser</a:t>
            </a:r>
          </a:p>
        </p:txBody>
      </p:sp>
      <p:sp>
        <p:nvSpPr>
          <p:cNvPr id="43" name="Frontend chip 1"/>
          <p:cNvSpPr/>
          <p:nvPr/>
        </p:nvSpPr>
        <p:spPr>
          <a:xfrm>
            <a:off x="731520" y="2331720"/>
            <a:ext cx="1920240" cy="640080"/>
          </a:xfrm>
          <a:prstGeom prst="roundRect">
            <a:avLst>
              <a:gd name="adj" fmla="val 12000"/>
            </a:avLst>
          </a:prstGeom>
          <a:solidFill>
            <a:srgbClr val="DCE8FE"/>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ctr"/>
          <a:lstStyle/>
          <a:p>
            <a:pPr algn="l"/>
            <a:r>
              <a:rPr sz="1200" b="0">
                <a:solidFill>
                  <a:srgbClr val="0B1730"/>
                </a:solidFill>
                <a:latin typeface="Tahoma"/>
              </a:rPr>
              <a:t>Login and Register</a:t>
            </a:r>
          </a:p>
        </p:txBody>
      </p:sp>
      <p:sp>
        <p:nvSpPr>
          <p:cNvPr id="44" name="Frontend chip 2"/>
          <p:cNvSpPr/>
          <p:nvPr/>
        </p:nvSpPr>
        <p:spPr>
          <a:xfrm>
            <a:off x="731520" y="3081527"/>
            <a:ext cx="1920240" cy="640080"/>
          </a:xfrm>
          <a:prstGeom prst="roundRect">
            <a:avLst>
              <a:gd name="adj" fmla="val 12000"/>
            </a:avLst>
          </a:prstGeom>
          <a:solidFill>
            <a:srgbClr val="DCE8FE"/>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ctr"/>
          <a:lstStyle/>
          <a:p>
            <a:pPr algn="l"/>
            <a:r>
              <a:rPr sz="1200" b="0">
                <a:solidFill>
                  <a:srgbClr val="0B1730"/>
                </a:solidFill>
                <a:latin typeface="Tahoma"/>
              </a:rPr>
              <a:t>Upload statement (PDF / CSV)</a:t>
            </a:r>
          </a:p>
        </p:txBody>
      </p:sp>
      <p:sp>
        <p:nvSpPr>
          <p:cNvPr id="45" name="Frontend chip 3"/>
          <p:cNvSpPr/>
          <p:nvPr/>
        </p:nvSpPr>
        <p:spPr>
          <a:xfrm>
            <a:off x="731520" y="3831335"/>
            <a:ext cx="1920240" cy="640080"/>
          </a:xfrm>
          <a:prstGeom prst="roundRect">
            <a:avLst>
              <a:gd name="adj" fmla="val 12000"/>
            </a:avLst>
          </a:prstGeom>
          <a:solidFill>
            <a:srgbClr val="DCE8FE"/>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ctr"/>
          <a:lstStyle/>
          <a:p>
            <a:pPr algn="l"/>
            <a:r>
              <a:rPr sz="1200" b="0">
                <a:solidFill>
                  <a:srgbClr val="0B1730"/>
                </a:solidFill>
                <a:latin typeface="Tahoma"/>
              </a:rPr>
              <a:t>Dashboard and charts</a:t>
            </a:r>
          </a:p>
        </p:txBody>
      </p:sp>
      <p:sp>
        <p:nvSpPr>
          <p:cNvPr id="46" name="Frontend chip 4"/>
          <p:cNvSpPr/>
          <p:nvPr/>
        </p:nvSpPr>
        <p:spPr>
          <a:xfrm>
            <a:off x="731520" y="4581144"/>
            <a:ext cx="1920240" cy="640080"/>
          </a:xfrm>
          <a:prstGeom prst="roundRect">
            <a:avLst>
              <a:gd name="adj" fmla="val 12000"/>
            </a:avLst>
          </a:prstGeom>
          <a:solidFill>
            <a:srgbClr val="DCE8FE"/>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ctr"/>
          <a:lstStyle/>
          <a:p>
            <a:pPr algn="l"/>
            <a:r>
              <a:rPr sz="1200" b="0">
                <a:solidFill>
                  <a:srgbClr val="0B1730"/>
                </a:solidFill>
                <a:latin typeface="Tahoma"/>
              </a:rPr>
              <a:t>Ask Montra (chat)</a:t>
            </a:r>
          </a:p>
        </p:txBody>
      </p:sp>
      <p:sp>
        <p:nvSpPr>
          <p:cNvPr id="6" name="Backend card"/>
          <p:cNvSpPr/>
          <p:nvPr/>
        </p:nvSpPr>
        <p:spPr>
          <a:xfrm>
            <a:off x="3657600" y="1325880"/>
            <a:ext cx="4389120" cy="411480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7" name="Icon circle backend"/>
          <p:cNvSpPr/>
          <p:nvPr/>
        </p:nvSpPr>
        <p:spPr>
          <a:xfrm>
            <a:off x="3840480" y="1508760"/>
            <a:ext cx="548640" cy="548640"/>
          </a:xfrm>
          <a:prstGeom prst="ellipse">
            <a:avLst/>
          </a:prstGeom>
          <a:solidFill>
            <a:srgbClr val="CFF1F7"/>
          </a:solidFill>
          <a:ln w="12700">
            <a:solidFill>
              <a:srgbClr val="FDEFCF"/>
            </a:solidFill>
            <a:prstDash val="solid"/>
          </a:ln>
        </p:spPr>
      </p:sp>
      <p:pic>
        <p:nvPicPr>
          <p:cNvPr id="47" name="Icon backend" descr="server.png"/>
          <p:cNvPicPr>
            <a:picLocks noChangeAspect="1"/>
          </p:cNvPicPr>
          <p:nvPr/>
        </p:nvPicPr>
        <p:blipFill>
          <a:blip r:embed="rId4"/>
          <a:stretch>
            <a:fillRect/>
          </a:stretch>
        </p:blipFill>
        <p:spPr>
          <a:xfrm>
            <a:off x="3977640" y="1645919"/>
            <a:ext cx="274320" cy="274320"/>
          </a:xfrm>
          <a:prstGeom prst="rect">
            <a:avLst/>
          </a:prstGeom>
        </p:spPr>
      </p:pic>
      <p:sp>
        <p:nvSpPr>
          <p:cNvPr id="48" name="Backend title"/>
          <p:cNvSpPr txBox="1"/>
          <p:nvPr/>
        </p:nvSpPr>
        <p:spPr>
          <a:xfrm>
            <a:off x="4526280" y="1527048"/>
            <a:ext cx="3383280" cy="548640"/>
          </a:xfrm>
          <a:prstGeom prst="rect">
            <a:avLst/>
          </a:prstGeom>
          <a:noFill/>
        </p:spPr>
        <p:txBody>
          <a:bodyPr wrap="square" lIns="0" tIns="0" rIns="0" bIns="0" anchor="ctr">
            <a:spAutoFit/>
          </a:bodyPr>
          <a:lstStyle/>
          <a:p>
            <a:pPr algn="l"/>
            <a:r>
              <a:rPr sz="1700" b="1">
                <a:solidFill>
                  <a:srgbClr val="0E7490"/>
                </a:solidFill>
                <a:latin typeface="Tahoma"/>
              </a:rPr>
              <a:t>Backend</a:t>
            </a:r>
          </a:p>
          <a:p>
            <a:pPr algn="l"/>
            <a:r>
              <a:rPr sz="1100" b="0">
                <a:solidFill>
                  <a:srgbClr val="53627A"/>
                </a:solidFill>
                <a:latin typeface="Tahoma"/>
              </a:rPr>
              <a:t>Spring Boot (Java 21), REST API</a:t>
            </a:r>
          </a:p>
        </p:txBody>
      </p:sp>
      <p:sp>
        <p:nvSpPr>
          <p:cNvPr id="49" name="Security chip"/>
          <p:cNvSpPr/>
          <p:nvPr/>
        </p:nvSpPr>
        <p:spPr>
          <a:xfrm>
            <a:off x="3840480" y="2286000"/>
            <a:ext cx="4023360" cy="457200"/>
          </a:xfrm>
          <a:prstGeom prst="roundRect">
            <a:avLst>
              <a:gd name="adj" fmla="val 12000"/>
            </a:avLst>
          </a:prstGeom>
          <a:solidFill>
            <a:srgbClr val="CFF1F7"/>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ctr"/>
          <a:lstStyle/>
          <a:p>
            <a:pPr algn="l"/>
            <a:r>
              <a:rPr sz="1200" b="1">
                <a:solidFill>
                  <a:srgbClr val="0B1730"/>
                </a:solidFill>
                <a:latin typeface="Tahoma"/>
              </a:rPr>
              <a:t>Security: </a:t>
            </a:r>
            <a:r>
              <a:rPr sz="1200" b="0">
                <a:solidFill>
                  <a:srgbClr val="0B1730"/>
                </a:solidFill>
                <a:latin typeface="Tahoma"/>
              </a:rPr>
              <a:t>JWT sign-in check, own data only</a:t>
            </a:r>
          </a:p>
        </p:txBody>
      </p:sp>
      <p:sp>
        <p:nvSpPr>
          <p:cNvPr id="50" name="Controller chip"/>
          <p:cNvSpPr/>
          <p:nvPr/>
        </p:nvSpPr>
        <p:spPr>
          <a:xfrm>
            <a:off x="3840480" y="2834640"/>
            <a:ext cx="4023360" cy="457200"/>
          </a:xfrm>
          <a:prstGeom prst="roundRect">
            <a:avLst>
              <a:gd name="adj" fmla="val 12000"/>
            </a:avLst>
          </a:prstGeom>
          <a:solidFill>
            <a:srgbClr val="CFF1F7"/>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ctr"/>
          <a:lstStyle/>
          <a:p>
            <a:pPr algn="l"/>
            <a:r>
              <a:rPr sz="1200" b="1">
                <a:solidFill>
                  <a:srgbClr val="0B1730"/>
                </a:solidFill>
                <a:latin typeface="Tahoma"/>
              </a:rPr>
              <a:t>Controllers: </a:t>
            </a:r>
            <a:r>
              <a:rPr sz="1200" b="0">
                <a:solidFill>
                  <a:srgbClr val="0B1730"/>
                </a:solidFill>
                <a:latin typeface="Tahoma"/>
              </a:rPr>
              <a:t>receive each request</a:t>
            </a:r>
          </a:p>
        </p:txBody>
      </p:sp>
      <p:sp>
        <p:nvSpPr>
          <p:cNvPr id="51" name="Service chip 1"/>
          <p:cNvSpPr/>
          <p:nvPr/>
        </p:nvSpPr>
        <p:spPr>
          <a:xfrm>
            <a:off x="3840480" y="3383280"/>
            <a:ext cx="1280160" cy="1280160"/>
          </a:xfrm>
          <a:prstGeom prst="roundRect">
            <a:avLst>
              <a:gd name="adj" fmla="val 12000"/>
            </a:avLst>
          </a:prstGeom>
          <a:solidFill>
            <a:srgbClr val="DCE8FE"/>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t"/>
          <a:lstStyle/>
          <a:p>
            <a:pPr algn="l"/>
            <a:r>
              <a:rPr sz="1100" b="1">
                <a:solidFill>
                  <a:srgbClr val="0B1730"/>
                </a:solidFill>
                <a:latin typeface="Tahoma"/>
              </a:rPr>
              <a:t>Statement readers</a:t>
            </a:r>
          </a:p>
          <a:p>
            <a:pPr algn="l"/>
            <a:r>
              <a:rPr sz="1100" b="0">
                <a:solidFill>
                  <a:srgbClr val="53627A"/>
                </a:solidFill>
                <a:latin typeface="Tahoma"/>
              </a:rPr>
              <a:t>PDFBox and CSV, into one common format</a:t>
            </a:r>
          </a:p>
        </p:txBody>
      </p:sp>
      <p:sp>
        <p:nvSpPr>
          <p:cNvPr id="52" name="Service chip 2"/>
          <p:cNvSpPr/>
          <p:nvPr/>
        </p:nvSpPr>
        <p:spPr>
          <a:xfrm>
            <a:off x="5212080" y="3383280"/>
            <a:ext cx="1280160" cy="1280160"/>
          </a:xfrm>
          <a:prstGeom prst="roundRect">
            <a:avLst>
              <a:gd name="adj" fmla="val 12000"/>
            </a:avLst>
          </a:prstGeom>
          <a:solidFill>
            <a:srgbClr val="FDEFCF"/>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t"/>
          <a:lstStyle/>
          <a:p>
            <a:pPr algn="l"/>
            <a:r>
              <a:rPr sz="1100" b="1">
                <a:solidFill>
                  <a:srgbClr val="0B1730"/>
                </a:solidFill>
                <a:latin typeface="Tahoma"/>
              </a:rPr>
              <a:t>Categorisation</a:t>
            </a:r>
          </a:p>
          <a:p>
            <a:pPr algn="l"/>
            <a:r>
              <a:rPr sz="1100" b="0">
                <a:solidFill>
                  <a:srgbClr val="53627A"/>
                </a:solidFill>
                <a:latin typeface="Tahoma"/>
              </a:rPr>
              <a:t>Your rules, keyword rules, then Gemini AI</a:t>
            </a:r>
          </a:p>
        </p:txBody>
      </p:sp>
      <p:sp>
        <p:nvSpPr>
          <p:cNvPr id="53" name="Service chip 3"/>
          <p:cNvSpPr/>
          <p:nvPr/>
        </p:nvSpPr>
        <p:spPr>
          <a:xfrm>
            <a:off x="6583680" y="3383280"/>
            <a:ext cx="1280160" cy="1280160"/>
          </a:xfrm>
          <a:prstGeom prst="roundRect">
            <a:avLst>
              <a:gd name="adj" fmla="val 12000"/>
            </a:avLst>
          </a:prstGeom>
          <a:solidFill>
            <a:srgbClr val="DCE8FE"/>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t"/>
          <a:lstStyle/>
          <a:p>
            <a:pPr algn="l"/>
            <a:r>
              <a:rPr sz="1100" b="1">
                <a:solidFill>
                  <a:srgbClr val="0B1730"/>
                </a:solidFill>
                <a:latin typeface="Tahoma"/>
              </a:rPr>
              <a:t>Planning and insights</a:t>
            </a:r>
          </a:p>
          <a:p>
            <a:pPr algn="l"/>
            <a:r>
              <a:rPr sz="1100" b="0">
                <a:solidFill>
                  <a:srgbClr val="53627A"/>
                </a:solidFill>
                <a:latin typeface="Tahoma"/>
              </a:rPr>
              <a:t>Budgets, goals, forecast, tips, Montra</a:t>
            </a:r>
          </a:p>
        </p:txBody>
      </p:sp>
      <p:sp>
        <p:nvSpPr>
          <p:cNvPr id="54" name="Repository chip"/>
          <p:cNvSpPr/>
          <p:nvPr/>
        </p:nvSpPr>
        <p:spPr>
          <a:xfrm>
            <a:off x="3840480" y="4754880"/>
            <a:ext cx="4023360" cy="502920"/>
          </a:xfrm>
          <a:prstGeom prst="roundRect">
            <a:avLst>
              <a:gd name="adj" fmla="val 12000"/>
            </a:avLst>
          </a:prstGeom>
          <a:solidFill>
            <a:srgbClr val="CFF1F7"/>
          </a:solidFill>
          <a:ln>
            <a:noFill/>
          </a:ln>
          <a:effectLst/>
        </p:spPr>
        <p:style>
          <a:lnRef idx="1">
            <a:schemeClr val="accent1"/>
          </a:lnRef>
          <a:fillRef idx="3">
            <a:schemeClr val="accent1"/>
          </a:fillRef>
          <a:effectRef idx="2">
            <a:schemeClr val="accent1"/>
          </a:effectRef>
          <a:fontRef idx="minor">
            <a:schemeClr val="lt1"/>
          </a:fontRef>
        </p:style>
        <p:txBody>
          <a:bodyPr wrap="square" lIns="82296" rIns="82296" rtlCol="0" anchor="ctr"/>
          <a:lstStyle/>
          <a:p>
            <a:pPr algn="l"/>
            <a:r>
              <a:rPr sz="1200" b="1">
                <a:solidFill>
                  <a:srgbClr val="0B1730"/>
                </a:solidFill>
                <a:latin typeface="Tahoma"/>
              </a:rPr>
              <a:t>Repositories: </a:t>
            </a:r>
            <a:r>
              <a:rPr sz="1200" b="0">
                <a:solidFill>
                  <a:srgbClr val="0B1730"/>
                </a:solidFill>
                <a:latin typeface="Tahoma"/>
              </a:rPr>
              <a:t>save and load data (JPA)</a:t>
            </a:r>
          </a:p>
        </p:txBody>
      </p:sp>
      <p:sp>
        <p:nvSpPr>
          <p:cNvPr id="8" name="Database card"/>
          <p:cNvSpPr/>
          <p:nvPr/>
        </p:nvSpPr>
        <p:spPr>
          <a:xfrm>
            <a:off x="8869680" y="1325880"/>
            <a:ext cx="2770632" cy="178308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9" name="Icon circle database"/>
          <p:cNvSpPr/>
          <p:nvPr/>
        </p:nvSpPr>
        <p:spPr>
          <a:xfrm>
            <a:off x="9052560" y="1463039"/>
            <a:ext cx="548640" cy="548640"/>
          </a:xfrm>
          <a:prstGeom prst="ellipse">
            <a:avLst/>
          </a:prstGeom>
          <a:solidFill>
            <a:srgbClr val="CFF1F7"/>
          </a:solidFill>
          <a:ln w="12700">
            <a:solidFill>
              <a:srgbClr val="FDEFCF"/>
            </a:solidFill>
            <a:prstDash val="solid"/>
          </a:ln>
        </p:spPr>
      </p:sp>
      <p:pic>
        <p:nvPicPr>
          <p:cNvPr id="55" name="Icon database" descr="image.png"/>
          <p:cNvPicPr>
            <a:picLocks noChangeAspect="1"/>
          </p:cNvPicPr>
          <p:nvPr/>
        </p:nvPicPr>
        <p:blipFill>
          <a:blip r:embed="rId5"/>
          <a:stretch>
            <a:fillRect/>
          </a:stretch>
        </p:blipFill>
        <p:spPr>
          <a:xfrm>
            <a:off x="9189720" y="1600199"/>
            <a:ext cx="274320" cy="274320"/>
          </a:xfrm>
          <a:prstGeom prst="rect">
            <a:avLst/>
          </a:prstGeom>
        </p:spPr>
      </p:pic>
      <p:sp>
        <p:nvSpPr>
          <p:cNvPr id="56" name="Database title"/>
          <p:cNvSpPr txBox="1"/>
          <p:nvPr/>
        </p:nvSpPr>
        <p:spPr>
          <a:xfrm>
            <a:off x="9738360" y="1463039"/>
            <a:ext cx="1783080" cy="548640"/>
          </a:xfrm>
          <a:prstGeom prst="rect">
            <a:avLst/>
          </a:prstGeom>
          <a:noFill/>
        </p:spPr>
        <p:txBody>
          <a:bodyPr wrap="square" lIns="0" tIns="0" rIns="0" bIns="0" anchor="ctr">
            <a:spAutoFit/>
          </a:bodyPr>
          <a:lstStyle/>
          <a:p>
            <a:pPr algn="l"/>
            <a:r>
              <a:rPr sz="1700" b="1">
                <a:solidFill>
                  <a:srgbClr val="0E7490"/>
                </a:solidFill>
                <a:latin typeface="Tahoma"/>
              </a:rPr>
              <a:t>MySQL</a:t>
            </a:r>
          </a:p>
          <a:p>
            <a:pPr algn="l"/>
            <a:r>
              <a:rPr sz="1100" b="0">
                <a:solidFill>
                  <a:srgbClr val="53627A"/>
                </a:solidFill>
                <a:latin typeface="Tahoma"/>
              </a:rPr>
              <a:t>Database</a:t>
            </a:r>
          </a:p>
        </p:txBody>
      </p:sp>
      <p:sp>
        <p:nvSpPr>
          <p:cNvPr id="57" name="Database text"/>
          <p:cNvSpPr txBox="1"/>
          <p:nvPr/>
        </p:nvSpPr>
        <p:spPr>
          <a:xfrm>
            <a:off x="9052560" y="2148840"/>
            <a:ext cx="2423160" cy="868680"/>
          </a:xfrm>
          <a:prstGeom prst="rect">
            <a:avLst/>
          </a:prstGeom>
          <a:noFill/>
        </p:spPr>
        <p:txBody>
          <a:bodyPr wrap="square" lIns="0" tIns="0" rIns="0" bIns="0" anchor="t">
            <a:spAutoFit/>
          </a:bodyPr>
          <a:lstStyle/>
          <a:p>
            <a:pPr algn="l"/>
            <a:r>
              <a:rPr sz="1200" b="0">
                <a:solidFill>
                  <a:srgbClr val="53627A"/>
                </a:solidFill>
                <a:latin typeface="Tahoma"/>
              </a:rPr>
              <a:t>Users, transactions, budgets, goals, learned rules and saved AI answers</a:t>
            </a:r>
          </a:p>
        </p:txBody>
      </p:sp>
      <p:sp>
        <p:nvSpPr>
          <p:cNvPr id="10" name="Gemini card"/>
          <p:cNvSpPr/>
          <p:nvPr/>
        </p:nvSpPr>
        <p:spPr>
          <a:xfrm>
            <a:off x="8869680" y="3246120"/>
            <a:ext cx="2770632" cy="132588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1" name="Icon circle gemini"/>
          <p:cNvSpPr/>
          <p:nvPr/>
        </p:nvSpPr>
        <p:spPr>
          <a:xfrm>
            <a:off x="9052560" y="3383280"/>
            <a:ext cx="548640" cy="548640"/>
          </a:xfrm>
          <a:prstGeom prst="ellipse">
            <a:avLst/>
          </a:prstGeom>
          <a:solidFill>
            <a:srgbClr val="DCE8FE"/>
          </a:solidFill>
          <a:ln w="12700">
            <a:solidFill>
              <a:srgbClr val="FDEFCF"/>
            </a:solidFill>
            <a:prstDash val="solid"/>
          </a:ln>
        </p:spPr>
      </p:sp>
      <p:pic>
        <p:nvPicPr>
          <p:cNvPr id="58" name="Icon gemini" descr="robot.png"/>
          <p:cNvPicPr>
            <a:picLocks noChangeAspect="1"/>
          </p:cNvPicPr>
          <p:nvPr/>
        </p:nvPicPr>
        <p:blipFill>
          <a:blip r:embed="rId6"/>
          <a:stretch>
            <a:fillRect/>
          </a:stretch>
        </p:blipFill>
        <p:spPr>
          <a:xfrm>
            <a:off x="9189720" y="3520440"/>
            <a:ext cx="274320" cy="274320"/>
          </a:xfrm>
          <a:prstGeom prst="rect">
            <a:avLst/>
          </a:prstGeom>
        </p:spPr>
      </p:pic>
      <p:sp>
        <p:nvSpPr>
          <p:cNvPr id="59" name="Gemini title"/>
          <p:cNvSpPr txBox="1"/>
          <p:nvPr/>
        </p:nvSpPr>
        <p:spPr>
          <a:xfrm>
            <a:off x="9738360" y="3383280"/>
            <a:ext cx="1783080" cy="548640"/>
          </a:xfrm>
          <a:prstGeom prst="rect">
            <a:avLst/>
          </a:prstGeom>
          <a:noFill/>
        </p:spPr>
        <p:txBody>
          <a:bodyPr wrap="square" lIns="0" tIns="0" rIns="0" bIns="0" anchor="ctr">
            <a:spAutoFit/>
          </a:bodyPr>
          <a:lstStyle/>
          <a:p>
            <a:pPr algn="l"/>
            <a:r>
              <a:rPr sz="1700" b="1">
                <a:solidFill>
                  <a:srgbClr val="2563EB"/>
                </a:solidFill>
                <a:latin typeface="Tahoma"/>
              </a:rPr>
              <a:t>Gemini AI</a:t>
            </a:r>
          </a:p>
          <a:p>
            <a:pPr algn="l"/>
            <a:r>
              <a:rPr sz="1100" b="0">
                <a:solidFill>
                  <a:srgbClr val="53627A"/>
                </a:solidFill>
                <a:latin typeface="Tahoma"/>
              </a:rPr>
              <a:t>Google API</a:t>
            </a:r>
          </a:p>
        </p:txBody>
      </p:sp>
      <p:sp>
        <p:nvSpPr>
          <p:cNvPr id="60" name="Gemini text"/>
          <p:cNvSpPr txBox="1"/>
          <p:nvPr/>
        </p:nvSpPr>
        <p:spPr>
          <a:xfrm>
            <a:off x="9052560" y="4023360"/>
            <a:ext cx="2423160" cy="502920"/>
          </a:xfrm>
          <a:prstGeom prst="rect">
            <a:avLst/>
          </a:prstGeom>
          <a:noFill/>
        </p:spPr>
        <p:txBody>
          <a:bodyPr wrap="square" lIns="0" tIns="0" rIns="0" bIns="0" anchor="t">
            <a:spAutoFit/>
          </a:bodyPr>
          <a:lstStyle/>
          <a:p>
            <a:pPr algn="l"/>
            <a:r>
              <a:rPr sz="1200" b="0">
                <a:solidFill>
                  <a:srgbClr val="53627A"/>
                </a:solidFill>
                <a:latin typeface="Tahoma"/>
              </a:rPr>
              <a:t>Gets masked text only, never full transactions</a:t>
            </a:r>
          </a:p>
        </p:txBody>
      </p:sp>
      <p:sp>
        <p:nvSpPr>
          <p:cNvPr id="12" name="Email card"/>
          <p:cNvSpPr/>
          <p:nvPr/>
        </p:nvSpPr>
        <p:spPr>
          <a:xfrm>
            <a:off x="8869680" y="4709160"/>
            <a:ext cx="2770632" cy="73152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3" name="Icon circle email"/>
          <p:cNvSpPr/>
          <p:nvPr/>
        </p:nvSpPr>
        <p:spPr>
          <a:xfrm>
            <a:off x="9052560" y="4800600"/>
            <a:ext cx="548640" cy="548640"/>
          </a:xfrm>
          <a:prstGeom prst="ellipse">
            <a:avLst/>
          </a:prstGeom>
          <a:solidFill>
            <a:srgbClr val="FDEFCF"/>
          </a:solidFill>
          <a:ln w="12700">
            <a:solidFill>
              <a:srgbClr val="FDEFCF"/>
            </a:solidFill>
            <a:prstDash val="solid"/>
          </a:ln>
        </p:spPr>
      </p:sp>
      <p:pic>
        <p:nvPicPr>
          <p:cNvPr id="61" name="Icon email" descr="mail.png"/>
          <p:cNvPicPr>
            <a:picLocks noChangeAspect="1"/>
          </p:cNvPicPr>
          <p:nvPr/>
        </p:nvPicPr>
        <p:blipFill>
          <a:blip r:embed="rId7"/>
          <a:stretch>
            <a:fillRect/>
          </a:stretch>
        </p:blipFill>
        <p:spPr>
          <a:xfrm>
            <a:off x="9189720" y="4937760"/>
            <a:ext cx="274320" cy="274320"/>
          </a:xfrm>
          <a:prstGeom prst="rect">
            <a:avLst/>
          </a:prstGeom>
        </p:spPr>
      </p:pic>
      <p:sp>
        <p:nvSpPr>
          <p:cNvPr id="62" name="Email title"/>
          <p:cNvSpPr txBox="1"/>
          <p:nvPr/>
        </p:nvSpPr>
        <p:spPr>
          <a:xfrm>
            <a:off x="9738360" y="4800600"/>
            <a:ext cx="1783080" cy="548640"/>
          </a:xfrm>
          <a:prstGeom prst="rect">
            <a:avLst/>
          </a:prstGeom>
          <a:noFill/>
        </p:spPr>
        <p:txBody>
          <a:bodyPr wrap="square" lIns="0" tIns="0" rIns="0" bIns="0" anchor="ctr">
            <a:spAutoFit/>
          </a:bodyPr>
          <a:lstStyle/>
          <a:p>
            <a:pPr algn="l"/>
            <a:r>
              <a:rPr sz="1400" b="1">
                <a:solidFill>
                  <a:srgbClr val="0B1730"/>
                </a:solidFill>
                <a:latin typeface="Tahoma"/>
              </a:rPr>
              <a:t>Gmail SMTP</a:t>
            </a:r>
          </a:p>
          <a:p>
            <a:pPr algn="l"/>
            <a:r>
              <a:rPr sz="1100" b="0">
                <a:solidFill>
                  <a:srgbClr val="53627A"/>
                </a:solidFill>
                <a:latin typeface="Tahoma"/>
              </a:rPr>
              <a:t>Welcome email</a:t>
            </a:r>
          </a:p>
        </p:txBody>
      </p:sp>
      <p:sp>
        <p:nvSpPr>
          <p:cNvPr id="32" name="Arrow frontend-backend"/>
          <p:cNvSpPr/>
          <p:nvPr/>
        </p:nvSpPr>
        <p:spPr>
          <a:xfrm>
            <a:off x="2926080" y="3063240"/>
            <a:ext cx="640080" cy="329184"/>
          </a:xfrm>
          <a:prstGeom prst="leftRightArrow">
            <a:avLst/>
          </a:prstGeom>
          <a:solidFill>
            <a:srgbClr val="9FB0C8"/>
          </a:solidFill>
          <a:ln w="12700">
            <a:solidFill>
              <a:srgbClr val="9FB0C8"/>
            </a:solidFill>
            <a:prstDash val="solid"/>
          </a:ln>
        </p:spPr>
      </p:sp>
      <p:sp>
        <p:nvSpPr>
          <p:cNvPr id="63" name="Arrow frontend-backend label"/>
          <p:cNvSpPr txBox="1"/>
          <p:nvPr/>
        </p:nvSpPr>
        <p:spPr>
          <a:xfrm>
            <a:off x="2743200" y="3447288"/>
            <a:ext cx="1005840" cy="502920"/>
          </a:xfrm>
          <a:prstGeom prst="rect">
            <a:avLst/>
          </a:prstGeom>
          <a:noFill/>
        </p:spPr>
        <p:txBody>
          <a:bodyPr wrap="square" lIns="0" tIns="0" rIns="0" bIns="0" anchor="t">
            <a:spAutoFit/>
          </a:bodyPr>
          <a:lstStyle/>
          <a:p>
            <a:pPr algn="ctr"/>
            <a:r>
              <a:rPr sz="1050" b="0">
                <a:solidFill>
                  <a:srgbClr val="53627A"/>
                </a:solidFill>
                <a:latin typeface="Tahoma"/>
              </a:rPr>
              <a:t>REST API with JWT token</a:t>
            </a:r>
          </a:p>
        </p:txBody>
      </p:sp>
      <p:sp>
        <p:nvSpPr>
          <p:cNvPr id="14" name="Arrow backend-database"/>
          <p:cNvSpPr/>
          <p:nvPr/>
        </p:nvSpPr>
        <p:spPr>
          <a:xfrm>
            <a:off x="8138160" y="2103120"/>
            <a:ext cx="640080" cy="329184"/>
          </a:xfrm>
          <a:prstGeom prst="leftRightArrow">
            <a:avLst/>
          </a:prstGeom>
          <a:solidFill>
            <a:srgbClr val="9FB0C8"/>
          </a:solidFill>
          <a:ln w="12700">
            <a:solidFill>
              <a:srgbClr val="9FB0C8"/>
            </a:solidFill>
            <a:prstDash val="solid"/>
          </a:ln>
        </p:spPr>
      </p:sp>
      <p:sp>
        <p:nvSpPr>
          <p:cNvPr id="64" name="Arrow backend-database label"/>
          <p:cNvSpPr txBox="1"/>
          <p:nvPr/>
        </p:nvSpPr>
        <p:spPr>
          <a:xfrm>
            <a:off x="7955280" y="2487168"/>
            <a:ext cx="1005840" cy="502920"/>
          </a:xfrm>
          <a:prstGeom prst="rect">
            <a:avLst/>
          </a:prstGeom>
          <a:noFill/>
        </p:spPr>
        <p:txBody>
          <a:bodyPr wrap="square" lIns="0" tIns="0" rIns="0" bIns="0" anchor="t">
            <a:spAutoFit/>
          </a:bodyPr>
          <a:lstStyle/>
          <a:p>
            <a:pPr algn="ctr"/>
            <a:r>
              <a:rPr sz="1050" b="0">
                <a:solidFill>
                  <a:srgbClr val="53627A"/>
                </a:solidFill>
                <a:latin typeface="Tahoma"/>
              </a:rPr>
              <a:t>JPA / SQL</a:t>
            </a:r>
          </a:p>
        </p:txBody>
      </p:sp>
      <p:sp>
        <p:nvSpPr>
          <p:cNvPr id="15" name="Arrow backend-gemini"/>
          <p:cNvSpPr/>
          <p:nvPr/>
        </p:nvSpPr>
        <p:spPr>
          <a:xfrm>
            <a:off x="8138160" y="3611880"/>
            <a:ext cx="640080" cy="329184"/>
          </a:xfrm>
          <a:prstGeom prst="leftRightArrow">
            <a:avLst/>
          </a:prstGeom>
          <a:solidFill>
            <a:srgbClr val="9FB0C8"/>
          </a:solidFill>
          <a:ln w="12700">
            <a:solidFill>
              <a:srgbClr val="9FB0C8"/>
            </a:solidFill>
            <a:prstDash val="solid"/>
          </a:ln>
        </p:spPr>
      </p:sp>
      <p:sp>
        <p:nvSpPr>
          <p:cNvPr id="65" name="Arrow backend-gemini label"/>
          <p:cNvSpPr txBox="1"/>
          <p:nvPr/>
        </p:nvSpPr>
        <p:spPr>
          <a:xfrm>
            <a:off x="7955280" y="3995928"/>
            <a:ext cx="1005840" cy="502920"/>
          </a:xfrm>
          <a:prstGeom prst="rect">
            <a:avLst/>
          </a:prstGeom>
          <a:noFill/>
        </p:spPr>
        <p:txBody>
          <a:bodyPr wrap="square" lIns="0" tIns="0" rIns="0" bIns="0" anchor="t">
            <a:spAutoFit/>
          </a:bodyPr>
          <a:lstStyle/>
          <a:p>
            <a:pPr algn="ctr"/>
            <a:r>
              <a:rPr sz="1050" b="0">
                <a:solidFill>
                  <a:srgbClr val="53627A"/>
                </a:solidFill>
                <a:latin typeface="Tahoma"/>
              </a:rPr>
              <a:t>Masked text</a:t>
            </a:r>
          </a:p>
        </p:txBody>
      </p:sp>
      <p:sp>
        <p:nvSpPr>
          <p:cNvPr id="16" name="Arrow backend-email"/>
          <p:cNvSpPr/>
          <p:nvPr/>
        </p:nvSpPr>
        <p:spPr>
          <a:xfrm>
            <a:off x="8138160" y="4910328"/>
            <a:ext cx="640080" cy="329184"/>
          </a:xfrm>
          <a:prstGeom prst="leftRightArrow">
            <a:avLst/>
          </a:prstGeom>
          <a:solidFill>
            <a:srgbClr val="9FB0C8"/>
          </a:solidFill>
          <a:ln w="12700">
            <a:solidFill>
              <a:srgbClr val="9FB0C8"/>
            </a:solidFill>
            <a:prstDash val="solid"/>
          </a:ln>
        </p:spPr>
      </p:sp>
      <p:sp>
        <p:nvSpPr>
          <p:cNvPr id="66" name="Arrow backend-email label"/>
          <p:cNvSpPr txBox="1"/>
          <p:nvPr/>
        </p:nvSpPr>
        <p:spPr>
          <a:xfrm>
            <a:off x="7955280" y="5294376"/>
            <a:ext cx="1005840" cy="502920"/>
          </a:xfrm>
          <a:prstGeom prst="rect">
            <a:avLst/>
          </a:prstGeom>
          <a:noFill/>
        </p:spPr>
        <p:txBody>
          <a:bodyPr wrap="square" lIns="0" tIns="0" rIns="0" bIns="0" anchor="t">
            <a:spAutoFit/>
          </a:bodyPr>
          <a:lstStyle/>
          <a:p>
            <a:pPr algn="ctr"/>
            <a:r>
              <a:rPr sz="1050" b="0">
                <a:solidFill>
                  <a:srgbClr val="53627A"/>
                </a:solidFill>
                <a:latin typeface="Tahoma"/>
              </a:rPr>
              <a:t>SMTP</a:t>
            </a:r>
          </a:p>
        </p:txBody>
      </p:sp>
      <p:sp>
        <p:nvSpPr>
          <p:cNvPr id="17" name="Layer note"/>
          <p:cNvSpPr/>
          <p:nvPr/>
        </p:nvSpPr>
        <p:spPr>
          <a:xfrm>
            <a:off x="548640" y="5669280"/>
            <a:ext cx="11091672" cy="68580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8" name="Icon circle note"/>
          <p:cNvSpPr/>
          <p:nvPr/>
        </p:nvSpPr>
        <p:spPr>
          <a:xfrm>
            <a:off x="731520" y="5733288"/>
            <a:ext cx="548640" cy="548640"/>
          </a:xfrm>
          <a:prstGeom prst="ellipse">
            <a:avLst/>
          </a:prstGeom>
          <a:solidFill>
            <a:srgbClr val="CFF1F7"/>
          </a:solidFill>
          <a:ln w="12700">
            <a:solidFill>
              <a:srgbClr val="FDEFCF"/>
            </a:solidFill>
            <a:prstDash val="solid"/>
          </a:ln>
        </p:spPr>
      </p:sp>
      <p:pic>
        <p:nvPicPr>
          <p:cNvPr id="67" name="Icon note" descr="server.png"/>
          <p:cNvPicPr>
            <a:picLocks noChangeAspect="1"/>
          </p:cNvPicPr>
          <p:nvPr/>
        </p:nvPicPr>
        <p:blipFill>
          <a:blip r:embed="rId4"/>
          <a:stretch>
            <a:fillRect/>
          </a:stretch>
        </p:blipFill>
        <p:spPr>
          <a:xfrm>
            <a:off x="868680" y="5870448"/>
            <a:ext cx="274320" cy="274320"/>
          </a:xfrm>
          <a:prstGeom prst="rect">
            <a:avLst/>
          </a:prstGeom>
        </p:spPr>
      </p:pic>
      <p:sp>
        <p:nvSpPr>
          <p:cNvPr id="68" name="Layer note text"/>
          <p:cNvSpPr txBox="1"/>
          <p:nvPr/>
        </p:nvSpPr>
        <p:spPr>
          <a:xfrm>
            <a:off x="1463040" y="5669280"/>
            <a:ext cx="9966960" cy="685800"/>
          </a:xfrm>
          <a:prstGeom prst="rect">
            <a:avLst/>
          </a:prstGeom>
          <a:noFill/>
        </p:spPr>
        <p:txBody>
          <a:bodyPr wrap="square" lIns="0" tIns="0" rIns="0" bIns="0" anchor="ctr">
            <a:spAutoFit/>
          </a:bodyPr>
          <a:lstStyle/>
          <a:p>
            <a:pPr algn="l"/>
            <a:r>
              <a:rPr sz="1300" b="1">
                <a:solidFill>
                  <a:srgbClr val="0B1730"/>
                </a:solidFill>
                <a:latin typeface="Tahoma"/>
              </a:rPr>
              <a:t>Layered design: </a:t>
            </a:r>
            <a:r>
              <a:rPr sz="1300" b="0">
                <a:solidFill>
                  <a:srgbClr val="0B1730"/>
                </a:solidFill>
                <a:latin typeface="Tahoma"/>
              </a:rPr>
              <a:t>Controller takes the request, Service does the work, Repository talks to MySQL. The browser never touches the database or the AI directly.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How It Works, Start to Finish</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FROM A BANK STATEMENT TO A DASHBOARD</a:t>
            </a:r>
            <a:endParaRPr lang="en-US" sz="1200" dirty="0"/>
          </a:p>
        </p:txBody>
      </p:sp>
      <p:sp>
        <p:nvSpPr>
          <p:cNvPr id="5" name="Step 1"/>
          <p:cNvSpPr/>
          <p:nvPr/>
        </p:nvSpPr>
        <p:spPr>
          <a:xfrm>
            <a:off x="548640" y="1371600"/>
            <a:ext cx="1999427" cy="411480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6" name="Icon circle"/>
          <p:cNvSpPr/>
          <p:nvPr/>
        </p:nvSpPr>
        <p:spPr>
          <a:xfrm>
            <a:off x="731520" y="1554480"/>
            <a:ext cx="548640" cy="548640"/>
          </a:xfrm>
          <a:prstGeom prst="ellipse">
            <a:avLst/>
          </a:prstGeom>
          <a:solidFill>
            <a:srgbClr val="DCE8FE"/>
          </a:solidFill>
          <a:ln w="12700">
            <a:solidFill>
              <a:srgbClr val="DCE8FE"/>
            </a:solidFill>
            <a:prstDash val="solid"/>
          </a:ln>
        </p:spPr>
      </p:sp>
      <p:pic>
        <p:nvPicPr>
          <p:cNvPr id="7" name="Image 0" descr="CloudUploadAlt icon"/>
          <p:cNvPicPr>
            <a:picLocks noChangeAspect="1"/>
          </p:cNvPicPr>
          <p:nvPr/>
        </p:nvPicPr>
        <p:blipFill>
          <a:blip r:embed="rId3"/>
          <a:stretch>
            <a:fillRect/>
          </a:stretch>
        </p:blipFill>
        <p:spPr>
          <a:xfrm>
            <a:off x="868680" y="1691640"/>
            <a:ext cx="274320" cy="274320"/>
          </a:xfrm>
          <a:prstGeom prst="rect">
            <a:avLst/>
          </a:prstGeom>
        </p:spPr>
      </p:pic>
      <p:sp>
        <p:nvSpPr>
          <p:cNvPr id="8" name="Text 4"/>
          <p:cNvSpPr txBox="1"/>
          <p:nvPr/>
        </p:nvSpPr>
        <p:spPr>
          <a:xfrm>
            <a:off x="1907987" y="1554480"/>
            <a:ext cx="457200" cy="548640"/>
          </a:xfrm>
          <a:prstGeom prst="rect">
            <a:avLst/>
          </a:prstGeom>
          <a:noFill/>
          <a:ln/>
        </p:spPr>
        <p:txBody>
          <a:bodyPr wrap="square" lIns="0" tIns="0" rIns="0" bIns="0" rtlCol="0" anchor="ctr"/>
          <a:lstStyle/>
          <a:p>
            <a:pPr marL="0" indent="0" algn="r">
              <a:buNone/>
            </a:pPr>
            <a:r>
              <a:rPr lang="en-US" sz="2600" b="1" dirty="0">
                <a:solidFill>
                  <a:srgbClr val="9FB0C8"/>
                </a:solidFill>
                <a:latin typeface="Tahoma" pitchFamily="34" charset="0"/>
                <a:ea typeface="Tahoma" pitchFamily="34" charset="-122"/>
                <a:cs typeface="Tahoma" pitchFamily="34" charset="-120"/>
              </a:rPr>
              <a:t>1</a:t>
            </a:r>
            <a:endParaRPr lang="en-US" sz="2600" dirty="0"/>
          </a:p>
        </p:txBody>
      </p:sp>
      <p:sp>
        <p:nvSpPr>
          <p:cNvPr id="9" name="Text 5"/>
          <p:cNvSpPr txBox="1"/>
          <p:nvPr/>
        </p:nvSpPr>
        <p:spPr>
          <a:xfrm>
            <a:off x="731520" y="2267712"/>
            <a:ext cx="1633667" cy="365760"/>
          </a:xfrm>
          <a:prstGeom prst="rect">
            <a:avLst/>
          </a:prstGeom>
          <a:noFill/>
          <a:ln/>
        </p:spPr>
        <p:txBody>
          <a:bodyPr wrap="square" lIns="0" tIns="0" rIns="0" bIns="0" rtlCol="0" anchor="t"/>
          <a:lstStyle/>
          <a:p>
            <a:pPr marL="0" indent="0">
              <a:buNone/>
            </a:pPr>
            <a:r>
              <a:rPr lang="en-US" sz="1700" b="1" dirty="0">
                <a:solidFill>
                  <a:srgbClr val="2563EB"/>
                </a:solidFill>
                <a:latin typeface="Tahoma" pitchFamily="34" charset="0"/>
                <a:ea typeface="Tahoma" pitchFamily="34" charset="-122"/>
                <a:cs typeface="Tahoma" pitchFamily="34" charset="-120"/>
              </a:rPr>
              <a:t>Upload</a:t>
            </a:r>
            <a:endParaRPr lang="en-US" sz="1700" dirty="0"/>
          </a:p>
        </p:txBody>
      </p:sp>
      <p:sp>
        <p:nvSpPr>
          <p:cNvPr id="10" name="Text 6"/>
          <p:cNvSpPr txBox="1"/>
          <p:nvPr/>
        </p:nvSpPr>
        <p:spPr>
          <a:xfrm>
            <a:off x="731520" y="2697480"/>
            <a:ext cx="1633667" cy="2651760"/>
          </a:xfrm>
          <a:prstGeom prst="rect">
            <a:avLst/>
          </a:prstGeom>
          <a:noFill/>
          <a:ln/>
        </p:spPr>
        <p:txBody>
          <a:bodyPr wrap="square" lIns="0" tIns="0" rIns="0" bIns="0" rtlCol="0" anchor="t"/>
          <a:lstStyle/>
          <a:p>
            <a:pPr marL="0" indent="0">
              <a:buNone/>
            </a:pPr>
            <a:r>
              <a:rPr lang="en-US" sz="1250" dirty="0">
                <a:solidFill>
                  <a:srgbClr val="53627A"/>
                </a:solidFill>
                <a:latin typeface="Tahoma" pitchFamily="34" charset="0"/>
                <a:ea typeface="Tahoma" pitchFamily="34" charset="-122"/>
                <a:cs typeface="Tahoma" pitchFamily="34" charset="-120"/>
              </a:rPr>
              <a:t>PDF or CSV. Even password-protected PDFs work: the app asks for the password.</a:t>
            </a:r>
            <a:endParaRPr lang="en-US" sz="1250" dirty="0"/>
          </a:p>
        </p:txBody>
      </p:sp>
      <p:sp>
        <p:nvSpPr>
          <p:cNvPr id="11" name="Arrow"/>
          <p:cNvSpPr/>
          <p:nvPr/>
        </p:nvSpPr>
        <p:spPr>
          <a:xfrm>
            <a:off x="2593787" y="1664208"/>
            <a:ext cx="182880" cy="329184"/>
          </a:xfrm>
          <a:prstGeom prst="rightArrow">
            <a:avLst/>
          </a:prstGeom>
          <a:solidFill>
            <a:srgbClr val="9FB0C8"/>
          </a:solidFill>
          <a:ln w="12700">
            <a:solidFill>
              <a:srgbClr val="9FB0C8"/>
            </a:solidFill>
            <a:prstDash val="solid"/>
          </a:ln>
        </p:spPr>
      </p:sp>
      <p:sp>
        <p:nvSpPr>
          <p:cNvPr id="12" name="Step 2"/>
          <p:cNvSpPr/>
          <p:nvPr/>
        </p:nvSpPr>
        <p:spPr>
          <a:xfrm>
            <a:off x="2822387" y="1371600"/>
            <a:ext cx="1999427" cy="411480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3" name="Icon circle"/>
          <p:cNvSpPr/>
          <p:nvPr/>
        </p:nvSpPr>
        <p:spPr>
          <a:xfrm>
            <a:off x="3005267" y="1554480"/>
            <a:ext cx="548640" cy="548640"/>
          </a:xfrm>
          <a:prstGeom prst="ellipse">
            <a:avLst/>
          </a:prstGeom>
          <a:solidFill>
            <a:srgbClr val="CFF1F7"/>
          </a:solidFill>
          <a:ln w="12700">
            <a:solidFill>
              <a:srgbClr val="CFF1F7"/>
            </a:solidFill>
            <a:prstDash val="solid"/>
          </a:ln>
        </p:spPr>
      </p:sp>
      <p:pic>
        <p:nvPicPr>
          <p:cNvPr id="14" name="Image 1" descr="FileAlt icon"/>
          <p:cNvPicPr>
            <a:picLocks noChangeAspect="1"/>
          </p:cNvPicPr>
          <p:nvPr/>
        </p:nvPicPr>
        <p:blipFill>
          <a:blip r:embed="rId4"/>
          <a:stretch>
            <a:fillRect/>
          </a:stretch>
        </p:blipFill>
        <p:spPr>
          <a:xfrm>
            <a:off x="3142427" y="1691640"/>
            <a:ext cx="274320" cy="274320"/>
          </a:xfrm>
          <a:prstGeom prst="rect">
            <a:avLst/>
          </a:prstGeom>
        </p:spPr>
      </p:pic>
      <p:sp>
        <p:nvSpPr>
          <p:cNvPr id="15" name="Text 10"/>
          <p:cNvSpPr txBox="1"/>
          <p:nvPr/>
        </p:nvSpPr>
        <p:spPr>
          <a:xfrm>
            <a:off x="4181734" y="1554480"/>
            <a:ext cx="457200" cy="548640"/>
          </a:xfrm>
          <a:prstGeom prst="rect">
            <a:avLst/>
          </a:prstGeom>
          <a:noFill/>
          <a:ln/>
        </p:spPr>
        <p:txBody>
          <a:bodyPr wrap="square" lIns="0" tIns="0" rIns="0" bIns="0" rtlCol="0" anchor="ctr"/>
          <a:lstStyle/>
          <a:p>
            <a:pPr marL="0" indent="0" algn="r">
              <a:buNone/>
            </a:pPr>
            <a:r>
              <a:rPr lang="en-US" sz="2600" b="1" dirty="0">
                <a:solidFill>
                  <a:srgbClr val="9FB0C8"/>
                </a:solidFill>
                <a:latin typeface="Tahoma" pitchFamily="34" charset="0"/>
                <a:ea typeface="Tahoma" pitchFamily="34" charset="-122"/>
                <a:cs typeface="Tahoma" pitchFamily="34" charset="-120"/>
              </a:rPr>
              <a:t>2</a:t>
            </a:r>
            <a:endParaRPr lang="en-US" sz="2600" dirty="0"/>
          </a:p>
        </p:txBody>
      </p:sp>
      <p:sp>
        <p:nvSpPr>
          <p:cNvPr id="16" name="Text 11"/>
          <p:cNvSpPr txBox="1"/>
          <p:nvPr/>
        </p:nvSpPr>
        <p:spPr>
          <a:xfrm>
            <a:off x="3005267" y="2267712"/>
            <a:ext cx="1633667" cy="365760"/>
          </a:xfrm>
          <a:prstGeom prst="rect">
            <a:avLst/>
          </a:prstGeom>
          <a:noFill/>
          <a:ln/>
        </p:spPr>
        <p:txBody>
          <a:bodyPr wrap="square" lIns="0" tIns="0" rIns="0" bIns="0" rtlCol="0" anchor="t"/>
          <a:lstStyle/>
          <a:p>
            <a:pPr marL="0" indent="0">
              <a:buNone/>
            </a:pPr>
            <a:r>
              <a:rPr lang="en-US" sz="1700" b="1" dirty="0">
                <a:solidFill>
                  <a:srgbClr val="0E7490"/>
                </a:solidFill>
                <a:latin typeface="Tahoma" pitchFamily="34" charset="0"/>
                <a:ea typeface="Tahoma" pitchFamily="34" charset="-122"/>
                <a:cs typeface="Tahoma" pitchFamily="34" charset="-120"/>
              </a:rPr>
              <a:t>Read</a:t>
            </a:r>
            <a:endParaRPr lang="en-US" sz="1700" dirty="0"/>
          </a:p>
        </p:txBody>
      </p:sp>
      <p:sp>
        <p:nvSpPr>
          <p:cNvPr id="17" name="Text 12"/>
          <p:cNvSpPr txBox="1"/>
          <p:nvPr/>
        </p:nvSpPr>
        <p:spPr>
          <a:xfrm>
            <a:off x="3005267" y="2697480"/>
            <a:ext cx="1633667" cy="2651760"/>
          </a:xfrm>
          <a:prstGeom prst="rect">
            <a:avLst/>
          </a:prstGeom>
          <a:noFill/>
          <a:ln/>
        </p:spPr>
        <p:txBody>
          <a:bodyPr wrap="square" lIns="0" tIns="0" rIns="0" bIns="0" rtlCol="0" anchor="t"/>
          <a:lstStyle/>
          <a:p>
            <a:pPr marL="0" indent="0">
              <a:buNone/>
            </a:pPr>
            <a:r>
              <a:rPr lang="en-US" sz="1250" dirty="0">
                <a:solidFill>
                  <a:srgbClr val="53627A"/>
                </a:solidFill>
                <a:latin typeface="Tahoma" pitchFamily="34" charset="0"/>
                <a:ea typeface="Tahoma" pitchFamily="34" charset="-122"/>
                <a:cs typeface="Tahoma" pitchFamily="34" charset="-120"/>
              </a:rPr>
              <a:t>Both file types become one common format. For PDFs, money in vs money out is worked out from the running balance. CSV handles different column layouts and date formats.</a:t>
            </a:r>
            <a:endParaRPr lang="en-US" sz="1250" dirty="0"/>
          </a:p>
        </p:txBody>
      </p:sp>
      <p:sp>
        <p:nvSpPr>
          <p:cNvPr id="18" name="Arrow"/>
          <p:cNvSpPr/>
          <p:nvPr/>
        </p:nvSpPr>
        <p:spPr>
          <a:xfrm>
            <a:off x="4867534" y="1664208"/>
            <a:ext cx="182880" cy="329184"/>
          </a:xfrm>
          <a:prstGeom prst="rightArrow">
            <a:avLst/>
          </a:prstGeom>
          <a:solidFill>
            <a:srgbClr val="9FB0C8"/>
          </a:solidFill>
          <a:ln w="12700">
            <a:solidFill>
              <a:srgbClr val="9FB0C8"/>
            </a:solidFill>
            <a:prstDash val="solid"/>
          </a:ln>
        </p:spPr>
      </p:sp>
      <p:sp>
        <p:nvSpPr>
          <p:cNvPr id="19" name="Step 3"/>
          <p:cNvSpPr/>
          <p:nvPr/>
        </p:nvSpPr>
        <p:spPr>
          <a:xfrm>
            <a:off x="5096134" y="1371600"/>
            <a:ext cx="1999427" cy="411480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0" name="Icon circle"/>
          <p:cNvSpPr/>
          <p:nvPr/>
        </p:nvSpPr>
        <p:spPr>
          <a:xfrm>
            <a:off x="5279014" y="1554480"/>
            <a:ext cx="548640" cy="548640"/>
          </a:xfrm>
          <a:prstGeom prst="ellipse">
            <a:avLst/>
          </a:prstGeom>
          <a:solidFill>
            <a:srgbClr val="DCE8FE"/>
          </a:solidFill>
          <a:ln w="12700">
            <a:solidFill>
              <a:srgbClr val="DCE8FE"/>
            </a:solidFill>
            <a:prstDash val="solid"/>
          </a:ln>
        </p:spPr>
      </p:sp>
      <p:pic>
        <p:nvPicPr>
          <p:cNvPr id="21" name="Image 2" descr="Tags icon"/>
          <p:cNvPicPr>
            <a:picLocks noChangeAspect="1"/>
          </p:cNvPicPr>
          <p:nvPr/>
        </p:nvPicPr>
        <p:blipFill>
          <a:blip r:embed="rId5"/>
          <a:stretch>
            <a:fillRect/>
          </a:stretch>
        </p:blipFill>
        <p:spPr>
          <a:xfrm>
            <a:off x="5416174" y="1691640"/>
            <a:ext cx="274320" cy="274320"/>
          </a:xfrm>
          <a:prstGeom prst="rect">
            <a:avLst/>
          </a:prstGeom>
        </p:spPr>
      </p:pic>
      <p:sp>
        <p:nvSpPr>
          <p:cNvPr id="22" name="Text 16"/>
          <p:cNvSpPr txBox="1"/>
          <p:nvPr/>
        </p:nvSpPr>
        <p:spPr>
          <a:xfrm>
            <a:off x="6455481" y="1554480"/>
            <a:ext cx="457200" cy="548640"/>
          </a:xfrm>
          <a:prstGeom prst="rect">
            <a:avLst/>
          </a:prstGeom>
          <a:noFill/>
          <a:ln/>
        </p:spPr>
        <p:txBody>
          <a:bodyPr wrap="square" lIns="0" tIns="0" rIns="0" bIns="0" rtlCol="0" anchor="ctr"/>
          <a:lstStyle/>
          <a:p>
            <a:pPr marL="0" indent="0" algn="r">
              <a:buNone/>
            </a:pPr>
            <a:r>
              <a:rPr lang="en-US" sz="2600" b="1" dirty="0">
                <a:solidFill>
                  <a:srgbClr val="9FB0C8"/>
                </a:solidFill>
                <a:latin typeface="Tahoma" pitchFamily="34" charset="0"/>
                <a:ea typeface="Tahoma" pitchFamily="34" charset="-122"/>
                <a:cs typeface="Tahoma" pitchFamily="34" charset="-120"/>
              </a:rPr>
              <a:t>3</a:t>
            </a:r>
            <a:endParaRPr lang="en-US" sz="2600" dirty="0"/>
          </a:p>
        </p:txBody>
      </p:sp>
      <p:sp>
        <p:nvSpPr>
          <p:cNvPr id="23" name="Text 17"/>
          <p:cNvSpPr txBox="1"/>
          <p:nvPr/>
        </p:nvSpPr>
        <p:spPr>
          <a:xfrm>
            <a:off x="5279014" y="2267712"/>
            <a:ext cx="1633667" cy="365760"/>
          </a:xfrm>
          <a:prstGeom prst="rect">
            <a:avLst/>
          </a:prstGeom>
          <a:noFill/>
          <a:ln/>
        </p:spPr>
        <p:txBody>
          <a:bodyPr wrap="square" lIns="0" tIns="0" rIns="0" bIns="0" rtlCol="0" anchor="t"/>
          <a:lstStyle/>
          <a:p>
            <a:pPr marL="0" indent="0">
              <a:buNone/>
            </a:pPr>
            <a:r>
              <a:rPr lang="en-US" sz="1700" b="1" dirty="0">
                <a:solidFill>
                  <a:srgbClr val="2563EB"/>
                </a:solidFill>
                <a:latin typeface="Tahoma" pitchFamily="34" charset="0"/>
                <a:ea typeface="Tahoma" pitchFamily="34" charset="-122"/>
                <a:cs typeface="Tahoma" pitchFamily="34" charset="-120"/>
              </a:rPr>
              <a:t>Sort</a:t>
            </a:r>
            <a:endParaRPr lang="en-US" sz="1700" dirty="0"/>
          </a:p>
        </p:txBody>
      </p:sp>
      <p:sp>
        <p:nvSpPr>
          <p:cNvPr id="24" name="Text 18"/>
          <p:cNvSpPr txBox="1"/>
          <p:nvPr/>
        </p:nvSpPr>
        <p:spPr>
          <a:xfrm>
            <a:off x="5279014" y="2697480"/>
            <a:ext cx="1633667" cy="2651760"/>
          </a:xfrm>
          <a:prstGeom prst="rect">
            <a:avLst/>
          </a:prstGeom>
          <a:noFill/>
          <a:ln/>
        </p:spPr>
        <p:txBody>
          <a:bodyPr wrap="square" lIns="0" tIns="0" rIns="0" bIns="0" rtlCol="0" anchor="t"/>
          <a:lstStyle/>
          <a:p>
            <a:pPr marL="0" indent="0">
              <a:buNone/>
            </a:pPr>
            <a:r>
              <a:rPr lang="en-US" sz="1250" dirty="0">
                <a:solidFill>
                  <a:srgbClr val="53627A"/>
                </a:solidFill>
                <a:latin typeface="Tahoma" pitchFamily="34" charset="0"/>
                <a:ea typeface="Tahoma" pitchFamily="34" charset="-122"/>
                <a:cs typeface="Tahoma" pitchFamily="34" charset="-120"/>
              </a:rPr>
              <a:t>Three layers: your saved corrections first, then built-in keyword rules, and only what is left goes to Google Gemini AI (it also finds the merchant name). If AI is busy, the app retries, then marks items "Uncategorized" so you can edit them.</a:t>
            </a:r>
            <a:endParaRPr lang="en-US" sz="1250" dirty="0"/>
          </a:p>
        </p:txBody>
      </p:sp>
      <p:sp>
        <p:nvSpPr>
          <p:cNvPr id="25" name="Arrow"/>
          <p:cNvSpPr/>
          <p:nvPr/>
        </p:nvSpPr>
        <p:spPr>
          <a:xfrm>
            <a:off x="7141281" y="1664208"/>
            <a:ext cx="182880" cy="329184"/>
          </a:xfrm>
          <a:prstGeom prst="rightArrow">
            <a:avLst/>
          </a:prstGeom>
          <a:solidFill>
            <a:srgbClr val="9FB0C8"/>
          </a:solidFill>
          <a:ln w="12700">
            <a:solidFill>
              <a:srgbClr val="9FB0C8"/>
            </a:solidFill>
            <a:prstDash val="solid"/>
          </a:ln>
        </p:spPr>
      </p:sp>
      <p:sp>
        <p:nvSpPr>
          <p:cNvPr id="26" name="Step 4"/>
          <p:cNvSpPr/>
          <p:nvPr/>
        </p:nvSpPr>
        <p:spPr>
          <a:xfrm>
            <a:off x="7369881" y="1371600"/>
            <a:ext cx="1999427" cy="411480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7" name="Icon circle"/>
          <p:cNvSpPr/>
          <p:nvPr/>
        </p:nvSpPr>
        <p:spPr>
          <a:xfrm>
            <a:off x="7552761" y="1554480"/>
            <a:ext cx="548640" cy="548640"/>
          </a:xfrm>
          <a:prstGeom prst="ellipse">
            <a:avLst/>
          </a:prstGeom>
          <a:solidFill>
            <a:srgbClr val="CFF1F7"/>
          </a:solidFill>
          <a:ln w="12700">
            <a:solidFill>
              <a:srgbClr val="CFF1F7"/>
            </a:solidFill>
            <a:prstDash val="solid"/>
          </a:ln>
        </p:spPr>
      </p:sp>
      <p:pic>
        <p:nvPicPr>
          <p:cNvPr id="28" name="Image 3" descr="Database icon"/>
          <p:cNvPicPr>
            <a:picLocks noChangeAspect="1"/>
          </p:cNvPicPr>
          <p:nvPr/>
        </p:nvPicPr>
        <p:blipFill>
          <a:blip r:embed="rId6"/>
          <a:stretch>
            <a:fillRect/>
          </a:stretch>
        </p:blipFill>
        <p:spPr>
          <a:xfrm>
            <a:off x="7689921" y="1691640"/>
            <a:ext cx="274320" cy="274320"/>
          </a:xfrm>
          <a:prstGeom prst="rect">
            <a:avLst/>
          </a:prstGeom>
        </p:spPr>
      </p:pic>
      <p:sp>
        <p:nvSpPr>
          <p:cNvPr id="29" name="Text 22"/>
          <p:cNvSpPr txBox="1"/>
          <p:nvPr/>
        </p:nvSpPr>
        <p:spPr>
          <a:xfrm>
            <a:off x="8729228" y="1554480"/>
            <a:ext cx="457200" cy="548640"/>
          </a:xfrm>
          <a:prstGeom prst="rect">
            <a:avLst/>
          </a:prstGeom>
          <a:noFill/>
          <a:ln/>
        </p:spPr>
        <p:txBody>
          <a:bodyPr wrap="square" lIns="0" tIns="0" rIns="0" bIns="0" rtlCol="0" anchor="ctr"/>
          <a:lstStyle/>
          <a:p>
            <a:pPr marL="0" indent="0" algn="r">
              <a:buNone/>
            </a:pPr>
            <a:r>
              <a:rPr lang="en-US" sz="2600" b="1" dirty="0">
                <a:solidFill>
                  <a:srgbClr val="9FB0C8"/>
                </a:solidFill>
                <a:latin typeface="Tahoma" pitchFamily="34" charset="0"/>
                <a:ea typeface="Tahoma" pitchFamily="34" charset="-122"/>
                <a:cs typeface="Tahoma" pitchFamily="34" charset="-120"/>
              </a:rPr>
              <a:t>4</a:t>
            </a:r>
            <a:endParaRPr lang="en-US" sz="2600" dirty="0"/>
          </a:p>
        </p:txBody>
      </p:sp>
      <p:sp>
        <p:nvSpPr>
          <p:cNvPr id="30" name="Text 23"/>
          <p:cNvSpPr txBox="1"/>
          <p:nvPr/>
        </p:nvSpPr>
        <p:spPr>
          <a:xfrm>
            <a:off x="7552761" y="2267712"/>
            <a:ext cx="1633667" cy="365760"/>
          </a:xfrm>
          <a:prstGeom prst="rect">
            <a:avLst/>
          </a:prstGeom>
          <a:noFill/>
          <a:ln/>
        </p:spPr>
        <p:txBody>
          <a:bodyPr wrap="square" lIns="0" tIns="0" rIns="0" bIns="0" rtlCol="0" anchor="t"/>
          <a:lstStyle/>
          <a:p>
            <a:pPr marL="0" indent="0">
              <a:buNone/>
            </a:pPr>
            <a:r>
              <a:rPr lang="en-US" sz="1700" b="1" dirty="0">
                <a:solidFill>
                  <a:srgbClr val="0E7490"/>
                </a:solidFill>
                <a:latin typeface="Tahoma" pitchFamily="34" charset="0"/>
                <a:ea typeface="Tahoma" pitchFamily="34" charset="-122"/>
                <a:cs typeface="Tahoma" pitchFamily="34" charset="-120"/>
              </a:rPr>
              <a:t>Save</a:t>
            </a:r>
            <a:endParaRPr lang="en-US" sz="1700" dirty="0"/>
          </a:p>
        </p:txBody>
      </p:sp>
      <p:sp>
        <p:nvSpPr>
          <p:cNvPr id="31" name="Text 24"/>
          <p:cNvSpPr txBox="1"/>
          <p:nvPr/>
        </p:nvSpPr>
        <p:spPr>
          <a:xfrm>
            <a:off x="7552761" y="2697480"/>
            <a:ext cx="1633667" cy="2651760"/>
          </a:xfrm>
          <a:prstGeom prst="rect">
            <a:avLst/>
          </a:prstGeom>
          <a:noFill/>
          <a:ln/>
        </p:spPr>
        <p:txBody>
          <a:bodyPr wrap="square" lIns="0" tIns="0" rIns="0" bIns="0" rtlCol="0" anchor="t"/>
          <a:lstStyle/>
          <a:p>
            <a:pPr marL="0" indent="0">
              <a:buNone/>
            </a:pPr>
            <a:r>
              <a:rPr lang="en-US" sz="1250" dirty="0">
                <a:solidFill>
                  <a:srgbClr val="53627A"/>
                </a:solidFill>
                <a:latin typeface="Tahoma" pitchFamily="34" charset="0"/>
                <a:ea typeface="Tahoma" pitchFamily="34" charset="-122"/>
                <a:cs typeface="Tahoma" pitchFamily="34" charset="-120"/>
              </a:rPr>
              <a:t>Duplicates are skipped if the same statement is uploaded twice. Sensitive parts of descriptions are masked before saving.</a:t>
            </a:r>
            <a:endParaRPr lang="en-US" sz="1250" dirty="0"/>
          </a:p>
        </p:txBody>
      </p:sp>
      <p:sp>
        <p:nvSpPr>
          <p:cNvPr id="32" name="Arrow"/>
          <p:cNvSpPr/>
          <p:nvPr/>
        </p:nvSpPr>
        <p:spPr>
          <a:xfrm>
            <a:off x="9415028" y="1664208"/>
            <a:ext cx="182880" cy="329184"/>
          </a:xfrm>
          <a:prstGeom prst="rightArrow">
            <a:avLst/>
          </a:prstGeom>
          <a:solidFill>
            <a:srgbClr val="9FB0C8"/>
          </a:solidFill>
          <a:ln w="12700">
            <a:solidFill>
              <a:srgbClr val="9FB0C8"/>
            </a:solidFill>
            <a:prstDash val="solid"/>
          </a:ln>
        </p:spPr>
      </p:sp>
      <p:sp>
        <p:nvSpPr>
          <p:cNvPr id="33" name="Step 5"/>
          <p:cNvSpPr/>
          <p:nvPr/>
        </p:nvSpPr>
        <p:spPr>
          <a:xfrm>
            <a:off x="9643628" y="1371600"/>
            <a:ext cx="1999427" cy="4114800"/>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4" name="Icon circle"/>
          <p:cNvSpPr/>
          <p:nvPr/>
        </p:nvSpPr>
        <p:spPr>
          <a:xfrm>
            <a:off x="9826508" y="1554480"/>
            <a:ext cx="548640" cy="548640"/>
          </a:xfrm>
          <a:prstGeom prst="ellipse">
            <a:avLst/>
          </a:prstGeom>
          <a:solidFill>
            <a:srgbClr val="DCE8FE"/>
          </a:solidFill>
          <a:ln w="12700">
            <a:solidFill>
              <a:srgbClr val="DCE8FE"/>
            </a:solidFill>
            <a:prstDash val="solid"/>
          </a:ln>
        </p:spPr>
      </p:sp>
      <p:pic>
        <p:nvPicPr>
          <p:cNvPr id="35" name="Image 4" descr="ChartPie icon"/>
          <p:cNvPicPr>
            <a:picLocks noChangeAspect="1"/>
          </p:cNvPicPr>
          <p:nvPr/>
        </p:nvPicPr>
        <p:blipFill>
          <a:blip r:embed="rId7"/>
          <a:stretch>
            <a:fillRect/>
          </a:stretch>
        </p:blipFill>
        <p:spPr>
          <a:xfrm>
            <a:off x="9963668" y="1691640"/>
            <a:ext cx="274320" cy="274320"/>
          </a:xfrm>
          <a:prstGeom prst="rect">
            <a:avLst/>
          </a:prstGeom>
        </p:spPr>
      </p:pic>
      <p:sp>
        <p:nvSpPr>
          <p:cNvPr id="36" name="Text 28"/>
          <p:cNvSpPr txBox="1"/>
          <p:nvPr/>
        </p:nvSpPr>
        <p:spPr>
          <a:xfrm>
            <a:off x="11002975" y="1554480"/>
            <a:ext cx="457200" cy="548640"/>
          </a:xfrm>
          <a:prstGeom prst="rect">
            <a:avLst/>
          </a:prstGeom>
          <a:noFill/>
          <a:ln/>
        </p:spPr>
        <p:txBody>
          <a:bodyPr wrap="square" lIns="0" tIns="0" rIns="0" bIns="0" rtlCol="0" anchor="ctr"/>
          <a:lstStyle/>
          <a:p>
            <a:pPr marL="0" indent="0" algn="r">
              <a:buNone/>
            </a:pPr>
            <a:r>
              <a:rPr lang="en-US" sz="2600" b="1" dirty="0">
                <a:solidFill>
                  <a:srgbClr val="9FB0C8"/>
                </a:solidFill>
                <a:latin typeface="Tahoma" pitchFamily="34" charset="0"/>
                <a:ea typeface="Tahoma" pitchFamily="34" charset="-122"/>
                <a:cs typeface="Tahoma" pitchFamily="34" charset="-120"/>
              </a:rPr>
              <a:t>5</a:t>
            </a:r>
            <a:endParaRPr lang="en-US" sz="2600" dirty="0"/>
          </a:p>
        </p:txBody>
      </p:sp>
      <p:sp>
        <p:nvSpPr>
          <p:cNvPr id="37" name="Text 29"/>
          <p:cNvSpPr txBox="1"/>
          <p:nvPr/>
        </p:nvSpPr>
        <p:spPr>
          <a:xfrm>
            <a:off x="9826508" y="2267712"/>
            <a:ext cx="1633667" cy="365760"/>
          </a:xfrm>
          <a:prstGeom prst="rect">
            <a:avLst/>
          </a:prstGeom>
          <a:noFill/>
          <a:ln/>
        </p:spPr>
        <p:txBody>
          <a:bodyPr wrap="square" lIns="0" tIns="0" rIns="0" bIns="0" rtlCol="0" anchor="t"/>
          <a:lstStyle/>
          <a:p>
            <a:pPr marL="0" indent="0">
              <a:buNone/>
            </a:pPr>
            <a:r>
              <a:rPr lang="en-US" sz="1700" b="1" dirty="0">
                <a:solidFill>
                  <a:srgbClr val="2563EB"/>
                </a:solidFill>
                <a:latin typeface="Tahoma" pitchFamily="34" charset="0"/>
                <a:ea typeface="Tahoma" pitchFamily="34" charset="-122"/>
                <a:cs typeface="Tahoma" pitchFamily="34" charset="-120"/>
              </a:rPr>
              <a:t>Show</a:t>
            </a:r>
            <a:endParaRPr lang="en-US" sz="1700" dirty="0"/>
          </a:p>
        </p:txBody>
      </p:sp>
      <p:sp>
        <p:nvSpPr>
          <p:cNvPr id="38" name="Text 30"/>
          <p:cNvSpPr txBox="1"/>
          <p:nvPr/>
        </p:nvSpPr>
        <p:spPr>
          <a:xfrm>
            <a:off x="9826508" y="2697480"/>
            <a:ext cx="1633667" cy="2651760"/>
          </a:xfrm>
          <a:prstGeom prst="rect">
            <a:avLst/>
          </a:prstGeom>
          <a:noFill/>
          <a:ln/>
        </p:spPr>
        <p:txBody>
          <a:bodyPr wrap="square" lIns="0" tIns="0" rIns="0" bIns="0" rtlCol="0" anchor="t"/>
          <a:lstStyle/>
          <a:p>
            <a:pPr marL="0" indent="0">
              <a:buNone/>
            </a:pPr>
            <a:r>
              <a:rPr lang="en-US" sz="1250" dirty="0">
                <a:solidFill>
                  <a:srgbClr val="53627A"/>
                </a:solidFill>
                <a:latin typeface="Tahoma" pitchFamily="34" charset="0"/>
                <a:ea typeface="Tahoma" pitchFamily="34" charset="-122"/>
                <a:cs typeface="Tahoma" pitchFamily="34" charset="-120"/>
              </a:rPr>
              <a:t>The dashboard updates, with a progress bar while the upload runs.</a:t>
            </a:r>
            <a:endParaRPr lang="en-US" sz="1250" dirty="0"/>
          </a:p>
        </p:txBody>
      </p:sp>
      <p:sp>
        <p:nvSpPr>
          <p:cNvPr id="39" name="Manual entry note"/>
          <p:cNvSpPr/>
          <p:nvPr/>
        </p:nvSpPr>
        <p:spPr>
          <a:xfrm>
            <a:off x="548640" y="5669280"/>
            <a:ext cx="11094415" cy="685800"/>
          </a:xfrm>
          <a:prstGeom prst="roundRect">
            <a:avLst>
              <a:gd name="adj" fmla="val 16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40" name="Icon circle"/>
          <p:cNvSpPr/>
          <p:nvPr/>
        </p:nvSpPr>
        <p:spPr>
          <a:xfrm>
            <a:off x="731520" y="5783580"/>
            <a:ext cx="457200" cy="457200"/>
          </a:xfrm>
          <a:prstGeom prst="ellipse">
            <a:avLst/>
          </a:prstGeom>
          <a:solidFill>
            <a:srgbClr val="FDEFCF"/>
          </a:solidFill>
          <a:ln w="12700">
            <a:solidFill>
              <a:srgbClr val="FDEFCF"/>
            </a:solidFill>
            <a:prstDash val="solid"/>
          </a:ln>
        </p:spPr>
      </p:sp>
      <p:pic>
        <p:nvPicPr>
          <p:cNvPr id="41" name="Image 5" descr="Copy icon"/>
          <p:cNvPicPr>
            <a:picLocks noChangeAspect="1"/>
          </p:cNvPicPr>
          <p:nvPr/>
        </p:nvPicPr>
        <p:blipFill>
          <a:blip r:embed="rId8"/>
          <a:stretch>
            <a:fillRect/>
          </a:stretch>
        </p:blipFill>
        <p:spPr>
          <a:xfrm>
            <a:off x="845820" y="5897880"/>
            <a:ext cx="228600" cy="228600"/>
          </a:xfrm>
          <a:prstGeom prst="rect">
            <a:avLst/>
          </a:prstGeom>
        </p:spPr>
      </p:pic>
      <p:sp>
        <p:nvSpPr>
          <p:cNvPr id="42" name="Text 33"/>
          <p:cNvSpPr txBox="1"/>
          <p:nvPr/>
        </p:nvSpPr>
        <p:spPr>
          <a:xfrm>
            <a:off x="1371600" y="5669280"/>
            <a:ext cx="10088575" cy="685800"/>
          </a:xfrm>
          <a:prstGeom prst="rect">
            <a:avLst/>
          </a:prstGeom>
          <a:noFill/>
          <a:ln/>
        </p:spPr>
        <p:txBody>
          <a:bodyPr wrap="square" lIns="0" tIns="0" rIns="0" bIns="0" rtlCol="0" anchor="ctr"/>
          <a:lstStyle/>
          <a:p>
            <a:pPr marL="0" indent="0">
              <a:buNone/>
            </a:pPr>
            <a:r>
              <a:rPr lang="en-US" sz="1300" b="1" dirty="0">
                <a:solidFill>
                  <a:srgbClr val="0B1730"/>
                </a:solidFill>
                <a:latin typeface="Tahoma" pitchFamily="34" charset="0"/>
                <a:ea typeface="Tahoma" pitchFamily="34" charset="-122"/>
                <a:cs typeface="Tahoma" pitchFamily="34" charset="-120"/>
              </a:rPr>
              <a:t>No double counting: </a:t>
            </a:r>
            <a:r>
              <a:rPr lang="en-US" sz="1300" dirty="0">
                <a:solidFill>
                  <a:srgbClr val="0B1730"/>
                </a:solidFill>
                <a:latin typeface="Tahoma" pitchFamily="34" charset="0"/>
                <a:ea typeface="Tahoma" pitchFamily="34" charset="-122"/>
                <a:cs typeface="Tahoma" pitchFamily="34" charset="-120"/>
              </a:rPr>
              <a:t>if you typed a transaction by hand earlier and it appears in the statement, the app asks "Is this the same payment?" instead of counting it twice.</a:t>
            </a:r>
            <a:endParaRPr lang="en-US" sz="130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Techniques We Used</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THE METHODS BEHIND EACH STEP</a:t>
            </a:r>
            <a:endParaRPr lang="en-US" sz="120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7</a:t>
            </a:fld>
            <a:endParaRPr lang="en-US"/>
          </a:p>
        </p:txBody>
      </p:sp>
      <p:sp>
        <p:nvSpPr>
          <p:cNvPr id="5" name="Row 1"/>
          <p:cNvSpPr/>
          <p:nvPr/>
        </p:nvSpPr>
        <p:spPr>
          <a:xfrm>
            <a:off x="548640" y="1722698"/>
            <a:ext cx="11091672" cy="749808"/>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40" name="Number circle 1"/>
          <p:cNvSpPr/>
          <p:nvPr/>
        </p:nvSpPr>
        <p:spPr>
          <a:xfrm>
            <a:off x="731520" y="1823282"/>
            <a:ext cx="548640" cy="548640"/>
          </a:xfrm>
          <a:prstGeom prst="ellipse">
            <a:avLst/>
          </a:prstGeom>
          <a:solidFill>
            <a:srgbClr val="DCE8FE"/>
          </a:solidFill>
          <a:ln w="12700">
            <a:solidFill>
              <a:srgbClr val="FDEFCF"/>
            </a:solidFill>
            <a:prstDash val="solid"/>
          </a:ln>
        </p:spPr>
        <p:txBody>
          <a:bodyPr anchor="ctr"/>
          <a:lstStyle/>
          <a:p>
            <a:pPr algn="ctr"/>
            <a:r>
              <a:rPr sz="1800" b="1">
                <a:solidFill>
                  <a:srgbClr val="2563EB"/>
                </a:solidFill>
                <a:latin typeface="Tahoma"/>
              </a:rPr>
              <a:t>1</a:t>
            </a:r>
          </a:p>
        </p:txBody>
      </p:sp>
      <p:sp>
        <p:nvSpPr>
          <p:cNvPr id="41" name="Technique 1"/>
          <p:cNvSpPr txBox="1"/>
          <p:nvPr/>
        </p:nvSpPr>
        <p:spPr>
          <a:xfrm>
            <a:off x="1508760" y="1722698"/>
            <a:ext cx="2651760" cy="749808"/>
          </a:xfrm>
          <a:prstGeom prst="rect">
            <a:avLst/>
          </a:prstGeom>
          <a:noFill/>
        </p:spPr>
        <p:txBody>
          <a:bodyPr wrap="square" lIns="0" tIns="0" rIns="0" bIns="0" anchor="ctr">
            <a:spAutoFit/>
          </a:bodyPr>
          <a:lstStyle/>
          <a:p>
            <a:pPr algn="l"/>
            <a:r>
              <a:rPr sz="1500" b="1">
                <a:solidFill>
                  <a:srgbClr val="2563EB"/>
                </a:solidFill>
                <a:latin typeface="Tahoma"/>
              </a:rPr>
              <a:t>Reading statements</a:t>
            </a:r>
          </a:p>
        </p:txBody>
      </p:sp>
      <p:sp>
        <p:nvSpPr>
          <p:cNvPr id="42" name="Detail 1"/>
          <p:cNvSpPr txBox="1"/>
          <p:nvPr/>
        </p:nvSpPr>
        <p:spPr>
          <a:xfrm>
            <a:off x="4297680" y="1722698"/>
            <a:ext cx="7132320" cy="749808"/>
          </a:xfrm>
          <a:prstGeom prst="rect">
            <a:avLst/>
          </a:prstGeom>
          <a:noFill/>
        </p:spPr>
        <p:txBody>
          <a:bodyPr wrap="square" lIns="0" tIns="0" rIns="0" bIns="0" anchor="ctr">
            <a:spAutoFit/>
          </a:bodyPr>
          <a:lstStyle/>
          <a:p>
            <a:pPr algn="l"/>
            <a:r>
              <a:rPr sz="1200" b="0">
                <a:solidFill>
                  <a:srgbClr val="53627A"/>
                </a:solidFill>
                <a:latin typeface="Tahoma"/>
              </a:rPr>
              <a:t>PDFBox pulls the text out of the PDF, and pattern matching (regex) finds the date, amount and balance. Money in or out is worked out from the running balance. CSV files are read with Commons CSV.</a:t>
            </a:r>
          </a:p>
        </p:txBody>
      </p:sp>
      <p:sp>
        <p:nvSpPr>
          <p:cNvPr id="6" name="Row 2"/>
          <p:cNvSpPr/>
          <p:nvPr/>
        </p:nvSpPr>
        <p:spPr>
          <a:xfrm>
            <a:off x="548640" y="2563946"/>
            <a:ext cx="11091672" cy="749808"/>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7" name="Number circle 2"/>
          <p:cNvSpPr/>
          <p:nvPr/>
        </p:nvSpPr>
        <p:spPr>
          <a:xfrm>
            <a:off x="731520" y="2664530"/>
            <a:ext cx="548640" cy="548640"/>
          </a:xfrm>
          <a:prstGeom prst="ellipse">
            <a:avLst/>
          </a:prstGeom>
          <a:solidFill>
            <a:srgbClr val="CFF1F7"/>
          </a:solidFill>
          <a:ln w="12700">
            <a:solidFill>
              <a:srgbClr val="FDEFCF"/>
            </a:solidFill>
            <a:prstDash val="solid"/>
          </a:ln>
        </p:spPr>
        <p:txBody>
          <a:bodyPr anchor="ctr"/>
          <a:lstStyle/>
          <a:p>
            <a:pPr algn="ctr"/>
            <a:r>
              <a:rPr sz="1800" b="1">
                <a:solidFill>
                  <a:srgbClr val="0E7490"/>
                </a:solidFill>
                <a:latin typeface="Tahoma"/>
              </a:rPr>
              <a:t>2</a:t>
            </a:r>
          </a:p>
        </p:txBody>
      </p:sp>
      <p:sp>
        <p:nvSpPr>
          <p:cNvPr id="43" name="Technique 2"/>
          <p:cNvSpPr txBox="1"/>
          <p:nvPr/>
        </p:nvSpPr>
        <p:spPr>
          <a:xfrm>
            <a:off x="1508760" y="2563946"/>
            <a:ext cx="2651760" cy="749808"/>
          </a:xfrm>
          <a:prstGeom prst="rect">
            <a:avLst/>
          </a:prstGeom>
          <a:noFill/>
        </p:spPr>
        <p:txBody>
          <a:bodyPr wrap="square" lIns="0" tIns="0" rIns="0" bIns="0" anchor="ctr">
            <a:spAutoFit/>
          </a:bodyPr>
          <a:lstStyle/>
          <a:p>
            <a:pPr algn="l"/>
            <a:r>
              <a:rPr sz="1500" b="1">
                <a:solidFill>
                  <a:srgbClr val="0E7490"/>
                </a:solidFill>
                <a:latin typeface="Tahoma"/>
              </a:rPr>
              <a:t>Three-layer sorting</a:t>
            </a:r>
          </a:p>
        </p:txBody>
      </p:sp>
      <p:sp>
        <p:nvSpPr>
          <p:cNvPr id="44" name="Detail 2"/>
          <p:cNvSpPr txBox="1"/>
          <p:nvPr/>
        </p:nvSpPr>
        <p:spPr>
          <a:xfrm>
            <a:off x="4297680" y="2563946"/>
            <a:ext cx="7132320" cy="749808"/>
          </a:xfrm>
          <a:prstGeom prst="rect">
            <a:avLst/>
          </a:prstGeom>
          <a:noFill/>
        </p:spPr>
        <p:txBody>
          <a:bodyPr wrap="square" lIns="0" tIns="0" rIns="0" bIns="0" anchor="ctr">
            <a:spAutoFit/>
          </a:bodyPr>
          <a:lstStyle/>
          <a:p>
            <a:pPr algn="l"/>
            <a:r>
              <a:rPr sz="1200" b="0">
                <a:solidFill>
                  <a:srgbClr val="53627A"/>
                </a:solidFill>
                <a:latin typeface="Tahoma"/>
              </a:rPr>
              <a:t>Your saved corrections first, then built-in keyword rules, and only the leftovers go to Gemini AI. Account numbers and UPI IDs are masked before anything is sent.</a:t>
            </a:r>
          </a:p>
        </p:txBody>
      </p:sp>
      <p:sp>
        <p:nvSpPr>
          <p:cNvPr id="8" name="Row 3"/>
          <p:cNvSpPr/>
          <p:nvPr/>
        </p:nvSpPr>
        <p:spPr>
          <a:xfrm>
            <a:off x="548640" y="3405194"/>
            <a:ext cx="11091672" cy="749808"/>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9" name="Number circle 3"/>
          <p:cNvSpPr/>
          <p:nvPr/>
        </p:nvSpPr>
        <p:spPr>
          <a:xfrm>
            <a:off x="731520" y="3505778"/>
            <a:ext cx="548640" cy="548640"/>
          </a:xfrm>
          <a:prstGeom prst="ellipse">
            <a:avLst/>
          </a:prstGeom>
          <a:solidFill>
            <a:srgbClr val="DCE8FE"/>
          </a:solidFill>
          <a:ln w="12700">
            <a:solidFill>
              <a:srgbClr val="FDEFCF"/>
            </a:solidFill>
            <a:prstDash val="solid"/>
          </a:ln>
        </p:spPr>
        <p:txBody>
          <a:bodyPr anchor="ctr"/>
          <a:lstStyle/>
          <a:p>
            <a:pPr algn="ctr"/>
            <a:r>
              <a:rPr sz="1800" b="1">
                <a:solidFill>
                  <a:srgbClr val="2563EB"/>
                </a:solidFill>
                <a:latin typeface="Tahoma"/>
              </a:rPr>
              <a:t>3</a:t>
            </a:r>
          </a:p>
        </p:txBody>
      </p:sp>
      <p:sp>
        <p:nvSpPr>
          <p:cNvPr id="45" name="Technique 3"/>
          <p:cNvSpPr txBox="1"/>
          <p:nvPr/>
        </p:nvSpPr>
        <p:spPr>
          <a:xfrm>
            <a:off x="1508760" y="3405194"/>
            <a:ext cx="2651760" cy="749808"/>
          </a:xfrm>
          <a:prstGeom prst="rect">
            <a:avLst/>
          </a:prstGeom>
          <a:noFill/>
        </p:spPr>
        <p:txBody>
          <a:bodyPr wrap="square" lIns="0" tIns="0" rIns="0" bIns="0" anchor="ctr">
            <a:spAutoFit/>
          </a:bodyPr>
          <a:lstStyle/>
          <a:p>
            <a:pPr algn="l"/>
            <a:r>
              <a:rPr sz="1500" b="1">
                <a:solidFill>
                  <a:srgbClr val="2563EB"/>
                </a:solidFill>
                <a:latin typeface="Tahoma"/>
              </a:rPr>
              <a:t>Question to search (Montra)</a:t>
            </a:r>
          </a:p>
        </p:txBody>
      </p:sp>
      <p:sp>
        <p:nvSpPr>
          <p:cNvPr id="46" name="Detail 3"/>
          <p:cNvSpPr txBox="1"/>
          <p:nvPr/>
        </p:nvSpPr>
        <p:spPr>
          <a:xfrm>
            <a:off x="4297680" y="3405194"/>
            <a:ext cx="7132320" cy="749808"/>
          </a:xfrm>
          <a:prstGeom prst="rect">
            <a:avLst/>
          </a:prstGeom>
          <a:noFill/>
        </p:spPr>
        <p:txBody>
          <a:bodyPr wrap="square" lIns="0" tIns="0" rIns="0" bIns="0" anchor="ctr">
            <a:spAutoFit/>
          </a:bodyPr>
          <a:lstStyle/>
          <a:p>
            <a:pPr algn="l"/>
            <a:r>
              <a:rPr sz="1200" b="0">
                <a:solidFill>
                  <a:srgbClr val="53627A"/>
                </a:solidFill>
                <a:latin typeface="Tahoma"/>
              </a:rPr>
              <a:t>Gemini turns a question into a fixed, checked search. The app runs it on your own data and writes the answer itself, so Gemini never sees your transactions.</a:t>
            </a:r>
          </a:p>
        </p:txBody>
      </p:sp>
      <p:sp>
        <p:nvSpPr>
          <p:cNvPr id="10" name="Row 4"/>
          <p:cNvSpPr/>
          <p:nvPr/>
        </p:nvSpPr>
        <p:spPr>
          <a:xfrm>
            <a:off x="548640" y="4246442"/>
            <a:ext cx="11091672" cy="749808"/>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1" name="Number circle 4"/>
          <p:cNvSpPr/>
          <p:nvPr/>
        </p:nvSpPr>
        <p:spPr>
          <a:xfrm>
            <a:off x="731520" y="4347026"/>
            <a:ext cx="548640" cy="548640"/>
          </a:xfrm>
          <a:prstGeom prst="ellipse">
            <a:avLst/>
          </a:prstGeom>
          <a:solidFill>
            <a:srgbClr val="CFF1F7"/>
          </a:solidFill>
          <a:ln w="12700">
            <a:solidFill>
              <a:srgbClr val="FDEFCF"/>
            </a:solidFill>
            <a:prstDash val="solid"/>
          </a:ln>
        </p:spPr>
        <p:txBody>
          <a:bodyPr anchor="ctr"/>
          <a:lstStyle/>
          <a:p>
            <a:pPr algn="ctr"/>
            <a:r>
              <a:rPr sz="1800" b="1">
                <a:solidFill>
                  <a:srgbClr val="0E7490"/>
                </a:solidFill>
                <a:latin typeface="Tahoma"/>
              </a:rPr>
              <a:t>4</a:t>
            </a:r>
          </a:p>
        </p:txBody>
      </p:sp>
      <p:sp>
        <p:nvSpPr>
          <p:cNvPr id="47" name="Technique 4"/>
          <p:cNvSpPr txBox="1"/>
          <p:nvPr/>
        </p:nvSpPr>
        <p:spPr>
          <a:xfrm>
            <a:off x="1508760" y="4246442"/>
            <a:ext cx="2651760" cy="749808"/>
          </a:xfrm>
          <a:prstGeom prst="rect">
            <a:avLst/>
          </a:prstGeom>
          <a:noFill/>
        </p:spPr>
        <p:txBody>
          <a:bodyPr wrap="square" lIns="0" tIns="0" rIns="0" bIns="0" anchor="ctr">
            <a:spAutoFit/>
          </a:bodyPr>
          <a:lstStyle/>
          <a:p>
            <a:pPr algn="l"/>
            <a:r>
              <a:rPr sz="1500" b="1">
                <a:solidFill>
                  <a:srgbClr val="0E7490"/>
                </a:solidFill>
                <a:latin typeface="Tahoma"/>
              </a:rPr>
              <a:t>Checked AI tips</a:t>
            </a:r>
          </a:p>
        </p:txBody>
      </p:sp>
      <p:sp>
        <p:nvSpPr>
          <p:cNvPr id="48" name="Detail 4"/>
          <p:cNvSpPr txBox="1"/>
          <p:nvPr/>
        </p:nvSpPr>
        <p:spPr>
          <a:xfrm>
            <a:off x="4297680" y="4246442"/>
            <a:ext cx="7132320" cy="749808"/>
          </a:xfrm>
          <a:prstGeom prst="rect">
            <a:avLst/>
          </a:prstGeom>
          <a:noFill/>
        </p:spPr>
        <p:txBody>
          <a:bodyPr wrap="square" lIns="0" tIns="0" rIns="0" bIns="0" anchor="ctr">
            <a:spAutoFit/>
          </a:bodyPr>
          <a:lstStyle/>
          <a:p>
            <a:pPr algn="l"/>
            <a:r>
              <a:rPr sz="1200" b="0">
                <a:solidFill>
                  <a:srgbClr val="53627A"/>
                </a:solidFill>
                <a:latin typeface="Tahoma"/>
              </a:rPr>
              <a:t>Tips come from a summary of your spending. The code rejects any number that is not in that summary. Answers are saved (cached), with a backup if AI is down.</a:t>
            </a:r>
          </a:p>
        </p:txBody>
      </p:sp>
      <p:sp>
        <p:nvSpPr>
          <p:cNvPr id="12" name="Row 5"/>
          <p:cNvSpPr/>
          <p:nvPr/>
        </p:nvSpPr>
        <p:spPr>
          <a:xfrm>
            <a:off x="548640" y="5087690"/>
            <a:ext cx="11091672" cy="749808"/>
          </a:xfrm>
          <a:prstGeom prst="roundRect">
            <a:avLst>
              <a:gd name="adj" fmla="val 5488"/>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3" name="Number circle 5"/>
          <p:cNvSpPr/>
          <p:nvPr/>
        </p:nvSpPr>
        <p:spPr>
          <a:xfrm>
            <a:off x="731520" y="5188274"/>
            <a:ext cx="548640" cy="548640"/>
          </a:xfrm>
          <a:prstGeom prst="ellipse">
            <a:avLst/>
          </a:prstGeom>
          <a:solidFill>
            <a:srgbClr val="DCE8FE"/>
          </a:solidFill>
          <a:ln w="12700">
            <a:solidFill>
              <a:srgbClr val="FDEFCF"/>
            </a:solidFill>
            <a:prstDash val="solid"/>
          </a:ln>
        </p:spPr>
        <p:txBody>
          <a:bodyPr anchor="ctr"/>
          <a:lstStyle/>
          <a:p>
            <a:pPr algn="ctr"/>
            <a:r>
              <a:rPr sz="1800" b="1">
                <a:solidFill>
                  <a:srgbClr val="2563EB"/>
                </a:solidFill>
                <a:latin typeface="Tahoma"/>
              </a:rPr>
              <a:t>5</a:t>
            </a:r>
          </a:p>
        </p:txBody>
      </p:sp>
      <p:sp>
        <p:nvSpPr>
          <p:cNvPr id="49" name="Technique 5"/>
          <p:cNvSpPr txBox="1"/>
          <p:nvPr/>
        </p:nvSpPr>
        <p:spPr>
          <a:xfrm>
            <a:off x="1508760" y="5087690"/>
            <a:ext cx="2651760" cy="749808"/>
          </a:xfrm>
          <a:prstGeom prst="rect">
            <a:avLst/>
          </a:prstGeom>
          <a:noFill/>
        </p:spPr>
        <p:txBody>
          <a:bodyPr wrap="square" lIns="0" tIns="0" rIns="0" bIns="0" anchor="ctr">
            <a:spAutoFit/>
          </a:bodyPr>
          <a:lstStyle/>
          <a:p>
            <a:pPr algn="l"/>
            <a:r>
              <a:rPr sz="1500" b="1">
                <a:solidFill>
                  <a:srgbClr val="2563EB"/>
                </a:solidFill>
                <a:latin typeface="Tahoma"/>
              </a:rPr>
              <a:t>Plain maths, no AI</a:t>
            </a:r>
          </a:p>
        </p:txBody>
      </p:sp>
      <p:sp>
        <p:nvSpPr>
          <p:cNvPr id="50" name="Detail 5"/>
          <p:cNvSpPr txBox="1"/>
          <p:nvPr/>
        </p:nvSpPr>
        <p:spPr>
          <a:xfrm>
            <a:off x="4297680" y="5087690"/>
            <a:ext cx="7132320" cy="749808"/>
          </a:xfrm>
          <a:prstGeom prst="rect">
            <a:avLst/>
          </a:prstGeom>
          <a:noFill/>
        </p:spPr>
        <p:txBody>
          <a:bodyPr wrap="square" lIns="0" tIns="0" rIns="0" bIns="0" anchor="ctr">
            <a:spAutoFit/>
          </a:bodyPr>
          <a:lstStyle/>
          <a:p>
            <a:pPr algn="l"/>
            <a:r>
              <a:rPr sz="1200" b="0">
                <a:solidFill>
                  <a:srgbClr val="53627A"/>
                </a:solidFill>
                <a:latin typeface="Tahoma"/>
              </a:rPr>
              <a:t>Forecast, savings goals, budget suggestion, recurring bills and unusual charges use averages and medians of your past months, so every result can be explained.</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Dashboard and Analytics</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YOUR MONEY AT A GLANCE</a:t>
            </a:r>
            <a:endParaRPr lang="en-US" sz="1200" dirty="0"/>
          </a:p>
        </p:txBody>
      </p:sp>
      <p:sp>
        <p:nvSpPr>
          <p:cNvPr id="5" name="Screenshot frame"/>
          <p:cNvSpPr/>
          <p:nvPr/>
        </p:nvSpPr>
        <p:spPr>
          <a:xfrm>
            <a:off x="548640" y="1371600"/>
            <a:ext cx="5413248" cy="3422354"/>
          </a:xfrm>
          <a:prstGeom prst="roundRect">
            <a:avLst>
              <a:gd name="adj" fmla="val 2137"/>
            </a:avLst>
          </a:prstGeom>
          <a:solidFill>
            <a:srgbClr val="FFFFFF"/>
          </a:solidFill>
          <a:ln w="12700">
            <a:solidFill>
              <a:srgbClr val="D9E3F0"/>
            </a:solidFill>
            <a:prstDash val="solid"/>
          </a:ln>
          <a:effectLst>
            <a:outerShdw blurRad="101600" dist="25400" dir="5400000" algn="bl" rotWithShape="0">
              <a:srgbClr val="1E3A5F">
                <a:alpha val="10000"/>
              </a:srgbClr>
            </a:outerShdw>
          </a:effectLst>
        </p:spPr>
      </p:sp>
      <p:pic>
        <p:nvPicPr>
          <p:cNvPr id="6" name="Image 0" descr="Dashboard overview screenshot with balance cards, income vs expense chart and spending by category"/>
          <p:cNvPicPr>
            <a:picLocks noChangeAspect="1"/>
          </p:cNvPicPr>
          <p:nvPr/>
        </p:nvPicPr>
        <p:blipFill>
          <a:blip r:embed="rId3"/>
          <a:stretch>
            <a:fillRect/>
          </a:stretch>
        </p:blipFill>
        <p:spPr>
          <a:xfrm>
            <a:off x="603504" y="1426464"/>
            <a:ext cx="5303520" cy="3312626"/>
          </a:xfrm>
          <a:prstGeom prst="rect">
            <a:avLst/>
          </a:prstGeom>
        </p:spPr>
      </p:pic>
      <p:sp>
        <p:nvSpPr>
          <p:cNvPr id="7" name="Text 3"/>
          <p:cNvSpPr txBox="1"/>
          <p:nvPr/>
        </p:nvSpPr>
        <p:spPr>
          <a:xfrm>
            <a:off x="548640" y="4848818"/>
            <a:ext cx="5303520" cy="228600"/>
          </a:xfrm>
          <a:prstGeom prst="rect">
            <a:avLst/>
          </a:prstGeom>
          <a:noFill/>
          <a:ln/>
        </p:spPr>
        <p:txBody>
          <a:bodyPr wrap="square" lIns="0" tIns="0" rIns="0" bIns="0" rtlCol="0" anchor="t"/>
          <a:lstStyle/>
          <a:p>
            <a:pPr marL="0" indent="0">
              <a:buNone/>
            </a:pPr>
            <a:r>
              <a:rPr lang="en-US" sz="1000" i="1" dirty="0">
                <a:solidFill>
                  <a:srgbClr val="53627A"/>
                </a:solidFill>
                <a:latin typeface="Tahoma" pitchFamily="34" charset="0"/>
                <a:ea typeface="Tahoma" pitchFamily="34" charset="-122"/>
                <a:cs typeface="Tahoma" pitchFamily="34" charset="-120"/>
              </a:rPr>
              <a:t>Dashboard overview (demo data)</a:t>
            </a:r>
            <a:endParaRPr lang="en-US" sz="1000" dirty="0"/>
          </a:p>
        </p:txBody>
      </p:sp>
      <p:sp>
        <p:nvSpPr>
          <p:cNvPr id="8" name="Extras"/>
          <p:cNvSpPr/>
          <p:nvPr/>
        </p:nvSpPr>
        <p:spPr>
          <a:xfrm>
            <a:off x="548640" y="5196290"/>
            <a:ext cx="5413248" cy="1158790"/>
          </a:xfrm>
          <a:prstGeom prst="roundRect">
            <a:avLst>
              <a:gd name="adj" fmla="val 9469"/>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9" name="Icon circle"/>
          <p:cNvSpPr/>
          <p:nvPr/>
        </p:nvSpPr>
        <p:spPr>
          <a:xfrm>
            <a:off x="731520" y="5547085"/>
            <a:ext cx="457200" cy="457200"/>
          </a:xfrm>
          <a:prstGeom prst="ellipse">
            <a:avLst/>
          </a:prstGeom>
          <a:solidFill>
            <a:srgbClr val="D5F5E8"/>
          </a:solidFill>
          <a:ln w="12700">
            <a:solidFill>
              <a:srgbClr val="D5F5E8"/>
            </a:solidFill>
            <a:prstDash val="solid"/>
          </a:ln>
        </p:spPr>
      </p:sp>
      <p:pic>
        <p:nvPicPr>
          <p:cNvPr id="10" name="Image 1" descr="PlusCircle icon"/>
          <p:cNvPicPr>
            <a:picLocks noChangeAspect="1"/>
          </p:cNvPicPr>
          <p:nvPr/>
        </p:nvPicPr>
        <p:blipFill>
          <a:blip r:embed="rId4"/>
          <a:stretch>
            <a:fillRect/>
          </a:stretch>
        </p:blipFill>
        <p:spPr>
          <a:xfrm>
            <a:off x="845820" y="5661385"/>
            <a:ext cx="228600" cy="228600"/>
          </a:xfrm>
          <a:prstGeom prst="rect">
            <a:avLst/>
          </a:prstGeom>
        </p:spPr>
      </p:pic>
      <p:sp>
        <p:nvSpPr>
          <p:cNvPr id="11" name="Text 6"/>
          <p:cNvSpPr txBox="1"/>
          <p:nvPr/>
        </p:nvSpPr>
        <p:spPr>
          <a:xfrm>
            <a:off x="1353312" y="5196290"/>
            <a:ext cx="4425696" cy="884470"/>
          </a:xfrm>
          <a:prstGeom prst="rect">
            <a:avLst/>
          </a:prstGeom>
          <a:noFill/>
          <a:ln/>
        </p:spPr>
        <p:txBody>
          <a:bodyPr wrap="square" lIns="0" tIns="0" rIns="0" bIns="0" rtlCol="0" anchor="ctr"/>
          <a:lstStyle/>
          <a:p>
            <a:pPr marL="0" indent="0">
              <a:spcAft>
                <a:spcPts val="300"/>
              </a:spcAft>
              <a:buNone/>
            </a:pPr>
            <a:r>
              <a:rPr lang="en-US" sz="1300" b="1" dirty="0">
                <a:solidFill>
                  <a:srgbClr val="0B1730"/>
                </a:solidFill>
                <a:latin typeface="Tahoma" pitchFamily="34" charset="0"/>
                <a:ea typeface="Tahoma" pitchFamily="34" charset="-122"/>
                <a:cs typeface="Tahoma" pitchFamily="34" charset="-120"/>
              </a:rPr>
              <a:t>Extras</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Monthly PDF report, light and dark mode, works on phone and tablet, quick navigation bar, loading skeletons (grey placeholders).</a:t>
            </a:r>
            <a:endParaRPr lang="en-US" sz="1200" dirty="0"/>
          </a:p>
        </p:txBody>
      </p:sp>
      <p:sp>
        <p:nvSpPr>
          <p:cNvPr id="12" name="Overview"/>
          <p:cNvSpPr/>
          <p:nvPr/>
        </p:nvSpPr>
        <p:spPr>
          <a:xfrm>
            <a:off x="6263640" y="1371600"/>
            <a:ext cx="5379415" cy="1143000"/>
          </a:xfrm>
          <a:prstGeom prst="roundRect">
            <a:avLst>
              <a:gd name="adj" fmla="val 96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3" name="Icon circle"/>
          <p:cNvSpPr/>
          <p:nvPr/>
        </p:nvSpPr>
        <p:spPr>
          <a:xfrm>
            <a:off x="6446520" y="1705356"/>
            <a:ext cx="475488" cy="475488"/>
          </a:xfrm>
          <a:prstGeom prst="ellipse">
            <a:avLst/>
          </a:prstGeom>
          <a:solidFill>
            <a:srgbClr val="DCE8FE"/>
          </a:solidFill>
          <a:ln w="12700">
            <a:solidFill>
              <a:srgbClr val="DCE8FE"/>
            </a:solidFill>
            <a:prstDash val="solid"/>
          </a:ln>
        </p:spPr>
      </p:sp>
      <p:pic>
        <p:nvPicPr>
          <p:cNvPr id="14" name="Image 2" descr="ChartLine icon"/>
          <p:cNvPicPr>
            <a:picLocks noChangeAspect="1"/>
          </p:cNvPicPr>
          <p:nvPr/>
        </p:nvPicPr>
        <p:blipFill>
          <a:blip r:embed="rId5"/>
          <a:stretch>
            <a:fillRect/>
          </a:stretch>
        </p:blipFill>
        <p:spPr>
          <a:xfrm>
            <a:off x="6565392" y="1824228"/>
            <a:ext cx="237744" cy="237744"/>
          </a:xfrm>
          <a:prstGeom prst="rect">
            <a:avLst/>
          </a:prstGeom>
        </p:spPr>
      </p:pic>
      <p:sp>
        <p:nvSpPr>
          <p:cNvPr id="15" name="Text 9"/>
          <p:cNvSpPr txBox="1"/>
          <p:nvPr/>
        </p:nvSpPr>
        <p:spPr>
          <a:xfrm>
            <a:off x="7086600" y="1371600"/>
            <a:ext cx="4373575" cy="868680"/>
          </a:xfrm>
          <a:prstGeom prst="rect">
            <a:avLst/>
          </a:prstGeom>
          <a:noFill/>
          <a:ln/>
        </p:spPr>
        <p:txBody>
          <a:bodyPr wrap="square" lIns="0" tIns="0" rIns="0" bIns="0" rtlCol="0" anchor="ctr"/>
          <a:lstStyle/>
          <a:p>
            <a:pPr marL="0" indent="0">
              <a:spcAft>
                <a:spcPts val="300"/>
              </a:spcAft>
              <a:buNone/>
            </a:pPr>
            <a:r>
              <a:rPr lang="en-US" sz="1400" b="1" dirty="0">
                <a:solidFill>
                  <a:srgbClr val="0B1730"/>
                </a:solidFill>
                <a:latin typeface="Tahoma" pitchFamily="34" charset="0"/>
                <a:ea typeface="Tahoma" pitchFamily="34" charset="-122"/>
                <a:cs typeface="Tahoma" pitchFamily="34" charset="-120"/>
              </a:rPr>
              <a:t>Overview</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Four cards (Total Balance, Income, Expenses, Savings) and an Income vs Expense chart.</a:t>
            </a:r>
            <a:endParaRPr lang="en-US" sz="1200" dirty="0"/>
          </a:p>
        </p:txBody>
      </p:sp>
      <p:sp>
        <p:nvSpPr>
          <p:cNvPr id="16" name="Charts"/>
          <p:cNvSpPr/>
          <p:nvPr/>
        </p:nvSpPr>
        <p:spPr>
          <a:xfrm>
            <a:off x="6263640" y="2651760"/>
            <a:ext cx="5379415" cy="1143000"/>
          </a:xfrm>
          <a:prstGeom prst="roundRect">
            <a:avLst>
              <a:gd name="adj" fmla="val 96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7" name="Icon circle"/>
          <p:cNvSpPr/>
          <p:nvPr/>
        </p:nvSpPr>
        <p:spPr>
          <a:xfrm>
            <a:off x="6446520" y="2985516"/>
            <a:ext cx="475488" cy="475488"/>
          </a:xfrm>
          <a:prstGeom prst="ellipse">
            <a:avLst/>
          </a:prstGeom>
          <a:solidFill>
            <a:srgbClr val="CFF1F7"/>
          </a:solidFill>
          <a:ln w="12700">
            <a:solidFill>
              <a:srgbClr val="CFF1F7"/>
            </a:solidFill>
            <a:prstDash val="solid"/>
          </a:ln>
        </p:spPr>
      </p:sp>
      <p:pic>
        <p:nvPicPr>
          <p:cNvPr id="18" name="Image 3" descr="ChartPie icon"/>
          <p:cNvPicPr>
            <a:picLocks noChangeAspect="1"/>
          </p:cNvPicPr>
          <p:nvPr/>
        </p:nvPicPr>
        <p:blipFill>
          <a:blip r:embed="rId6"/>
          <a:stretch>
            <a:fillRect/>
          </a:stretch>
        </p:blipFill>
        <p:spPr>
          <a:xfrm>
            <a:off x="6565392" y="3104388"/>
            <a:ext cx="237744" cy="237744"/>
          </a:xfrm>
          <a:prstGeom prst="rect">
            <a:avLst/>
          </a:prstGeom>
        </p:spPr>
      </p:pic>
      <p:sp>
        <p:nvSpPr>
          <p:cNvPr id="19" name="Text 12"/>
          <p:cNvSpPr txBox="1"/>
          <p:nvPr/>
        </p:nvSpPr>
        <p:spPr>
          <a:xfrm>
            <a:off x="7086600" y="2651760"/>
            <a:ext cx="4373575" cy="868680"/>
          </a:xfrm>
          <a:prstGeom prst="rect">
            <a:avLst/>
          </a:prstGeom>
          <a:noFill/>
          <a:ln/>
        </p:spPr>
        <p:txBody>
          <a:bodyPr wrap="square" lIns="0" tIns="0" rIns="0" bIns="0" rtlCol="0" anchor="ctr"/>
          <a:lstStyle/>
          <a:p>
            <a:pPr marL="0" indent="0">
              <a:spcAft>
                <a:spcPts val="300"/>
              </a:spcAft>
              <a:buNone/>
            </a:pPr>
            <a:r>
              <a:rPr lang="en-US" sz="1400" b="1" dirty="0">
                <a:solidFill>
                  <a:srgbClr val="0B1730"/>
                </a:solidFill>
                <a:latin typeface="Tahoma" pitchFamily="34" charset="0"/>
                <a:ea typeface="Tahoma" pitchFamily="34" charset="-122"/>
                <a:cs typeface="Tahoma" pitchFamily="34" charset="-120"/>
              </a:rPr>
              <a:t>Charts</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Monthly spending bars and a spending-by-category pie chart, with a month picker.</a:t>
            </a:r>
            <a:endParaRPr lang="en-US" sz="1200" dirty="0"/>
          </a:p>
        </p:txBody>
      </p:sp>
      <p:sp>
        <p:nvSpPr>
          <p:cNvPr id="20" name="Transactions"/>
          <p:cNvSpPr/>
          <p:nvPr/>
        </p:nvSpPr>
        <p:spPr>
          <a:xfrm>
            <a:off x="6263640" y="3931920"/>
            <a:ext cx="5379415" cy="1143000"/>
          </a:xfrm>
          <a:prstGeom prst="roundRect">
            <a:avLst>
              <a:gd name="adj" fmla="val 96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1" name="Icon circle"/>
          <p:cNvSpPr/>
          <p:nvPr/>
        </p:nvSpPr>
        <p:spPr>
          <a:xfrm>
            <a:off x="6446520" y="4265676"/>
            <a:ext cx="475488" cy="475488"/>
          </a:xfrm>
          <a:prstGeom prst="ellipse">
            <a:avLst/>
          </a:prstGeom>
          <a:solidFill>
            <a:srgbClr val="DCE8FE"/>
          </a:solidFill>
          <a:ln w="12700">
            <a:solidFill>
              <a:srgbClr val="DCE8FE"/>
            </a:solidFill>
            <a:prstDash val="solid"/>
          </a:ln>
        </p:spPr>
      </p:sp>
      <p:pic>
        <p:nvPicPr>
          <p:cNvPr id="22" name="Image 4" descr="ListUl icon"/>
          <p:cNvPicPr>
            <a:picLocks noChangeAspect="1"/>
          </p:cNvPicPr>
          <p:nvPr/>
        </p:nvPicPr>
        <p:blipFill>
          <a:blip r:embed="rId7"/>
          <a:stretch>
            <a:fillRect/>
          </a:stretch>
        </p:blipFill>
        <p:spPr>
          <a:xfrm>
            <a:off x="6565392" y="4384548"/>
            <a:ext cx="237744" cy="237744"/>
          </a:xfrm>
          <a:prstGeom prst="rect">
            <a:avLst/>
          </a:prstGeom>
        </p:spPr>
      </p:pic>
      <p:sp>
        <p:nvSpPr>
          <p:cNvPr id="23" name="Text 15"/>
          <p:cNvSpPr txBox="1"/>
          <p:nvPr/>
        </p:nvSpPr>
        <p:spPr>
          <a:xfrm>
            <a:off x="7086600" y="3931920"/>
            <a:ext cx="4373575" cy="868680"/>
          </a:xfrm>
          <a:prstGeom prst="rect">
            <a:avLst/>
          </a:prstGeom>
          <a:noFill/>
          <a:ln/>
        </p:spPr>
        <p:txBody>
          <a:bodyPr wrap="square" lIns="0" tIns="0" rIns="0" bIns="0" rtlCol="0" anchor="ctr"/>
          <a:lstStyle/>
          <a:p>
            <a:pPr marL="0" indent="0">
              <a:spcAft>
                <a:spcPts val="300"/>
              </a:spcAft>
              <a:buNone/>
            </a:pPr>
            <a:r>
              <a:rPr lang="en-US" sz="1400" b="1" dirty="0">
                <a:solidFill>
                  <a:srgbClr val="0B1730"/>
                </a:solidFill>
                <a:latin typeface="Tahoma" pitchFamily="34" charset="0"/>
                <a:ea typeface="Tahoma" pitchFamily="34" charset="-122"/>
                <a:cs typeface="Tahoma" pitchFamily="34" charset="-120"/>
              </a:rPr>
              <a:t>Transactions</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Search, filter by month, grouped by month (latest first), with coloured category tags.</a:t>
            </a:r>
            <a:endParaRPr lang="en-US" sz="1200" dirty="0"/>
          </a:p>
        </p:txBody>
      </p:sp>
      <p:sp>
        <p:nvSpPr>
          <p:cNvPr id="24" name="Full control"/>
          <p:cNvSpPr/>
          <p:nvPr/>
        </p:nvSpPr>
        <p:spPr>
          <a:xfrm>
            <a:off x="6263640" y="5212080"/>
            <a:ext cx="5379415" cy="1143000"/>
          </a:xfrm>
          <a:prstGeom prst="roundRect">
            <a:avLst>
              <a:gd name="adj" fmla="val 96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5" name="Icon circle"/>
          <p:cNvSpPr/>
          <p:nvPr/>
        </p:nvSpPr>
        <p:spPr>
          <a:xfrm>
            <a:off x="6446520" y="5545836"/>
            <a:ext cx="475488" cy="475488"/>
          </a:xfrm>
          <a:prstGeom prst="ellipse">
            <a:avLst/>
          </a:prstGeom>
          <a:solidFill>
            <a:srgbClr val="CFF1F7"/>
          </a:solidFill>
          <a:ln w="12700">
            <a:solidFill>
              <a:srgbClr val="CFF1F7"/>
            </a:solidFill>
            <a:prstDash val="solid"/>
          </a:ln>
        </p:spPr>
      </p:sp>
      <p:pic>
        <p:nvPicPr>
          <p:cNvPr id="26" name="Image 5" descr="Edit icon"/>
          <p:cNvPicPr>
            <a:picLocks noChangeAspect="1"/>
          </p:cNvPicPr>
          <p:nvPr/>
        </p:nvPicPr>
        <p:blipFill>
          <a:blip r:embed="rId8"/>
          <a:stretch>
            <a:fillRect/>
          </a:stretch>
        </p:blipFill>
        <p:spPr>
          <a:xfrm>
            <a:off x="6565392" y="5664708"/>
            <a:ext cx="237744" cy="237744"/>
          </a:xfrm>
          <a:prstGeom prst="rect">
            <a:avLst/>
          </a:prstGeom>
        </p:spPr>
      </p:pic>
      <p:sp>
        <p:nvSpPr>
          <p:cNvPr id="27" name="Text 18"/>
          <p:cNvSpPr txBox="1"/>
          <p:nvPr/>
        </p:nvSpPr>
        <p:spPr>
          <a:xfrm>
            <a:off x="7086600" y="5212080"/>
            <a:ext cx="4373575" cy="868680"/>
          </a:xfrm>
          <a:prstGeom prst="rect">
            <a:avLst/>
          </a:prstGeom>
          <a:noFill/>
          <a:ln/>
        </p:spPr>
        <p:txBody>
          <a:bodyPr wrap="square" lIns="0" tIns="0" rIns="0" bIns="0" rtlCol="0" anchor="ctr"/>
          <a:lstStyle/>
          <a:p>
            <a:pPr marL="0" indent="0">
              <a:spcAft>
                <a:spcPts val="300"/>
              </a:spcAft>
              <a:buNone/>
            </a:pPr>
            <a:r>
              <a:rPr lang="en-US" sz="1400" b="1" dirty="0">
                <a:solidFill>
                  <a:srgbClr val="0B1730"/>
                </a:solidFill>
                <a:latin typeface="Tahoma" pitchFamily="34" charset="0"/>
                <a:ea typeface="Tahoma" pitchFamily="34" charset="-122"/>
                <a:cs typeface="Tahoma" pitchFamily="34" charset="-120"/>
              </a:rPr>
              <a:t>Full control</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Edit a category or merchant, delete one transaction or a whole month (with confirmation), or add one by hand.</a:t>
            </a:r>
            <a:endParaRPr lang="en-US" sz="120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AI Features</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WHERE AI HELPS, AND WHERE WE DO THE WORK</a:t>
            </a:r>
            <a:endParaRPr lang="en-US" sz="1200" dirty="0"/>
          </a:p>
        </p:txBody>
      </p:sp>
      <p:sp>
        <p:nvSpPr>
          <p:cNvPr id="5" name="Screenshot frame"/>
          <p:cNvSpPr/>
          <p:nvPr/>
        </p:nvSpPr>
        <p:spPr>
          <a:xfrm>
            <a:off x="548640" y="1371600"/>
            <a:ext cx="4023360" cy="1858837"/>
          </a:xfrm>
          <a:prstGeom prst="roundRect">
            <a:avLst>
              <a:gd name="adj" fmla="val 3935"/>
            </a:avLst>
          </a:prstGeom>
          <a:solidFill>
            <a:srgbClr val="FFFFFF"/>
          </a:solidFill>
          <a:ln w="12700">
            <a:solidFill>
              <a:srgbClr val="D9E3F0"/>
            </a:solidFill>
            <a:prstDash val="solid"/>
          </a:ln>
          <a:effectLst>
            <a:outerShdw blurRad="101600" dist="25400" dir="5400000" algn="bl" rotWithShape="0">
              <a:srgbClr val="1E3A5F">
                <a:alpha val="10000"/>
              </a:srgbClr>
            </a:outerShdw>
          </a:effectLst>
        </p:spPr>
      </p:sp>
      <p:pic>
        <p:nvPicPr>
          <p:cNvPr id="6" name="Image 0" descr="AI Financial Insights with three savings tips"/>
          <p:cNvPicPr>
            <a:picLocks noChangeAspect="1"/>
          </p:cNvPicPr>
          <p:nvPr/>
        </p:nvPicPr>
        <p:blipFill>
          <a:blip r:embed="rId3"/>
          <a:stretch>
            <a:fillRect/>
          </a:stretch>
        </p:blipFill>
        <p:spPr>
          <a:xfrm>
            <a:off x="603504" y="1426464"/>
            <a:ext cx="3913632" cy="1749109"/>
          </a:xfrm>
          <a:prstGeom prst="rect">
            <a:avLst/>
          </a:prstGeom>
        </p:spPr>
      </p:pic>
      <p:sp>
        <p:nvSpPr>
          <p:cNvPr id="7" name="Text 3"/>
          <p:cNvSpPr txBox="1"/>
          <p:nvPr/>
        </p:nvSpPr>
        <p:spPr>
          <a:xfrm>
            <a:off x="548640" y="3267013"/>
            <a:ext cx="4023360" cy="228600"/>
          </a:xfrm>
          <a:prstGeom prst="rect">
            <a:avLst/>
          </a:prstGeom>
          <a:noFill/>
          <a:ln/>
        </p:spPr>
        <p:txBody>
          <a:bodyPr wrap="square" lIns="0" tIns="0" rIns="0" bIns="0" rtlCol="0" anchor="t"/>
          <a:lstStyle/>
          <a:p>
            <a:pPr marL="0" indent="0">
              <a:buNone/>
            </a:pPr>
            <a:r>
              <a:rPr lang="en-US" sz="1000" i="1" dirty="0">
                <a:solidFill>
                  <a:srgbClr val="53627A"/>
                </a:solidFill>
                <a:latin typeface="Tahoma" pitchFamily="34" charset="0"/>
                <a:ea typeface="Tahoma" pitchFamily="34" charset="-122"/>
                <a:cs typeface="Tahoma" pitchFamily="34" charset="-120"/>
              </a:rPr>
              <a:t>AI savings tips with "Why this tip" (demo data)</a:t>
            </a:r>
            <a:endParaRPr lang="en-US" sz="1000" dirty="0"/>
          </a:p>
        </p:txBody>
      </p:sp>
      <p:sp>
        <p:nvSpPr>
          <p:cNvPr id="8" name="Screenshot frame"/>
          <p:cNvSpPr/>
          <p:nvPr/>
        </p:nvSpPr>
        <p:spPr>
          <a:xfrm>
            <a:off x="1053123" y="3577909"/>
            <a:ext cx="3014394" cy="2530283"/>
          </a:xfrm>
          <a:prstGeom prst="roundRect">
            <a:avLst>
              <a:gd name="adj" fmla="val 2891"/>
            </a:avLst>
          </a:prstGeom>
          <a:solidFill>
            <a:srgbClr val="FFFFFF"/>
          </a:solidFill>
          <a:ln w="12700">
            <a:solidFill>
              <a:srgbClr val="D9E3F0"/>
            </a:solidFill>
            <a:prstDash val="solid"/>
          </a:ln>
          <a:effectLst>
            <a:outerShdw blurRad="101600" dist="25400" dir="5400000" algn="bl" rotWithShape="0">
              <a:srgbClr val="1E3A5F">
                <a:alpha val="10000"/>
              </a:srgbClr>
            </a:outerShdw>
          </a:effectLst>
        </p:spPr>
      </p:sp>
      <p:pic>
        <p:nvPicPr>
          <p:cNvPr id="9" name="Image 1" descr="Montra chat answering a question about Zomato spending"/>
          <p:cNvPicPr>
            <a:picLocks noChangeAspect="1"/>
          </p:cNvPicPr>
          <p:nvPr/>
        </p:nvPicPr>
        <p:blipFill>
          <a:blip r:embed="rId4"/>
          <a:stretch>
            <a:fillRect/>
          </a:stretch>
        </p:blipFill>
        <p:spPr>
          <a:xfrm>
            <a:off x="1107987" y="3632773"/>
            <a:ext cx="2904666" cy="2420555"/>
          </a:xfrm>
          <a:prstGeom prst="rect">
            <a:avLst/>
          </a:prstGeom>
        </p:spPr>
      </p:pic>
      <p:sp>
        <p:nvSpPr>
          <p:cNvPr id="10" name="Text 5"/>
          <p:cNvSpPr txBox="1"/>
          <p:nvPr/>
        </p:nvSpPr>
        <p:spPr>
          <a:xfrm>
            <a:off x="548640" y="6144768"/>
            <a:ext cx="4023360" cy="228600"/>
          </a:xfrm>
          <a:prstGeom prst="rect">
            <a:avLst/>
          </a:prstGeom>
          <a:noFill/>
          <a:ln/>
        </p:spPr>
        <p:txBody>
          <a:bodyPr wrap="square" lIns="0" tIns="0" rIns="0" bIns="0" rtlCol="0" anchor="t"/>
          <a:lstStyle/>
          <a:p>
            <a:pPr marL="0" indent="0">
              <a:buNone/>
            </a:pPr>
            <a:r>
              <a:rPr lang="en-US" sz="1000" i="1" dirty="0">
                <a:solidFill>
                  <a:srgbClr val="53627A"/>
                </a:solidFill>
                <a:latin typeface="Tahoma" pitchFamily="34" charset="0"/>
                <a:ea typeface="Tahoma" pitchFamily="34" charset="-122"/>
                <a:cs typeface="Tahoma" pitchFamily="34" charset="-120"/>
              </a:rPr>
              <a:t>Ask Montra (demo data)</a:t>
            </a:r>
            <a:endParaRPr lang="en-US" sz="1000" dirty="0"/>
          </a:p>
        </p:txBody>
      </p:sp>
      <p:sp>
        <p:nvSpPr>
          <p:cNvPr id="11" name="Auto categories"/>
          <p:cNvSpPr/>
          <p:nvPr/>
        </p:nvSpPr>
        <p:spPr>
          <a:xfrm>
            <a:off x="4892040" y="1371600"/>
            <a:ext cx="3284068" cy="1097280"/>
          </a:xfrm>
          <a:prstGeom prst="roundRect">
            <a:avLst>
              <a:gd name="adj" fmla="val 10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2" name="Icon circle"/>
          <p:cNvSpPr/>
          <p:nvPr/>
        </p:nvSpPr>
        <p:spPr>
          <a:xfrm>
            <a:off x="5074920" y="1554480"/>
            <a:ext cx="420624" cy="420624"/>
          </a:xfrm>
          <a:prstGeom prst="ellipse">
            <a:avLst/>
          </a:prstGeom>
          <a:solidFill>
            <a:srgbClr val="DCE8FE"/>
          </a:solidFill>
          <a:ln w="12700">
            <a:solidFill>
              <a:srgbClr val="DCE8FE"/>
            </a:solidFill>
            <a:prstDash val="solid"/>
          </a:ln>
        </p:spPr>
      </p:sp>
      <p:pic>
        <p:nvPicPr>
          <p:cNvPr id="13" name="Image 2" descr="Tags icon"/>
          <p:cNvPicPr>
            <a:picLocks noChangeAspect="1"/>
          </p:cNvPicPr>
          <p:nvPr/>
        </p:nvPicPr>
        <p:blipFill>
          <a:blip r:embed="rId5"/>
          <a:stretch>
            <a:fillRect/>
          </a:stretch>
        </p:blipFill>
        <p:spPr>
          <a:xfrm>
            <a:off x="5180076" y="1659636"/>
            <a:ext cx="210312" cy="210312"/>
          </a:xfrm>
          <a:prstGeom prst="rect">
            <a:avLst/>
          </a:prstGeom>
        </p:spPr>
      </p:pic>
      <p:sp>
        <p:nvSpPr>
          <p:cNvPr id="14" name="Text 8"/>
          <p:cNvSpPr txBox="1"/>
          <p:nvPr/>
        </p:nvSpPr>
        <p:spPr>
          <a:xfrm>
            <a:off x="5660136" y="1536192"/>
            <a:ext cx="2333092" cy="822960"/>
          </a:xfrm>
          <a:prstGeom prst="rect">
            <a:avLst/>
          </a:prstGeom>
          <a:noFill/>
          <a:ln/>
        </p:spPr>
        <p:txBody>
          <a:bodyPr wrap="square" lIns="0" tIns="0" rIns="0" bIns="0" rtlCol="0" anchor="t"/>
          <a:lstStyle/>
          <a:p>
            <a:pPr marL="0" indent="0">
              <a:spcAft>
                <a:spcPts val="300"/>
              </a:spcAft>
              <a:buNone/>
            </a:pPr>
            <a:r>
              <a:rPr lang="en-US" sz="1200" b="1" dirty="0">
                <a:solidFill>
                  <a:srgbClr val="0B1730"/>
                </a:solidFill>
                <a:latin typeface="Tahoma" pitchFamily="34" charset="0"/>
                <a:ea typeface="Tahoma" pitchFamily="34" charset="-122"/>
                <a:cs typeface="Tahoma" pitchFamily="34" charset="-120"/>
              </a:rPr>
              <a:t>Auto categories</a:t>
            </a:r>
            <a:endParaRPr lang="en-US" sz="1200" dirty="0"/>
          </a:p>
          <a:p>
            <a:pPr marL="0" indent="0">
              <a:buNone/>
            </a:pPr>
            <a:r>
              <a:rPr lang="en-US" sz="1050" dirty="0">
                <a:solidFill>
                  <a:srgbClr val="53627A"/>
                </a:solidFill>
                <a:latin typeface="Tahoma" pitchFamily="34" charset="0"/>
                <a:ea typeface="Tahoma" pitchFamily="34" charset="-122"/>
                <a:cs typeface="Tahoma" pitchFamily="34" charset="-120"/>
              </a:rPr>
              <a:t>Every transaction gets a category and a merchant name, automatically.</a:t>
            </a:r>
            <a:endParaRPr lang="en-US" sz="1200" dirty="0"/>
          </a:p>
        </p:txBody>
      </p:sp>
      <p:sp>
        <p:nvSpPr>
          <p:cNvPr id="15" name="Learns from you"/>
          <p:cNvSpPr/>
          <p:nvPr/>
        </p:nvSpPr>
        <p:spPr>
          <a:xfrm>
            <a:off x="8358988" y="1371600"/>
            <a:ext cx="3284068" cy="1097280"/>
          </a:xfrm>
          <a:prstGeom prst="roundRect">
            <a:avLst>
              <a:gd name="adj" fmla="val 10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6" name="Icon circle"/>
          <p:cNvSpPr/>
          <p:nvPr/>
        </p:nvSpPr>
        <p:spPr>
          <a:xfrm>
            <a:off x="8541868" y="1554480"/>
            <a:ext cx="420624" cy="420624"/>
          </a:xfrm>
          <a:prstGeom prst="ellipse">
            <a:avLst/>
          </a:prstGeom>
          <a:solidFill>
            <a:srgbClr val="CFF1F7"/>
          </a:solidFill>
          <a:ln w="12700">
            <a:solidFill>
              <a:srgbClr val="CFF1F7"/>
            </a:solidFill>
            <a:prstDash val="solid"/>
          </a:ln>
        </p:spPr>
      </p:sp>
      <p:pic>
        <p:nvPicPr>
          <p:cNvPr id="17" name="Image 3" descr="SyncAlt icon"/>
          <p:cNvPicPr>
            <a:picLocks noChangeAspect="1"/>
          </p:cNvPicPr>
          <p:nvPr/>
        </p:nvPicPr>
        <p:blipFill>
          <a:blip r:embed="rId6"/>
          <a:stretch>
            <a:fillRect/>
          </a:stretch>
        </p:blipFill>
        <p:spPr>
          <a:xfrm>
            <a:off x="8647024" y="1659636"/>
            <a:ext cx="210312" cy="210312"/>
          </a:xfrm>
          <a:prstGeom prst="rect">
            <a:avLst/>
          </a:prstGeom>
        </p:spPr>
      </p:pic>
      <p:sp>
        <p:nvSpPr>
          <p:cNvPr id="18" name="Text 11"/>
          <p:cNvSpPr txBox="1"/>
          <p:nvPr/>
        </p:nvSpPr>
        <p:spPr>
          <a:xfrm>
            <a:off x="9127084" y="1536192"/>
            <a:ext cx="2333092" cy="822960"/>
          </a:xfrm>
          <a:prstGeom prst="rect">
            <a:avLst/>
          </a:prstGeom>
          <a:noFill/>
          <a:ln/>
        </p:spPr>
        <p:txBody>
          <a:bodyPr wrap="square" lIns="0" tIns="0" rIns="0" bIns="0" rtlCol="0" anchor="t"/>
          <a:lstStyle/>
          <a:p>
            <a:pPr marL="0" indent="0">
              <a:spcAft>
                <a:spcPts val="300"/>
              </a:spcAft>
              <a:buNone/>
            </a:pPr>
            <a:r>
              <a:rPr lang="en-US" sz="1200" b="1" dirty="0">
                <a:solidFill>
                  <a:srgbClr val="0B1730"/>
                </a:solidFill>
                <a:latin typeface="Tahoma" pitchFamily="34" charset="0"/>
                <a:ea typeface="Tahoma" pitchFamily="34" charset="-122"/>
                <a:cs typeface="Tahoma" pitchFamily="34" charset="-120"/>
              </a:rPr>
              <a:t>Learns from you</a:t>
            </a:r>
            <a:endParaRPr lang="en-US" sz="1200" dirty="0"/>
          </a:p>
          <a:p>
            <a:pPr marL="0" indent="0">
              <a:buNone/>
            </a:pPr>
            <a:r>
              <a:rPr lang="en-US" sz="1050" dirty="0">
                <a:solidFill>
                  <a:srgbClr val="53627A"/>
                </a:solidFill>
                <a:latin typeface="Tahoma" pitchFamily="34" charset="0"/>
                <a:ea typeface="Tahoma" pitchFamily="34" charset="-122"/>
                <a:cs typeface="Tahoma" pitchFamily="34" charset="-120"/>
              </a:rPr>
              <a:t>Fix a category once and it is remembered. You can view and delete learned rules.</a:t>
            </a:r>
            <a:endParaRPr lang="en-US" sz="1200" dirty="0"/>
          </a:p>
        </p:txBody>
      </p:sp>
      <p:sp>
        <p:nvSpPr>
          <p:cNvPr id="19" name="Personal savings tips"/>
          <p:cNvSpPr/>
          <p:nvPr/>
        </p:nvSpPr>
        <p:spPr>
          <a:xfrm>
            <a:off x="4892040" y="2578608"/>
            <a:ext cx="3284068" cy="1097280"/>
          </a:xfrm>
          <a:prstGeom prst="roundRect">
            <a:avLst>
              <a:gd name="adj" fmla="val 10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0" name="Icon circle"/>
          <p:cNvSpPr/>
          <p:nvPr/>
        </p:nvSpPr>
        <p:spPr>
          <a:xfrm>
            <a:off x="5074920" y="2761488"/>
            <a:ext cx="420624" cy="420624"/>
          </a:xfrm>
          <a:prstGeom prst="ellipse">
            <a:avLst/>
          </a:prstGeom>
          <a:solidFill>
            <a:srgbClr val="D5F5E8"/>
          </a:solidFill>
          <a:ln w="12700">
            <a:solidFill>
              <a:srgbClr val="D5F5E8"/>
            </a:solidFill>
            <a:prstDash val="solid"/>
          </a:ln>
        </p:spPr>
      </p:sp>
      <p:pic>
        <p:nvPicPr>
          <p:cNvPr id="21" name="Image 4" descr="PiggyBank icon"/>
          <p:cNvPicPr>
            <a:picLocks noChangeAspect="1"/>
          </p:cNvPicPr>
          <p:nvPr/>
        </p:nvPicPr>
        <p:blipFill>
          <a:blip r:embed="rId7"/>
          <a:stretch>
            <a:fillRect/>
          </a:stretch>
        </p:blipFill>
        <p:spPr>
          <a:xfrm>
            <a:off x="5180076" y="2866644"/>
            <a:ext cx="210312" cy="210312"/>
          </a:xfrm>
          <a:prstGeom prst="rect">
            <a:avLst/>
          </a:prstGeom>
        </p:spPr>
      </p:pic>
      <p:sp>
        <p:nvSpPr>
          <p:cNvPr id="22" name="Text 14"/>
          <p:cNvSpPr txBox="1"/>
          <p:nvPr/>
        </p:nvSpPr>
        <p:spPr>
          <a:xfrm>
            <a:off x="5660136" y="2743200"/>
            <a:ext cx="2333092" cy="822960"/>
          </a:xfrm>
          <a:prstGeom prst="rect">
            <a:avLst/>
          </a:prstGeom>
          <a:noFill/>
          <a:ln/>
        </p:spPr>
        <p:txBody>
          <a:bodyPr wrap="square" lIns="0" tIns="0" rIns="0" bIns="0" rtlCol="0" anchor="t"/>
          <a:lstStyle/>
          <a:p>
            <a:pPr marL="0" indent="0">
              <a:spcAft>
                <a:spcPts val="300"/>
              </a:spcAft>
              <a:buNone/>
            </a:pPr>
            <a:r>
              <a:rPr lang="en-US" sz="1200" b="1" dirty="0">
                <a:solidFill>
                  <a:srgbClr val="0B1730"/>
                </a:solidFill>
                <a:latin typeface="Tahoma" pitchFamily="34" charset="0"/>
                <a:ea typeface="Tahoma" pitchFamily="34" charset="-122"/>
                <a:cs typeface="Tahoma" pitchFamily="34" charset="-120"/>
              </a:rPr>
              <a:t>Personal savings tips</a:t>
            </a:r>
            <a:endParaRPr lang="en-US" sz="1200" dirty="0"/>
          </a:p>
          <a:p>
            <a:pPr marL="0" indent="0">
              <a:buNone/>
            </a:pPr>
            <a:r>
              <a:rPr lang="en-US" sz="1050" dirty="0">
                <a:solidFill>
                  <a:srgbClr val="53627A"/>
                </a:solidFill>
                <a:latin typeface="Tahoma" pitchFamily="34" charset="0"/>
                <a:ea typeface="Tahoma" pitchFamily="34" charset="-122"/>
                <a:cs typeface="Tahoma" pitchFamily="34" charset="-120"/>
              </a:rPr>
              <a:t>3 tips from your own spending, with a "Why this tip" note. Every number is checked first.</a:t>
            </a:r>
            <a:endParaRPr lang="en-US" sz="1200" dirty="0"/>
          </a:p>
        </p:txBody>
      </p:sp>
      <p:sp>
        <p:nvSpPr>
          <p:cNvPr id="23" name="Ask Montra"/>
          <p:cNvSpPr/>
          <p:nvPr/>
        </p:nvSpPr>
        <p:spPr>
          <a:xfrm>
            <a:off x="8358988" y="2578608"/>
            <a:ext cx="3284068" cy="1097280"/>
          </a:xfrm>
          <a:prstGeom prst="roundRect">
            <a:avLst>
              <a:gd name="adj" fmla="val 10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4" name="Icon circle"/>
          <p:cNvSpPr/>
          <p:nvPr/>
        </p:nvSpPr>
        <p:spPr>
          <a:xfrm>
            <a:off x="8541868" y="2761488"/>
            <a:ext cx="420624" cy="420624"/>
          </a:xfrm>
          <a:prstGeom prst="ellipse">
            <a:avLst/>
          </a:prstGeom>
          <a:solidFill>
            <a:srgbClr val="DCE8FE"/>
          </a:solidFill>
          <a:ln w="12700">
            <a:solidFill>
              <a:srgbClr val="DCE8FE"/>
            </a:solidFill>
            <a:prstDash val="solid"/>
          </a:ln>
        </p:spPr>
      </p:sp>
      <p:pic>
        <p:nvPicPr>
          <p:cNvPr id="25" name="Image 5" descr="Comments icon"/>
          <p:cNvPicPr>
            <a:picLocks noChangeAspect="1"/>
          </p:cNvPicPr>
          <p:nvPr/>
        </p:nvPicPr>
        <p:blipFill>
          <a:blip r:embed="rId8"/>
          <a:stretch>
            <a:fillRect/>
          </a:stretch>
        </p:blipFill>
        <p:spPr>
          <a:xfrm>
            <a:off x="8647024" y="2866644"/>
            <a:ext cx="210312" cy="210312"/>
          </a:xfrm>
          <a:prstGeom prst="rect">
            <a:avLst/>
          </a:prstGeom>
        </p:spPr>
      </p:pic>
      <p:sp>
        <p:nvSpPr>
          <p:cNvPr id="26" name="Text 17"/>
          <p:cNvSpPr txBox="1"/>
          <p:nvPr/>
        </p:nvSpPr>
        <p:spPr>
          <a:xfrm>
            <a:off x="9127084" y="2743200"/>
            <a:ext cx="2333092" cy="822960"/>
          </a:xfrm>
          <a:prstGeom prst="rect">
            <a:avLst/>
          </a:prstGeom>
          <a:noFill/>
          <a:ln/>
        </p:spPr>
        <p:txBody>
          <a:bodyPr wrap="square" lIns="0" tIns="0" rIns="0" bIns="0" rtlCol="0" anchor="t"/>
          <a:lstStyle/>
          <a:p>
            <a:pPr marL="0" indent="0">
              <a:spcAft>
                <a:spcPts val="300"/>
              </a:spcAft>
              <a:buNone/>
            </a:pPr>
            <a:r>
              <a:rPr lang="en-US" sz="1200" b="1" dirty="0">
                <a:solidFill>
                  <a:srgbClr val="0B1730"/>
                </a:solidFill>
                <a:latin typeface="Tahoma" pitchFamily="34" charset="0"/>
                <a:ea typeface="Tahoma" pitchFamily="34" charset="-122"/>
                <a:cs typeface="Tahoma" pitchFamily="34" charset="-120"/>
              </a:rPr>
              <a:t>Ask Montra</a:t>
            </a:r>
            <a:endParaRPr lang="en-US" sz="1200" dirty="0"/>
          </a:p>
          <a:p>
            <a:pPr marL="0" indent="0">
              <a:buNone/>
            </a:pPr>
            <a:r>
              <a:rPr lang="en-US" sz="1050" dirty="0">
                <a:solidFill>
                  <a:srgbClr val="53627A"/>
                </a:solidFill>
                <a:latin typeface="Tahoma" pitchFamily="34" charset="0"/>
                <a:ea typeface="Tahoma" pitchFamily="34" charset="-122"/>
                <a:cs typeface="Tahoma" pitchFamily="34" charset="-120"/>
              </a:rPr>
              <a:t>Our assistant. Ask "What were my 5 biggest expenses?" or "Compare this month with last month".</a:t>
            </a:r>
            <a:endParaRPr lang="en-US" sz="1200" dirty="0"/>
          </a:p>
        </p:txBody>
      </p:sp>
      <p:sp>
        <p:nvSpPr>
          <p:cNvPr id="27" name="Leftover split"/>
          <p:cNvSpPr/>
          <p:nvPr/>
        </p:nvSpPr>
        <p:spPr>
          <a:xfrm>
            <a:off x="4892040" y="3785616"/>
            <a:ext cx="3284068" cy="1097280"/>
          </a:xfrm>
          <a:prstGeom prst="roundRect">
            <a:avLst>
              <a:gd name="adj" fmla="val 10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8" name="Icon circle"/>
          <p:cNvSpPr/>
          <p:nvPr/>
        </p:nvSpPr>
        <p:spPr>
          <a:xfrm>
            <a:off x="5074920" y="3968496"/>
            <a:ext cx="420624" cy="420624"/>
          </a:xfrm>
          <a:prstGeom prst="ellipse">
            <a:avLst/>
          </a:prstGeom>
          <a:solidFill>
            <a:srgbClr val="CFF1F7"/>
          </a:solidFill>
          <a:ln w="12700">
            <a:solidFill>
              <a:srgbClr val="CFF1F7"/>
            </a:solidFill>
            <a:prstDash val="solid"/>
          </a:ln>
        </p:spPr>
      </p:sp>
      <p:pic>
        <p:nvPicPr>
          <p:cNvPr id="29" name="Image 6" descr="BalanceScale icon"/>
          <p:cNvPicPr>
            <a:picLocks noChangeAspect="1"/>
          </p:cNvPicPr>
          <p:nvPr/>
        </p:nvPicPr>
        <p:blipFill>
          <a:blip r:embed="rId9"/>
          <a:stretch>
            <a:fillRect/>
          </a:stretch>
        </p:blipFill>
        <p:spPr>
          <a:xfrm>
            <a:off x="5180076" y="4073652"/>
            <a:ext cx="210312" cy="210312"/>
          </a:xfrm>
          <a:prstGeom prst="rect">
            <a:avLst/>
          </a:prstGeom>
        </p:spPr>
      </p:pic>
      <p:sp>
        <p:nvSpPr>
          <p:cNvPr id="30" name="Text 20"/>
          <p:cNvSpPr txBox="1"/>
          <p:nvPr/>
        </p:nvSpPr>
        <p:spPr>
          <a:xfrm>
            <a:off x="5660136" y="3950208"/>
            <a:ext cx="2333092" cy="822960"/>
          </a:xfrm>
          <a:prstGeom prst="rect">
            <a:avLst/>
          </a:prstGeom>
          <a:noFill/>
          <a:ln/>
        </p:spPr>
        <p:txBody>
          <a:bodyPr wrap="square" lIns="0" tIns="0" rIns="0" bIns="0" rtlCol="0" anchor="t"/>
          <a:lstStyle/>
          <a:p>
            <a:pPr marL="0" indent="0">
              <a:spcAft>
                <a:spcPts val="300"/>
              </a:spcAft>
              <a:buNone/>
            </a:pPr>
            <a:r>
              <a:rPr lang="en-US" sz="1200" b="1" dirty="0">
                <a:solidFill>
                  <a:srgbClr val="0B1730"/>
                </a:solidFill>
                <a:latin typeface="Tahoma" pitchFamily="34" charset="0"/>
                <a:ea typeface="Tahoma" pitchFamily="34" charset="-122"/>
                <a:cs typeface="Tahoma" pitchFamily="34" charset="-120"/>
              </a:rPr>
              <a:t>Leftover split</a:t>
            </a:r>
            <a:endParaRPr lang="en-US" sz="1200" dirty="0"/>
          </a:p>
          <a:p>
            <a:pPr marL="0" indent="0">
              <a:buNone/>
            </a:pPr>
            <a:r>
              <a:rPr lang="en-US" sz="1050" dirty="0">
                <a:solidFill>
                  <a:srgbClr val="53627A"/>
                </a:solidFill>
                <a:latin typeface="Tahoma" pitchFamily="34" charset="0"/>
                <a:ea typeface="Tahoma" pitchFamily="34" charset="-122"/>
                <a:cs typeface="Tahoma" pitchFamily="34" charset="-120"/>
              </a:rPr>
              <a:t>Pick a month, see what is left, get a suggested split across goals. 20% always stays free.</a:t>
            </a:r>
            <a:endParaRPr lang="en-US" sz="1200" dirty="0"/>
          </a:p>
        </p:txBody>
      </p:sp>
      <p:sp>
        <p:nvSpPr>
          <p:cNvPr id="31" name="Saved results, safe fallbacks"/>
          <p:cNvSpPr/>
          <p:nvPr/>
        </p:nvSpPr>
        <p:spPr>
          <a:xfrm>
            <a:off x="8358988" y="3785616"/>
            <a:ext cx="3284068" cy="1097280"/>
          </a:xfrm>
          <a:prstGeom prst="roundRect">
            <a:avLst>
              <a:gd name="adj" fmla="val 10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2" name="Icon circle"/>
          <p:cNvSpPr/>
          <p:nvPr/>
        </p:nvSpPr>
        <p:spPr>
          <a:xfrm>
            <a:off x="8541868" y="3968496"/>
            <a:ext cx="420624" cy="420624"/>
          </a:xfrm>
          <a:prstGeom prst="ellipse">
            <a:avLst/>
          </a:prstGeom>
          <a:solidFill>
            <a:srgbClr val="FDEFCF"/>
          </a:solidFill>
          <a:ln w="12700">
            <a:solidFill>
              <a:srgbClr val="FDEFCF"/>
            </a:solidFill>
            <a:prstDash val="solid"/>
          </a:ln>
        </p:spPr>
      </p:sp>
      <p:pic>
        <p:nvPicPr>
          <p:cNvPr id="33" name="Image 7" descr="Database icon"/>
          <p:cNvPicPr>
            <a:picLocks noChangeAspect="1"/>
          </p:cNvPicPr>
          <p:nvPr/>
        </p:nvPicPr>
        <p:blipFill>
          <a:blip r:embed="rId10"/>
          <a:stretch>
            <a:fillRect/>
          </a:stretch>
        </p:blipFill>
        <p:spPr>
          <a:xfrm>
            <a:off x="8647024" y="4073652"/>
            <a:ext cx="210312" cy="210312"/>
          </a:xfrm>
          <a:prstGeom prst="rect">
            <a:avLst/>
          </a:prstGeom>
        </p:spPr>
      </p:pic>
      <p:sp>
        <p:nvSpPr>
          <p:cNvPr id="34" name="Text 23"/>
          <p:cNvSpPr txBox="1"/>
          <p:nvPr/>
        </p:nvSpPr>
        <p:spPr>
          <a:xfrm>
            <a:off x="9127084" y="3950208"/>
            <a:ext cx="2333092" cy="822960"/>
          </a:xfrm>
          <a:prstGeom prst="rect">
            <a:avLst/>
          </a:prstGeom>
          <a:noFill/>
          <a:ln/>
        </p:spPr>
        <p:txBody>
          <a:bodyPr wrap="square" lIns="0" tIns="0" rIns="0" bIns="0" rtlCol="0" anchor="t"/>
          <a:lstStyle/>
          <a:p>
            <a:pPr marL="0" indent="0">
              <a:spcAft>
                <a:spcPts val="300"/>
              </a:spcAft>
              <a:buNone/>
            </a:pPr>
            <a:r>
              <a:rPr lang="en-US" sz="1200" b="1" dirty="0">
                <a:solidFill>
                  <a:srgbClr val="0B1730"/>
                </a:solidFill>
                <a:latin typeface="Tahoma" pitchFamily="34" charset="0"/>
                <a:ea typeface="Tahoma" pitchFamily="34" charset="-122"/>
                <a:cs typeface="Tahoma" pitchFamily="34" charset="-120"/>
              </a:rPr>
              <a:t>Saved results, safe fallbacks</a:t>
            </a:r>
            <a:endParaRPr lang="en-US" sz="1200" dirty="0"/>
          </a:p>
          <a:p>
            <a:pPr marL="0" indent="0">
              <a:buNone/>
            </a:pPr>
            <a:r>
              <a:rPr lang="en-US" sz="1050" dirty="0">
                <a:solidFill>
                  <a:srgbClr val="53627A"/>
                </a:solidFill>
                <a:latin typeface="Tahoma" pitchFamily="34" charset="0"/>
                <a:ea typeface="Tahoma" pitchFamily="34" charset="-122"/>
                <a:cs typeface="Tahoma" pitchFamily="34" charset="-120"/>
              </a:rPr>
              <a:t>Answers are saved (cached) so AI is not called twice for the same data. If AI is down, each feature has a backup.</a:t>
            </a:r>
            <a:endParaRPr lang="en-US" sz="1200" dirty="0"/>
          </a:p>
        </p:txBody>
      </p:sp>
      <p:sp>
        <p:nvSpPr>
          <p:cNvPr id="35" name="Built vs AI strip"/>
          <p:cNvSpPr/>
          <p:nvPr/>
        </p:nvSpPr>
        <p:spPr>
          <a:xfrm>
            <a:off x="4892040" y="5029200"/>
            <a:ext cx="6751015" cy="1325880"/>
          </a:xfrm>
          <a:prstGeom prst="roundRect">
            <a:avLst>
              <a:gd name="adj" fmla="val 8276"/>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6" name="Text 25"/>
          <p:cNvSpPr txBox="1"/>
          <p:nvPr/>
        </p:nvSpPr>
        <p:spPr>
          <a:xfrm>
            <a:off x="5120640" y="5138928"/>
            <a:ext cx="6293815" cy="256032"/>
          </a:xfrm>
          <a:prstGeom prst="rect">
            <a:avLst/>
          </a:prstGeom>
          <a:noFill/>
          <a:ln/>
        </p:spPr>
        <p:txBody>
          <a:bodyPr wrap="square" lIns="0" tIns="0" rIns="0" bIns="0" rtlCol="0" anchor="t"/>
          <a:lstStyle/>
          <a:p>
            <a:pPr marL="0" indent="0">
              <a:buNone/>
            </a:pPr>
            <a:r>
              <a:rPr lang="en-US" sz="1100" b="1" kern="0" spc="200" dirty="0">
                <a:solidFill>
                  <a:srgbClr val="0E7490"/>
                </a:solidFill>
                <a:latin typeface="Tahoma" pitchFamily="34" charset="0"/>
                <a:ea typeface="Tahoma" pitchFamily="34" charset="-122"/>
                <a:cs typeface="Tahoma" pitchFamily="34" charset="-120"/>
              </a:rPr>
              <a:t>WHAT WE BUILT VS WHAT AI DOES</a:t>
            </a:r>
            <a:endParaRPr lang="en-US" sz="1100" dirty="0"/>
          </a:p>
        </p:txBody>
      </p:sp>
      <p:sp>
        <p:nvSpPr>
          <p:cNvPr id="37" name="Text 26"/>
          <p:cNvSpPr txBox="1"/>
          <p:nvPr/>
        </p:nvSpPr>
        <p:spPr>
          <a:xfrm>
            <a:off x="5120640" y="5440680"/>
            <a:ext cx="3009748" cy="868680"/>
          </a:xfrm>
          <a:prstGeom prst="rect">
            <a:avLst/>
          </a:prstGeom>
          <a:noFill/>
          <a:ln/>
        </p:spPr>
        <p:txBody>
          <a:bodyPr wrap="square" lIns="0" tIns="0" rIns="0" bIns="0" rtlCol="0" anchor="t"/>
          <a:lstStyle/>
          <a:p>
            <a:pPr marL="0" indent="0">
              <a:buNone/>
            </a:pPr>
            <a:r>
              <a:rPr lang="en-US" sz="1050" b="1" dirty="0">
                <a:solidFill>
                  <a:srgbClr val="C2365A"/>
                </a:solidFill>
                <a:latin typeface="Tahoma" pitchFamily="34" charset="0"/>
                <a:ea typeface="Tahoma" pitchFamily="34" charset="-122"/>
                <a:cs typeface="Tahoma" pitchFamily="34" charset="-120"/>
              </a:rPr>
              <a:t>AI only:</a:t>
            </a:r>
            <a:endParaRPr lang="en-US" sz="1050" dirty="0"/>
          </a:p>
          <a:p>
            <a:pPr marL="0" indent="0">
              <a:buNone/>
            </a:pPr>
            <a:r>
              <a:rPr lang="en-US" sz="1050" dirty="0">
                <a:solidFill>
                  <a:srgbClr val="0B1730"/>
                </a:solidFill>
                <a:latin typeface="Tahoma" pitchFamily="34" charset="0"/>
                <a:ea typeface="Tahoma" pitchFamily="34" charset="-122"/>
                <a:cs typeface="Tahoma" pitchFamily="34" charset="-120"/>
              </a:rPr>
              <a:t>1) labels descriptions</a:t>
            </a:r>
            <a:endParaRPr lang="en-US" sz="1050" dirty="0"/>
          </a:p>
          <a:p>
            <a:pPr marL="0" indent="0">
              <a:buNone/>
            </a:pPr>
            <a:r>
              <a:rPr lang="en-US" sz="1050" dirty="0">
                <a:solidFill>
                  <a:srgbClr val="0B1730"/>
                </a:solidFill>
                <a:latin typeface="Tahoma" pitchFamily="34" charset="0"/>
                <a:ea typeface="Tahoma" pitchFamily="34" charset="-122"/>
                <a:cs typeface="Tahoma" pitchFamily="34" charset="-120"/>
              </a:rPr>
              <a:t>2) writes the tip wording</a:t>
            </a:r>
            <a:endParaRPr lang="en-US" sz="1050" dirty="0"/>
          </a:p>
          <a:p>
            <a:pPr marL="0" indent="0">
              <a:buNone/>
            </a:pPr>
            <a:r>
              <a:rPr lang="en-US" sz="1050" dirty="0">
                <a:solidFill>
                  <a:srgbClr val="0B1730"/>
                </a:solidFill>
                <a:latin typeface="Tahoma" pitchFamily="34" charset="0"/>
                <a:ea typeface="Tahoma" pitchFamily="34" charset="-122"/>
                <a:cs typeface="Tahoma" pitchFamily="34" charset="-120"/>
              </a:rPr>
              <a:t>3) turns a question into a simple search</a:t>
            </a:r>
            <a:endParaRPr lang="en-US" sz="1050" dirty="0"/>
          </a:p>
        </p:txBody>
      </p:sp>
      <p:sp>
        <p:nvSpPr>
          <p:cNvPr id="38" name="Text 27"/>
          <p:cNvSpPr txBox="1"/>
          <p:nvPr/>
        </p:nvSpPr>
        <p:spPr>
          <a:xfrm>
            <a:off x="8404708" y="5440680"/>
            <a:ext cx="3009748" cy="868680"/>
          </a:xfrm>
          <a:prstGeom prst="rect">
            <a:avLst/>
          </a:prstGeom>
          <a:noFill/>
          <a:ln/>
        </p:spPr>
        <p:txBody>
          <a:bodyPr wrap="square" lIns="0" tIns="0" rIns="0" bIns="0" rtlCol="0" anchor="t"/>
          <a:lstStyle/>
          <a:p>
            <a:pPr marL="0" indent="0">
              <a:buNone/>
            </a:pPr>
            <a:r>
              <a:rPr lang="en-US" sz="1050" b="1" dirty="0">
                <a:solidFill>
                  <a:srgbClr val="0A9468"/>
                </a:solidFill>
                <a:latin typeface="Tahoma" pitchFamily="34" charset="0"/>
                <a:ea typeface="Tahoma" pitchFamily="34" charset="-122"/>
                <a:cs typeface="Tahoma" pitchFamily="34" charset="-120"/>
              </a:rPr>
              <a:t>We built everything else: </a:t>
            </a:r>
            <a:r>
              <a:rPr lang="en-US" sz="1050" dirty="0">
                <a:solidFill>
                  <a:srgbClr val="0B1730"/>
                </a:solidFill>
                <a:latin typeface="Tahoma" pitchFamily="34" charset="0"/>
                <a:ea typeface="Tahoma" pitchFamily="34" charset="-122"/>
                <a:cs typeface="Tahoma" pitchFamily="34" charset="-120"/>
              </a:rPr>
              <a:t>reading statements, rules, all maths and totals, checks on AI output, security, charts and the app. Montra never sees your transactions; the app calculates the answer itself.</a:t>
            </a:r>
            <a:endParaRPr lang="en-US" sz="105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9</a:t>
            </a:fld>
            <a:endParaRPr lang="en-US"/>
          </a:p>
        </p:txBody>
      </p:sp>
      <p:cxnSp>
        <p:nvCxnSpPr>
          <p:cNvPr id="40" name="Straight Connector 39">
            <a:extLst>
              <a:ext uri="{FF2B5EF4-FFF2-40B4-BE49-F238E27FC236}">
                <a16:creationId xmlns:a16="http://schemas.microsoft.com/office/drawing/2014/main" id="{D10F5553-D36C-0249-3C8F-44F50F56549E}"/>
              </a:ext>
            </a:extLst>
          </p:cNvPr>
          <p:cNvCxnSpPr/>
          <p:nvPr/>
        </p:nvCxnSpPr>
        <p:spPr>
          <a:xfrm>
            <a:off x="7901795" y="5440680"/>
            <a:ext cx="0" cy="667512"/>
          </a:xfrm>
          <a:prstGeom prst="line">
            <a:avLst/>
          </a:prstGeom>
          <a:ln w="9525">
            <a:solidFill>
              <a:srgbClr val="0E749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Money Planning Tools</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BUDGETS, GOALS, FORECASTS AND INSIGHTS</a:t>
            </a:r>
            <a:endParaRPr lang="en-US" sz="1200" dirty="0"/>
          </a:p>
        </p:txBody>
      </p:sp>
      <p:sp>
        <p:nvSpPr>
          <p:cNvPr id="5" name="Screenshot frame"/>
          <p:cNvSpPr/>
          <p:nvPr/>
        </p:nvSpPr>
        <p:spPr>
          <a:xfrm>
            <a:off x="548640" y="1371600"/>
            <a:ext cx="5413248" cy="3424082"/>
          </a:xfrm>
          <a:prstGeom prst="roundRect">
            <a:avLst>
              <a:gd name="adj" fmla="val 2136"/>
            </a:avLst>
          </a:prstGeom>
          <a:solidFill>
            <a:srgbClr val="FFFFFF"/>
          </a:solidFill>
          <a:ln w="12700">
            <a:solidFill>
              <a:srgbClr val="D9E3F0"/>
            </a:solidFill>
            <a:prstDash val="solid"/>
          </a:ln>
          <a:effectLst>
            <a:outerShdw blurRad="101600" dist="25400" dir="5400000" algn="bl" rotWithShape="0">
              <a:srgbClr val="1E3A5F">
                <a:alpha val="10000"/>
              </a:srgbClr>
            </a:outerShdw>
          </a:effectLst>
        </p:spPr>
      </p:sp>
      <p:pic>
        <p:nvPicPr>
          <p:cNvPr id="6" name="Image 0" descr="Budget limits with progress bars and a savings goal screenshot"/>
          <p:cNvPicPr>
            <a:picLocks noChangeAspect="1"/>
          </p:cNvPicPr>
          <p:nvPr/>
        </p:nvPicPr>
        <p:blipFill>
          <a:blip r:embed="rId3"/>
          <a:stretch>
            <a:fillRect/>
          </a:stretch>
        </p:blipFill>
        <p:spPr>
          <a:xfrm>
            <a:off x="603504" y="1426464"/>
            <a:ext cx="5303520" cy="3314354"/>
          </a:xfrm>
          <a:prstGeom prst="rect">
            <a:avLst/>
          </a:prstGeom>
        </p:spPr>
      </p:pic>
      <p:sp>
        <p:nvSpPr>
          <p:cNvPr id="7" name="Text 3"/>
          <p:cNvSpPr txBox="1"/>
          <p:nvPr/>
        </p:nvSpPr>
        <p:spPr>
          <a:xfrm>
            <a:off x="548640" y="4850546"/>
            <a:ext cx="5303520" cy="228600"/>
          </a:xfrm>
          <a:prstGeom prst="rect">
            <a:avLst/>
          </a:prstGeom>
          <a:noFill/>
          <a:ln/>
        </p:spPr>
        <p:txBody>
          <a:bodyPr wrap="square" lIns="0" tIns="0" rIns="0" bIns="0" rtlCol="0" anchor="t"/>
          <a:lstStyle/>
          <a:p>
            <a:pPr marL="0" indent="0">
              <a:buNone/>
            </a:pPr>
            <a:r>
              <a:rPr lang="en-US" sz="1000" i="1" dirty="0">
                <a:solidFill>
                  <a:srgbClr val="53627A"/>
                </a:solidFill>
                <a:latin typeface="Tahoma" pitchFamily="34" charset="0"/>
                <a:ea typeface="Tahoma" pitchFamily="34" charset="-122"/>
                <a:cs typeface="Tahoma" pitchFamily="34" charset="-120"/>
              </a:rPr>
              <a:t>Budget limits and savings goals (demo data)</a:t>
            </a:r>
            <a:endParaRPr lang="en-US" sz="1000" dirty="0"/>
          </a:p>
        </p:txBody>
      </p:sp>
      <p:sp>
        <p:nvSpPr>
          <p:cNvPr id="8" name="Month-end forecast"/>
          <p:cNvSpPr/>
          <p:nvPr/>
        </p:nvSpPr>
        <p:spPr>
          <a:xfrm>
            <a:off x="548640" y="5198018"/>
            <a:ext cx="2615184" cy="1157062"/>
          </a:xfrm>
          <a:prstGeom prst="roundRect">
            <a:avLst>
              <a:gd name="adj" fmla="val 9483"/>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9" name="Icon circle"/>
          <p:cNvSpPr/>
          <p:nvPr/>
        </p:nvSpPr>
        <p:spPr>
          <a:xfrm>
            <a:off x="731520" y="5380898"/>
            <a:ext cx="420624" cy="420624"/>
          </a:xfrm>
          <a:prstGeom prst="ellipse">
            <a:avLst/>
          </a:prstGeom>
          <a:solidFill>
            <a:srgbClr val="DCE8FE"/>
          </a:solidFill>
          <a:ln w="12700">
            <a:solidFill>
              <a:srgbClr val="DCE8FE"/>
            </a:solidFill>
            <a:prstDash val="solid"/>
          </a:ln>
        </p:spPr>
      </p:sp>
      <p:pic>
        <p:nvPicPr>
          <p:cNvPr id="10" name="Image 1" descr="CalendarAlt icon"/>
          <p:cNvPicPr>
            <a:picLocks noChangeAspect="1"/>
          </p:cNvPicPr>
          <p:nvPr/>
        </p:nvPicPr>
        <p:blipFill>
          <a:blip r:embed="rId4"/>
          <a:stretch>
            <a:fillRect/>
          </a:stretch>
        </p:blipFill>
        <p:spPr>
          <a:xfrm>
            <a:off x="836676" y="5486054"/>
            <a:ext cx="210312" cy="210312"/>
          </a:xfrm>
          <a:prstGeom prst="rect">
            <a:avLst/>
          </a:prstGeom>
        </p:spPr>
      </p:pic>
      <p:sp>
        <p:nvSpPr>
          <p:cNvPr id="11" name="Text 6"/>
          <p:cNvSpPr txBox="1"/>
          <p:nvPr/>
        </p:nvSpPr>
        <p:spPr>
          <a:xfrm>
            <a:off x="1316736" y="5362610"/>
            <a:ext cx="1664208" cy="882742"/>
          </a:xfrm>
          <a:prstGeom prst="rect">
            <a:avLst/>
          </a:prstGeom>
          <a:noFill/>
          <a:ln/>
        </p:spPr>
        <p:txBody>
          <a:bodyPr wrap="square" lIns="0" tIns="0" rIns="0" bIns="0" rtlCol="0" anchor="t"/>
          <a:lstStyle/>
          <a:p>
            <a:pPr marL="0" indent="0">
              <a:spcAft>
                <a:spcPts val="300"/>
              </a:spcAft>
              <a:buNone/>
            </a:pPr>
            <a:r>
              <a:rPr lang="en-US" sz="1200" b="1" dirty="0">
                <a:solidFill>
                  <a:srgbClr val="0B1730"/>
                </a:solidFill>
                <a:latin typeface="Tahoma" pitchFamily="34" charset="0"/>
                <a:ea typeface="Tahoma" pitchFamily="34" charset="-122"/>
                <a:cs typeface="Tahoma" pitchFamily="34" charset="-120"/>
              </a:rPr>
              <a:t>Month-end forecast</a:t>
            </a:r>
            <a:endParaRPr lang="en-US" sz="1200" dirty="0"/>
          </a:p>
          <a:p>
            <a:pPr marL="0" indent="0">
              <a:buNone/>
            </a:pPr>
            <a:r>
              <a:rPr lang="en-US" sz="1050" dirty="0">
                <a:solidFill>
                  <a:srgbClr val="53627A"/>
                </a:solidFill>
                <a:latin typeface="Tahoma" pitchFamily="34" charset="0"/>
                <a:ea typeface="Tahoma" pitchFamily="34" charset="-122"/>
                <a:cs typeface="Tahoma" pitchFamily="34" charset="-120"/>
              </a:rPr>
              <a:t>Predicts whether you will end the month with money left or short.</a:t>
            </a:r>
            <a:endParaRPr lang="en-US" sz="1200" dirty="0"/>
          </a:p>
        </p:txBody>
      </p:sp>
      <p:sp>
        <p:nvSpPr>
          <p:cNvPr id="12" name="Cash withdrawals"/>
          <p:cNvSpPr/>
          <p:nvPr/>
        </p:nvSpPr>
        <p:spPr>
          <a:xfrm>
            <a:off x="3346704" y="5198018"/>
            <a:ext cx="2615184" cy="1157062"/>
          </a:xfrm>
          <a:prstGeom prst="roundRect">
            <a:avLst>
              <a:gd name="adj" fmla="val 9483"/>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3" name="Icon circle"/>
          <p:cNvSpPr/>
          <p:nvPr/>
        </p:nvSpPr>
        <p:spPr>
          <a:xfrm>
            <a:off x="3529584" y="5380898"/>
            <a:ext cx="420624" cy="420624"/>
          </a:xfrm>
          <a:prstGeom prst="ellipse">
            <a:avLst/>
          </a:prstGeom>
          <a:solidFill>
            <a:srgbClr val="FDEFCF"/>
          </a:solidFill>
          <a:ln w="12700">
            <a:solidFill>
              <a:srgbClr val="FDEFCF"/>
            </a:solidFill>
            <a:prstDash val="solid"/>
          </a:ln>
        </p:spPr>
      </p:sp>
      <p:pic>
        <p:nvPicPr>
          <p:cNvPr id="14" name="Image 2" descr="MoneyBillWave icon"/>
          <p:cNvPicPr>
            <a:picLocks noChangeAspect="1"/>
          </p:cNvPicPr>
          <p:nvPr/>
        </p:nvPicPr>
        <p:blipFill>
          <a:blip r:embed="rId5"/>
          <a:stretch>
            <a:fillRect/>
          </a:stretch>
        </p:blipFill>
        <p:spPr>
          <a:xfrm>
            <a:off x="3634740" y="5486054"/>
            <a:ext cx="210312" cy="210312"/>
          </a:xfrm>
          <a:prstGeom prst="rect">
            <a:avLst/>
          </a:prstGeom>
        </p:spPr>
      </p:pic>
      <p:sp>
        <p:nvSpPr>
          <p:cNvPr id="15" name="Text 9"/>
          <p:cNvSpPr txBox="1"/>
          <p:nvPr/>
        </p:nvSpPr>
        <p:spPr>
          <a:xfrm>
            <a:off x="4114800" y="5362610"/>
            <a:ext cx="1664208" cy="882742"/>
          </a:xfrm>
          <a:prstGeom prst="rect">
            <a:avLst/>
          </a:prstGeom>
          <a:noFill/>
          <a:ln/>
        </p:spPr>
        <p:txBody>
          <a:bodyPr wrap="square" lIns="0" tIns="0" rIns="0" bIns="0" rtlCol="0" anchor="t"/>
          <a:lstStyle/>
          <a:p>
            <a:pPr marL="0" indent="0">
              <a:spcAft>
                <a:spcPts val="300"/>
              </a:spcAft>
              <a:buNone/>
            </a:pPr>
            <a:r>
              <a:rPr lang="en-US" sz="1200" b="1" dirty="0">
                <a:solidFill>
                  <a:srgbClr val="0B1730"/>
                </a:solidFill>
                <a:latin typeface="Tahoma" pitchFamily="34" charset="0"/>
                <a:ea typeface="Tahoma" pitchFamily="34" charset="-122"/>
                <a:cs typeface="Tahoma" pitchFamily="34" charset="-120"/>
              </a:rPr>
              <a:t>Cash withdrawals</a:t>
            </a:r>
            <a:endParaRPr lang="en-US" sz="1200" dirty="0"/>
          </a:p>
          <a:p>
            <a:pPr marL="0" indent="0">
              <a:buNone/>
            </a:pPr>
            <a:r>
              <a:rPr lang="en-US" sz="1050" dirty="0">
                <a:solidFill>
                  <a:srgbClr val="53627A"/>
                </a:solidFill>
                <a:latin typeface="Tahoma" pitchFamily="34" charset="0"/>
                <a:ea typeface="Tahoma" pitchFamily="34" charset="-122"/>
                <a:cs typeface="Tahoma" pitchFamily="34" charset="-120"/>
              </a:rPr>
              <a:t>Split an ATM withdrawal into categories (food, travel...). Totals stay unchanged.</a:t>
            </a:r>
            <a:endParaRPr lang="en-US" sz="1200" dirty="0"/>
          </a:p>
        </p:txBody>
      </p:sp>
      <p:sp>
        <p:nvSpPr>
          <p:cNvPr id="16" name="Budget limits and alerts"/>
          <p:cNvSpPr/>
          <p:nvPr/>
        </p:nvSpPr>
        <p:spPr>
          <a:xfrm>
            <a:off x="6263640" y="1371600"/>
            <a:ext cx="5379415" cy="1572768"/>
          </a:xfrm>
          <a:prstGeom prst="roundRect">
            <a:avLst>
              <a:gd name="adj" fmla="val 697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7" name="Icon circle"/>
          <p:cNvSpPr/>
          <p:nvPr/>
        </p:nvSpPr>
        <p:spPr>
          <a:xfrm>
            <a:off x="6446520" y="1920240"/>
            <a:ext cx="475488" cy="475488"/>
          </a:xfrm>
          <a:prstGeom prst="ellipse">
            <a:avLst/>
          </a:prstGeom>
          <a:solidFill>
            <a:srgbClr val="CFF1F7"/>
          </a:solidFill>
          <a:ln w="12700">
            <a:solidFill>
              <a:srgbClr val="CFF1F7"/>
            </a:solidFill>
            <a:prstDash val="solid"/>
          </a:ln>
        </p:spPr>
      </p:sp>
      <p:pic>
        <p:nvPicPr>
          <p:cNvPr id="18" name="Image 3" descr="SlidersH icon"/>
          <p:cNvPicPr>
            <a:picLocks noChangeAspect="1"/>
          </p:cNvPicPr>
          <p:nvPr/>
        </p:nvPicPr>
        <p:blipFill>
          <a:blip r:embed="rId6"/>
          <a:stretch>
            <a:fillRect/>
          </a:stretch>
        </p:blipFill>
        <p:spPr>
          <a:xfrm>
            <a:off x="6565392" y="2039112"/>
            <a:ext cx="237744" cy="237744"/>
          </a:xfrm>
          <a:prstGeom prst="rect">
            <a:avLst/>
          </a:prstGeom>
        </p:spPr>
      </p:pic>
      <p:sp>
        <p:nvSpPr>
          <p:cNvPr id="19" name="Text 12"/>
          <p:cNvSpPr txBox="1"/>
          <p:nvPr/>
        </p:nvSpPr>
        <p:spPr>
          <a:xfrm>
            <a:off x="7086600" y="1371600"/>
            <a:ext cx="4373575" cy="1298448"/>
          </a:xfrm>
          <a:prstGeom prst="rect">
            <a:avLst/>
          </a:prstGeom>
          <a:noFill/>
          <a:ln/>
        </p:spPr>
        <p:txBody>
          <a:bodyPr wrap="square" lIns="0" tIns="0" rIns="0" bIns="0" rtlCol="0" anchor="ctr"/>
          <a:lstStyle/>
          <a:p>
            <a:pPr marL="0" indent="0">
              <a:spcAft>
                <a:spcPts val="300"/>
              </a:spcAft>
              <a:buNone/>
            </a:pPr>
            <a:r>
              <a:rPr lang="en-US" sz="1400" b="1" dirty="0">
                <a:solidFill>
                  <a:srgbClr val="0B1730"/>
                </a:solidFill>
                <a:latin typeface="Tahoma" pitchFamily="34" charset="0"/>
                <a:ea typeface="Tahoma" pitchFamily="34" charset="-122"/>
                <a:cs typeface="Tahoma" pitchFamily="34" charset="-120"/>
              </a:rPr>
              <a:t>Budget limits and alerts</a:t>
            </a:r>
            <a:endParaRPr lang="en-US" sz="1200" dirty="0"/>
          </a:p>
          <a:p>
            <a:pPr marL="0" indent="0">
              <a:buNone/>
            </a:pPr>
            <a:r>
              <a:rPr lang="en-US" sz="1250" dirty="0">
                <a:solidFill>
                  <a:srgbClr val="53627A"/>
                </a:solidFill>
                <a:latin typeface="Tahoma" pitchFamily="34" charset="0"/>
                <a:ea typeface="Tahoma" pitchFamily="34" charset="-122"/>
                <a:cs typeface="Tahoma" pitchFamily="34" charset="-120"/>
              </a:rPr>
              <a:t>Overall and per-category limits with progress bars and "Approaching" or "Over budget" warnings. One click suggests a budget from your last 3 months.</a:t>
            </a:r>
            <a:endParaRPr lang="en-US" sz="1200" dirty="0"/>
          </a:p>
        </p:txBody>
      </p:sp>
      <p:sp>
        <p:nvSpPr>
          <p:cNvPr id="20" name="Savings goals"/>
          <p:cNvSpPr/>
          <p:nvPr/>
        </p:nvSpPr>
        <p:spPr>
          <a:xfrm>
            <a:off x="6263640" y="3076956"/>
            <a:ext cx="5379415" cy="1572768"/>
          </a:xfrm>
          <a:prstGeom prst="roundRect">
            <a:avLst>
              <a:gd name="adj" fmla="val 697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1" name="Icon circle"/>
          <p:cNvSpPr/>
          <p:nvPr/>
        </p:nvSpPr>
        <p:spPr>
          <a:xfrm>
            <a:off x="6446520" y="3625596"/>
            <a:ext cx="475488" cy="475488"/>
          </a:xfrm>
          <a:prstGeom prst="ellipse">
            <a:avLst/>
          </a:prstGeom>
          <a:solidFill>
            <a:srgbClr val="D5F5E8"/>
          </a:solidFill>
          <a:ln w="12700">
            <a:solidFill>
              <a:srgbClr val="D5F5E8"/>
            </a:solidFill>
            <a:prstDash val="solid"/>
          </a:ln>
        </p:spPr>
      </p:sp>
      <p:pic>
        <p:nvPicPr>
          <p:cNvPr id="22" name="Image 4" descr="PiggyBank icon"/>
          <p:cNvPicPr>
            <a:picLocks noChangeAspect="1"/>
          </p:cNvPicPr>
          <p:nvPr/>
        </p:nvPicPr>
        <p:blipFill>
          <a:blip r:embed="rId7"/>
          <a:stretch>
            <a:fillRect/>
          </a:stretch>
        </p:blipFill>
        <p:spPr>
          <a:xfrm>
            <a:off x="6565392" y="3744468"/>
            <a:ext cx="237744" cy="237744"/>
          </a:xfrm>
          <a:prstGeom prst="rect">
            <a:avLst/>
          </a:prstGeom>
        </p:spPr>
      </p:pic>
      <p:sp>
        <p:nvSpPr>
          <p:cNvPr id="23" name="Text 15"/>
          <p:cNvSpPr txBox="1"/>
          <p:nvPr/>
        </p:nvSpPr>
        <p:spPr>
          <a:xfrm>
            <a:off x="7086600" y="3076956"/>
            <a:ext cx="4373575" cy="1298448"/>
          </a:xfrm>
          <a:prstGeom prst="rect">
            <a:avLst/>
          </a:prstGeom>
          <a:noFill/>
          <a:ln/>
        </p:spPr>
        <p:txBody>
          <a:bodyPr wrap="square" lIns="0" tIns="0" rIns="0" bIns="0" rtlCol="0" anchor="ctr"/>
          <a:lstStyle/>
          <a:p>
            <a:pPr marL="0" indent="0">
              <a:spcAft>
                <a:spcPts val="300"/>
              </a:spcAft>
              <a:buNone/>
            </a:pPr>
            <a:r>
              <a:rPr lang="en-US" sz="1400" b="1" dirty="0">
                <a:solidFill>
                  <a:srgbClr val="0B1730"/>
                </a:solidFill>
                <a:latin typeface="Tahoma" pitchFamily="34" charset="0"/>
                <a:ea typeface="Tahoma" pitchFamily="34" charset="-122"/>
                <a:cs typeface="Tahoma" pitchFamily="34" charset="-120"/>
              </a:rPr>
              <a:t>Savings goals</a:t>
            </a:r>
            <a:endParaRPr lang="en-US" sz="1200" dirty="0"/>
          </a:p>
          <a:p>
            <a:pPr marL="0" indent="0">
              <a:buNone/>
            </a:pPr>
            <a:r>
              <a:rPr lang="en-US" sz="1250" dirty="0">
                <a:solidFill>
                  <a:srgbClr val="53627A"/>
                </a:solidFill>
                <a:latin typeface="Tahoma" pitchFamily="34" charset="0"/>
                <a:ea typeface="Tahoma" pitchFamily="34" charset="-122"/>
                <a:cs typeface="Tahoma" pitchFamily="34" charset="-120"/>
              </a:rPr>
              <a:t>Set a target and date, then add or withdraw money. Shows On track, Behind, Achieved or Overdue based on your usual monthly savings. Handles several goals together.</a:t>
            </a:r>
            <a:endParaRPr lang="en-US" sz="1200" dirty="0"/>
          </a:p>
        </p:txBody>
      </p:sp>
      <p:sp>
        <p:nvSpPr>
          <p:cNvPr id="24" name="Spending insights"/>
          <p:cNvSpPr/>
          <p:nvPr/>
        </p:nvSpPr>
        <p:spPr>
          <a:xfrm>
            <a:off x="6263640" y="4782312"/>
            <a:ext cx="5379415" cy="1572768"/>
          </a:xfrm>
          <a:prstGeom prst="roundRect">
            <a:avLst>
              <a:gd name="adj" fmla="val 697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5" name="Icon circle"/>
          <p:cNvSpPr/>
          <p:nvPr/>
        </p:nvSpPr>
        <p:spPr>
          <a:xfrm>
            <a:off x="6446520" y="5330952"/>
            <a:ext cx="475488" cy="475488"/>
          </a:xfrm>
          <a:prstGeom prst="ellipse">
            <a:avLst/>
          </a:prstGeom>
          <a:solidFill>
            <a:srgbClr val="DCE8FE"/>
          </a:solidFill>
          <a:ln w="12700">
            <a:solidFill>
              <a:srgbClr val="DCE8FE"/>
            </a:solidFill>
            <a:prstDash val="solid"/>
          </a:ln>
        </p:spPr>
      </p:sp>
      <p:pic>
        <p:nvPicPr>
          <p:cNvPr id="26" name="Image 5" descr="SearchDollar icon"/>
          <p:cNvPicPr>
            <a:picLocks noChangeAspect="1"/>
          </p:cNvPicPr>
          <p:nvPr/>
        </p:nvPicPr>
        <p:blipFill>
          <a:blip r:embed="rId8"/>
          <a:stretch>
            <a:fillRect/>
          </a:stretch>
        </p:blipFill>
        <p:spPr>
          <a:xfrm>
            <a:off x="6565392" y="5449824"/>
            <a:ext cx="237744" cy="237744"/>
          </a:xfrm>
          <a:prstGeom prst="rect">
            <a:avLst/>
          </a:prstGeom>
        </p:spPr>
      </p:pic>
      <p:sp>
        <p:nvSpPr>
          <p:cNvPr id="27" name="Text 18"/>
          <p:cNvSpPr txBox="1"/>
          <p:nvPr/>
        </p:nvSpPr>
        <p:spPr>
          <a:xfrm>
            <a:off x="7086600" y="4782312"/>
            <a:ext cx="4373575" cy="1298448"/>
          </a:xfrm>
          <a:prstGeom prst="rect">
            <a:avLst/>
          </a:prstGeom>
          <a:noFill/>
          <a:ln/>
        </p:spPr>
        <p:txBody>
          <a:bodyPr wrap="square" lIns="0" tIns="0" rIns="0" bIns="0" rtlCol="0" anchor="ctr"/>
          <a:lstStyle/>
          <a:p>
            <a:pPr marL="0" indent="0">
              <a:spcAft>
                <a:spcPts val="300"/>
              </a:spcAft>
              <a:buNone/>
            </a:pPr>
            <a:r>
              <a:rPr lang="en-US" sz="1400" b="1" dirty="0">
                <a:solidFill>
                  <a:srgbClr val="0B1730"/>
                </a:solidFill>
                <a:latin typeface="Tahoma" pitchFamily="34" charset="0"/>
                <a:ea typeface="Tahoma" pitchFamily="34" charset="-122"/>
                <a:cs typeface="Tahoma" pitchFamily="34" charset="-120"/>
              </a:rPr>
              <a:t>Spending insights</a:t>
            </a:r>
            <a:endParaRPr lang="en-US" sz="1200" dirty="0"/>
          </a:p>
          <a:p>
            <a:pPr marL="0" indent="0">
              <a:buNone/>
            </a:pPr>
            <a:r>
              <a:rPr lang="en-US" sz="1250" dirty="0">
                <a:solidFill>
                  <a:srgbClr val="53627A"/>
                </a:solidFill>
                <a:latin typeface="Tahoma" pitchFamily="34" charset="0"/>
                <a:ea typeface="Tahoma" pitchFamily="34" charset="-122"/>
                <a:cs typeface="Tahoma" pitchFamily="34" charset="-120"/>
              </a:rPr>
              <a:t>What changed vs another month, categories above your average, recurring bills and unusual charges.</a:t>
            </a:r>
            <a:endParaRPr lang="en-US" sz="120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Privacy and Security</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WHAT WE PROTECT, AND HOW</a:t>
            </a:r>
            <a:endParaRPr lang="en-US" sz="1200" dirty="0"/>
          </a:p>
        </p:txBody>
      </p:sp>
      <p:sp>
        <p:nvSpPr>
          <p:cNvPr id="5" name="Removed before AI"/>
          <p:cNvSpPr/>
          <p:nvPr/>
        </p:nvSpPr>
        <p:spPr>
          <a:xfrm>
            <a:off x="548640" y="1371600"/>
            <a:ext cx="5432908" cy="1874520"/>
          </a:xfrm>
          <a:prstGeom prst="roundRect">
            <a:avLst>
              <a:gd name="adj" fmla="val 5854"/>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6" name="Icon circle"/>
          <p:cNvSpPr/>
          <p:nvPr/>
        </p:nvSpPr>
        <p:spPr>
          <a:xfrm>
            <a:off x="731520" y="1988820"/>
            <a:ext cx="640080" cy="640080"/>
          </a:xfrm>
          <a:prstGeom prst="ellipse">
            <a:avLst/>
          </a:prstGeom>
          <a:solidFill>
            <a:srgbClr val="DCE8FE"/>
          </a:solidFill>
          <a:ln w="12700">
            <a:solidFill>
              <a:srgbClr val="DCE8FE"/>
            </a:solidFill>
            <a:prstDash val="solid"/>
          </a:ln>
        </p:spPr>
      </p:sp>
      <p:pic>
        <p:nvPicPr>
          <p:cNvPr id="7" name="Image 0" descr="EyeSlash icon"/>
          <p:cNvPicPr>
            <a:picLocks noChangeAspect="1"/>
          </p:cNvPicPr>
          <p:nvPr/>
        </p:nvPicPr>
        <p:blipFill>
          <a:blip r:embed="rId3"/>
          <a:stretch>
            <a:fillRect/>
          </a:stretch>
        </p:blipFill>
        <p:spPr>
          <a:xfrm>
            <a:off x="891540" y="2148840"/>
            <a:ext cx="320040" cy="320040"/>
          </a:xfrm>
          <a:prstGeom prst="rect">
            <a:avLst/>
          </a:prstGeom>
        </p:spPr>
      </p:pic>
      <p:sp>
        <p:nvSpPr>
          <p:cNvPr id="8" name="Text 4"/>
          <p:cNvSpPr txBox="1"/>
          <p:nvPr/>
        </p:nvSpPr>
        <p:spPr>
          <a:xfrm>
            <a:off x="1536192" y="1517904"/>
            <a:ext cx="4262476" cy="1600200"/>
          </a:xfrm>
          <a:prstGeom prst="rect">
            <a:avLst/>
          </a:prstGeom>
          <a:noFill/>
          <a:ln/>
        </p:spPr>
        <p:txBody>
          <a:bodyPr wrap="square" lIns="0" tIns="0" rIns="0" bIns="0" rtlCol="0" anchor="ctr"/>
          <a:lstStyle/>
          <a:p>
            <a:pPr marL="0" indent="0">
              <a:spcAft>
                <a:spcPts val="300"/>
              </a:spcAft>
              <a:buNone/>
            </a:pPr>
            <a:r>
              <a:rPr lang="en-US" sz="1700" b="1" dirty="0">
                <a:solidFill>
                  <a:srgbClr val="0B1730"/>
                </a:solidFill>
                <a:latin typeface="Tahoma" pitchFamily="34" charset="0"/>
                <a:ea typeface="Tahoma" pitchFamily="34" charset="-122"/>
                <a:cs typeface="Tahoma" pitchFamily="34" charset="-120"/>
              </a:rPr>
              <a:t>Removed before AI</a:t>
            </a:r>
            <a:endParaRPr lang="en-US" sz="1200" dirty="0"/>
          </a:p>
          <a:p>
            <a:pPr marL="0" indent="0">
              <a:buNone/>
            </a:pPr>
            <a:r>
              <a:rPr lang="en-US" sz="1450" dirty="0">
                <a:solidFill>
                  <a:srgbClr val="53627A"/>
                </a:solidFill>
                <a:latin typeface="Tahoma" pitchFamily="34" charset="0"/>
                <a:ea typeface="Tahoma" pitchFamily="34" charset="-122"/>
                <a:cs typeface="Tahoma" pitchFamily="34" charset="-120"/>
              </a:rPr>
              <a:t>Account numbers, UPI IDs and reference numbers are removed before anything reaches the AI.</a:t>
            </a:r>
            <a:endParaRPr lang="en-US" sz="1200" dirty="0"/>
          </a:p>
        </p:txBody>
      </p:sp>
      <p:sp>
        <p:nvSpPr>
          <p:cNvPr id="9" name="Statement file not kept"/>
          <p:cNvSpPr/>
          <p:nvPr/>
        </p:nvSpPr>
        <p:spPr>
          <a:xfrm>
            <a:off x="6210148" y="1371600"/>
            <a:ext cx="5432908" cy="1874520"/>
          </a:xfrm>
          <a:prstGeom prst="roundRect">
            <a:avLst>
              <a:gd name="adj" fmla="val 5854"/>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0" name="Icon circle"/>
          <p:cNvSpPr/>
          <p:nvPr/>
        </p:nvSpPr>
        <p:spPr>
          <a:xfrm>
            <a:off x="6393028" y="1988820"/>
            <a:ext cx="640080" cy="640080"/>
          </a:xfrm>
          <a:prstGeom prst="ellipse">
            <a:avLst/>
          </a:prstGeom>
          <a:solidFill>
            <a:srgbClr val="CFF1F7"/>
          </a:solidFill>
          <a:ln w="12700">
            <a:solidFill>
              <a:srgbClr val="CFF1F7"/>
            </a:solidFill>
            <a:prstDash val="solid"/>
          </a:ln>
        </p:spPr>
      </p:sp>
      <p:pic>
        <p:nvPicPr>
          <p:cNvPr id="11" name="Image 1" descr="FileAlt icon"/>
          <p:cNvPicPr>
            <a:picLocks noChangeAspect="1"/>
          </p:cNvPicPr>
          <p:nvPr/>
        </p:nvPicPr>
        <p:blipFill>
          <a:blip r:embed="rId4"/>
          <a:stretch>
            <a:fillRect/>
          </a:stretch>
        </p:blipFill>
        <p:spPr>
          <a:xfrm>
            <a:off x="6553048" y="2148840"/>
            <a:ext cx="320040" cy="320040"/>
          </a:xfrm>
          <a:prstGeom prst="rect">
            <a:avLst/>
          </a:prstGeom>
        </p:spPr>
      </p:pic>
      <p:sp>
        <p:nvSpPr>
          <p:cNvPr id="12" name="Text 7"/>
          <p:cNvSpPr txBox="1"/>
          <p:nvPr/>
        </p:nvSpPr>
        <p:spPr>
          <a:xfrm>
            <a:off x="7193128" y="1527048"/>
            <a:ext cx="4262476" cy="1600200"/>
          </a:xfrm>
          <a:prstGeom prst="rect">
            <a:avLst/>
          </a:prstGeom>
          <a:noFill/>
          <a:ln/>
        </p:spPr>
        <p:txBody>
          <a:bodyPr wrap="square" lIns="0" tIns="0" rIns="0" bIns="0" rtlCol="0" anchor="ctr"/>
          <a:lstStyle/>
          <a:p>
            <a:pPr marL="0" indent="0">
              <a:spcAft>
                <a:spcPts val="300"/>
              </a:spcAft>
              <a:buNone/>
            </a:pPr>
            <a:r>
              <a:rPr lang="en-US" sz="1700" b="1" dirty="0">
                <a:solidFill>
                  <a:srgbClr val="0B1730"/>
                </a:solidFill>
                <a:latin typeface="Tahoma" pitchFamily="34" charset="0"/>
                <a:ea typeface="Tahoma" pitchFamily="34" charset="-122"/>
                <a:cs typeface="Tahoma" pitchFamily="34" charset="-120"/>
              </a:rPr>
              <a:t>Statement file not kept</a:t>
            </a:r>
            <a:endParaRPr lang="en-US" sz="1200" dirty="0"/>
          </a:p>
          <a:p>
            <a:pPr marL="0" indent="0">
              <a:buNone/>
            </a:pPr>
            <a:r>
              <a:rPr lang="en-US" sz="1450" dirty="0">
                <a:solidFill>
                  <a:srgbClr val="53627A"/>
                </a:solidFill>
                <a:latin typeface="Tahoma" pitchFamily="34" charset="0"/>
                <a:ea typeface="Tahoma" pitchFamily="34" charset="-122"/>
                <a:cs typeface="Tahoma" pitchFamily="34" charset="-120"/>
              </a:rPr>
              <a:t>Your statement file is not kept. We save only the transactions, with sensitive details masked.</a:t>
            </a:r>
            <a:endParaRPr lang="en-US" sz="1200" dirty="0"/>
          </a:p>
        </p:txBody>
      </p:sp>
      <p:sp>
        <p:nvSpPr>
          <p:cNvPr id="13" name="Every account is private"/>
          <p:cNvSpPr/>
          <p:nvPr/>
        </p:nvSpPr>
        <p:spPr>
          <a:xfrm>
            <a:off x="548640" y="3429000"/>
            <a:ext cx="5432908" cy="1874520"/>
          </a:xfrm>
          <a:prstGeom prst="roundRect">
            <a:avLst>
              <a:gd name="adj" fmla="val 5854"/>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4" name="Icon circle"/>
          <p:cNvSpPr/>
          <p:nvPr/>
        </p:nvSpPr>
        <p:spPr>
          <a:xfrm>
            <a:off x="731520" y="4046220"/>
            <a:ext cx="640080" cy="640080"/>
          </a:xfrm>
          <a:prstGeom prst="ellipse">
            <a:avLst/>
          </a:prstGeom>
          <a:solidFill>
            <a:srgbClr val="DCE8FE"/>
          </a:solidFill>
          <a:ln w="12700">
            <a:solidFill>
              <a:srgbClr val="DCE8FE"/>
            </a:solidFill>
            <a:prstDash val="solid"/>
          </a:ln>
        </p:spPr>
      </p:sp>
      <p:pic>
        <p:nvPicPr>
          <p:cNvPr id="15" name="Image 2" descr="UserShield icon"/>
          <p:cNvPicPr>
            <a:picLocks noChangeAspect="1"/>
          </p:cNvPicPr>
          <p:nvPr/>
        </p:nvPicPr>
        <p:blipFill>
          <a:blip r:embed="rId5"/>
          <a:stretch>
            <a:fillRect/>
          </a:stretch>
        </p:blipFill>
        <p:spPr>
          <a:xfrm>
            <a:off x="891540" y="4206240"/>
            <a:ext cx="320040" cy="320040"/>
          </a:xfrm>
          <a:prstGeom prst="rect">
            <a:avLst/>
          </a:prstGeom>
        </p:spPr>
      </p:pic>
      <p:sp>
        <p:nvSpPr>
          <p:cNvPr id="16" name="Text 10"/>
          <p:cNvSpPr txBox="1"/>
          <p:nvPr/>
        </p:nvSpPr>
        <p:spPr>
          <a:xfrm>
            <a:off x="1536192" y="3429000"/>
            <a:ext cx="4262476" cy="1600200"/>
          </a:xfrm>
          <a:prstGeom prst="rect">
            <a:avLst/>
          </a:prstGeom>
          <a:noFill/>
          <a:ln/>
        </p:spPr>
        <p:txBody>
          <a:bodyPr wrap="square" lIns="0" tIns="0" rIns="0" bIns="0" rtlCol="0" anchor="ctr"/>
          <a:lstStyle/>
          <a:p>
            <a:pPr marL="0" indent="0">
              <a:spcAft>
                <a:spcPts val="300"/>
              </a:spcAft>
              <a:buNone/>
            </a:pPr>
            <a:r>
              <a:rPr lang="en-US" sz="1700" b="1" dirty="0">
                <a:solidFill>
                  <a:srgbClr val="0B1730"/>
                </a:solidFill>
                <a:latin typeface="Tahoma" pitchFamily="34" charset="0"/>
                <a:ea typeface="Tahoma" pitchFamily="34" charset="-122"/>
                <a:cs typeface="Tahoma" pitchFamily="34" charset="-120"/>
              </a:rPr>
              <a:t>Every account is private</a:t>
            </a:r>
            <a:endParaRPr lang="en-US" sz="1200" dirty="0"/>
          </a:p>
          <a:p>
            <a:pPr marL="0" indent="0">
              <a:buNone/>
            </a:pPr>
            <a:r>
              <a:rPr lang="en-US" sz="1450" dirty="0">
                <a:solidFill>
                  <a:srgbClr val="53627A"/>
                </a:solidFill>
                <a:latin typeface="Tahoma" pitchFamily="34" charset="0"/>
                <a:ea typeface="Tahoma" pitchFamily="34" charset="-122"/>
                <a:cs typeface="Tahoma" pitchFamily="34" charset="-120"/>
              </a:rPr>
              <a:t>Sign-in with secure tokens (a digital pass), and every request only returns that user's own data. Only you can see your data.</a:t>
            </a:r>
            <a:endParaRPr lang="en-US" sz="1200" dirty="0"/>
          </a:p>
        </p:txBody>
      </p:sp>
      <p:sp>
        <p:nvSpPr>
          <p:cNvPr id="17" name="Secrets kept out of GitHub"/>
          <p:cNvSpPr/>
          <p:nvPr/>
        </p:nvSpPr>
        <p:spPr>
          <a:xfrm>
            <a:off x="6210148" y="3429000"/>
            <a:ext cx="5432908" cy="1874520"/>
          </a:xfrm>
          <a:prstGeom prst="roundRect">
            <a:avLst>
              <a:gd name="adj" fmla="val 5854"/>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8" name="Icon circle"/>
          <p:cNvSpPr/>
          <p:nvPr/>
        </p:nvSpPr>
        <p:spPr>
          <a:xfrm>
            <a:off x="6393028" y="4046220"/>
            <a:ext cx="640080" cy="640080"/>
          </a:xfrm>
          <a:prstGeom prst="ellipse">
            <a:avLst/>
          </a:prstGeom>
          <a:solidFill>
            <a:srgbClr val="CFF1F7"/>
          </a:solidFill>
          <a:ln w="12700">
            <a:solidFill>
              <a:srgbClr val="CFF1F7"/>
            </a:solidFill>
            <a:prstDash val="solid"/>
          </a:ln>
        </p:spPr>
      </p:sp>
      <p:pic>
        <p:nvPicPr>
          <p:cNvPr id="19" name="Image 3"/>
          <p:cNvPicPr>
            <a:picLocks noChangeAspect="1"/>
          </p:cNvPicPr>
          <p:nvPr/>
        </p:nvPicPr>
        <p:blipFill>
          <a:blip r:embed="rId6"/>
          <a:srcRect/>
          <a:stretch/>
        </p:blipFill>
        <p:spPr>
          <a:xfrm>
            <a:off x="6556067" y="4206240"/>
            <a:ext cx="314001" cy="320040"/>
          </a:xfrm>
          <a:prstGeom prst="rect">
            <a:avLst/>
          </a:prstGeom>
        </p:spPr>
      </p:pic>
      <p:sp>
        <p:nvSpPr>
          <p:cNvPr id="20" name="Text 13"/>
          <p:cNvSpPr txBox="1"/>
          <p:nvPr/>
        </p:nvSpPr>
        <p:spPr>
          <a:xfrm>
            <a:off x="7197700" y="3429000"/>
            <a:ext cx="4262476" cy="1600200"/>
          </a:xfrm>
          <a:prstGeom prst="rect">
            <a:avLst/>
          </a:prstGeom>
          <a:noFill/>
          <a:ln/>
        </p:spPr>
        <p:txBody>
          <a:bodyPr wrap="square" lIns="0" tIns="0" rIns="0" bIns="0" rtlCol="0" anchor="ctr"/>
          <a:lstStyle/>
          <a:p>
            <a:pPr marL="0" indent="0">
              <a:spcAft>
                <a:spcPts val="300"/>
              </a:spcAft>
              <a:buNone/>
            </a:pPr>
            <a:r>
              <a:rPr lang="en-US" sz="1700" b="1" dirty="0">
                <a:solidFill>
                  <a:srgbClr val="0B1730"/>
                </a:solidFill>
                <a:latin typeface="Tahoma" pitchFamily="34" charset="0"/>
                <a:ea typeface="Tahoma" pitchFamily="34" charset="-122"/>
                <a:cs typeface="Tahoma" pitchFamily="34" charset="-120"/>
              </a:rPr>
              <a:t>You stay in control</a:t>
            </a:r>
          </a:p>
          <a:p>
            <a:pPr marL="0" indent="0">
              <a:buNone/>
            </a:pPr>
            <a:r>
              <a:rPr lang="en-US" sz="1450" dirty="0">
                <a:solidFill>
                  <a:srgbClr val="53627A"/>
                </a:solidFill>
                <a:latin typeface="Tahoma" pitchFamily="34" charset="0"/>
                <a:ea typeface="Tahoma" pitchFamily="34" charset="-122"/>
                <a:cs typeface="Tahoma" pitchFamily="34" charset="-120"/>
              </a:rPr>
              <a:t>Delete one transaction or a whole month (with confirmation), and view or delete the rules the app learned from you.</a:t>
            </a:r>
          </a:p>
        </p:txBody>
      </p:sp>
      <p:sp>
        <p:nvSpPr>
          <p:cNvPr id="21" name="Honest note"/>
          <p:cNvSpPr/>
          <p:nvPr/>
        </p:nvSpPr>
        <p:spPr>
          <a:xfrm>
            <a:off x="548640" y="5486400"/>
            <a:ext cx="11094415" cy="868680"/>
          </a:xfrm>
          <a:prstGeom prst="roundRect">
            <a:avLst>
              <a:gd name="adj" fmla="val 12632"/>
            </a:avLst>
          </a:prstGeom>
          <a:solidFill>
            <a:srgbClr val="FFF8E6"/>
          </a:solidFill>
          <a:ln w="9525">
            <a:solidFill>
              <a:srgbClr val="D9E3F0"/>
            </a:solidFill>
            <a:prstDash val="solid"/>
          </a:ln>
          <a:effectLst>
            <a:outerShdw blurRad="101600" dist="25400" dir="5400000" algn="bl" rotWithShape="0">
              <a:srgbClr val="1E3A5F">
                <a:alpha val="10000"/>
              </a:srgbClr>
            </a:outerShdw>
          </a:effectLst>
        </p:spPr>
      </p:sp>
      <p:sp>
        <p:nvSpPr>
          <p:cNvPr id="22" name="Icon circle"/>
          <p:cNvSpPr/>
          <p:nvPr/>
        </p:nvSpPr>
        <p:spPr>
          <a:xfrm>
            <a:off x="777240" y="5646420"/>
            <a:ext cx="548640" cy="548640"/>
          </a:xfrm>
          <a:prstGeom prst="ellipse">
            <a:avLst/>
          </a:prstGeom>
          <a:solidFill>
            <a:srgbClr val="FDEFCF"/>
          </a:solidFill>
          <a:ln w="12700">
            <a:solidFill>
              <a:srgbClr val="FDEFCF"/>
            </a:solidFill>
            <a:prstDash val="solid"/>
          </a:ln>
        </p:spPr>
      </p:sp>
      <p:pic>
        <p:nvPicPr>
          <p:cNvPr id="23" name="Image 4" descr="ShieldAlt icon"/>
          <p:cNvPicPr>
            <a:picLocks noChangeAspect="1"/>
          </p:cNvPicPr>
          <p:nvPr/>
        </p:nvPicPr>
        <p:blipFill>
          <a:blip r:embed="rId7"/>
          <a:stretch>
            <a:fillRect/>
          </a:stretch>
        </p:blipFill>
        <p:spPr>
          <a:xfrm>
            <a:off x="914400" y="5783580"/>
            <a:ext cx="274320" cy="274320"/>
          </a:xfrm>
          <a:prstGeom prst="rect">
            <a:avLst/>
          </a:prstGeom>
        </p:spPr>
      </p:pic>
      <p:sp>
        <p:nvSpPr>
          <p:cNvPr id="24" name="Text 16"/>
          <p:cNvSpPr txBox="1"/>
          <p:nvPr/>
        </p:nvSpPr>
        <p:spPr>
          <a:xfrm>
            <a:off x="1508760" y="5486400"/>
            <a:ext cx="9905695" cy="868680"/>
          </a:xfrm>
          <a:prstGeom prst="rect">
            <a:avLst/>
          </a:prstGeom>
          <a:noFill/>
          <a:ln/>
        </p:spPr>
        <p:txBody>
          <a:bodyPr wrap="square" lIns="0" tIns="0" rIns="0" bIns="0" rtlCol="0" anchor="ctr"/>
          <a:lstStyle/>
          <a:p>
            <a:pPr marL="0" indent="0">
              <a:buNone/>
            </a:pPr>
            <a:r>
              <a:rPr lang="en-US" sz="1500" b="1" dirty="0">
                <a:solidFill>
                  <a:srgbClr val="0B1730"/>
                </a:solidFill>
                <a:latin typeface="Tahoma" pitchFamily="34" charset="0"/>
                <a:ea typeface="Tahoma" pitchFamily="34" charset="-122"/>
                <a:cs typeface="Tahoma" pitchFamily="34" charset="-120"/>
              </a:rPr>
              <a:t>Note: </a:t>
            </a:r>
            <a:r>
              <a:rPr lang="en-US" sz="1500" dirty="0">
                <a:solidFill>
                  <a:srgbClr val="0B1730"/>
                </a:solidFill>
                <a:latin typeface="Tahoma" pitchFamily="34" charset="0"/>
                <a:ea typeface="Tahoma" pitchFamily="34" charset="-122"/>
                <a:cs typeface="Tahoma" pitchFamily="34" charset="-120"/>
              </a:rPr>
              <a:t>AI also receives summary information (like category totals) to write tips, never full transaction lists.</a:t>
            </a:r>
            <a:endParaRPr lang="en-US" sz="1500" dirty="0"/>
          </a:p>
        </p:txBody>
      </p:sp>
      <p:sp>
        <p:nvSpPr>
          <p:cNvPr id="25"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Technology and How We Built It</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OUR TOOLS AND SEVEN WEEKS OF WORK, PLUS WHAT CAME AFTER</a:t>
            </a:r>
            <a:endParaRPr lang="en-US" sz="1200" dirty="0"/>
          </a:p>
        </p:txBody>
      </p:sp>
      <p:sp>
        <p:nvSpPr>
          <p:cNvPr id="5" name="Backend"/>
          <p:cNvSpPr/>
          <p:nvPr/>
        </p:nvSpPr>
        <p:spPr>
          <a:xfrm>
            <a:off x="548640" y="1371600"/>
            <a:ext cx="5577840" cy="914400"/>
          </a:xfrm>
          <a:prstGeom prst="roundRect">
            <a:avLst>
              <a:gd name="adj" fmla="val 12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6" name="Icon circle"/>
          <p:cNvSpPr/>
          <p:nvPr/>
        </p:nvSpPr>
        <p:spPr>
          <a:xfrm>
            <a:off x="731520" y="1600200"/>
            <a:ext cx="457200" cy="457200"/>
          </a:xfrm>
          <a:prstGeom prst="ellipse">
            <a:avLst/>
          </a:prstGeom>
          <a:solidFill>
            <a:srgbClr val="DCE8FE"/>
          </a:solidFill>
          <a:ln w="12700">
            <a:solidFill>
              <a:srgbClr val="DCE8FE"/>
            </a:solidFill>
            <a:prstDash val="solid"/>
          </a:ln>
        </p:spPr>
      </p:sp>
      <p:pic>
        <p:nvPicPr>
          <p:cNvPr id="7" name="Image 0" descr="Server icon"/>
          <p:cNvPicPr>
            <a:picLocks noChangeAspect="1"/>
          </p:cNvPicPr>
          <p:nvPr/>
        </p:nvPicPr>
        <p:blipFill>
          <a:blip r:embed="rId3"/>
          <a:stretch>
            <a:fillRect/>
          </a:stretch>
        </p:blipFill>
        <p:spPr>
          <a:xfrm>
            <a:off x="845820" y="1714500"/>
            <a:ext cx="228600" cy="228600"/>
          </a:xfrm>
          <a:prstGeom prst="rect">
            <a:avLst/>
          </a:prstGeom>
        </p:spPr>
      </p:pic>
      <p:sp>
        <p:nvSpPr>
          <p:cNvPr id="8" name="Text 4"/>
          <p:cNvSpPr txBox="1"/>
          <p:nvPr/>
        </p:nvSpPr>
        <p:spPr>
          <a:xfrm>
            <a:off x="1353312" y="1508760"/>
            <a:ext cx="4590288" cy="640080"/>
          </a:xfrm>
          <a:prstGeom prst="rect">
            <a:avLst/>
          </a:prstGeom>
          <a:noFill/>
          <a:ln/>
        </p:spPr>
        <p:txBody>
          <a:bodyPr wrap="square" lIns="0" tIns="0" rIns="0" bIns="0" rtlCol="0" anchor="ctr"/>
          <a:lstStyle/>
          <a:p>
            <a:pPr marL="0" indent="0">
              <a:spcAft>
                <a:spcPts val="300"/>
              </a:spcAft>
              <a:buNone/>
            </a:pPr>
            <a:r>
              <a:rPr lang="en-US" sz="1300" b="1" dirty="0">
                <a:solidFill>
                  <a:srgbClr val="0B1730"/>
                </a:solidFill>
                <a:latin typeface="Tahoma" pitchFamily="34" charset="0"/>
                <a:ea typeface="Tahoma" pitchFamily="34" charset="-122"/>
                <a:cs typeface="Tahoma" pitchFamily="34" charset="-120"/>
              </a:rPr>
              <a:t>Backend</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Java 21 (programming language), Spring Boot 3.5 (server framework), MySQL (database), Maven (builds the project)</a:t>
            </a:r>
            <a:endParaRPr lang="en-US" sz="1200" dirty="0"/>
          </a:p>
        </p:txBody>
      </p:sp>
      <p:sp>
        <p:nvSpPr>
          <p:cNvPr id="9" name="Frontend"/>
          <p:cNvSpPr/>
          <p:nvPr/>
        </p:nvSpPr>
        <p:spPr>
          <a:xfrm>
            <a:off x="548640" y="2377440"/>
            <a:ext cx="5577840" cy="914400"/>
          </a:xfrm>
          <a:prstGeom prst="roundRect">
            <a:avLst>
              <a:gd name="adj" fmla="val 12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0" name="Icon circle"/>
          <p:cNvSpPr/>
          <p:nvPr/>
        </p:nvSpPr>
        <p:spPr>
          <a:xfrm>
            <a:off x="731520" y="2606040"/>
            <a:ext cx="457200" cy="457200"/>
          </a:xfrm>
          <a:prstGeom prst="ellipse">
            <a:avLst/>
          </a:prstGeom>
          <a:solidFill>
            <a:srgbClr val="CFF1F7"/>
          </a:solidFill>
          <a:ln w="12700">
            <a:solidFill>
              <a:srgbClr val="CFF1F7"/>
            </a:solidFill>
            <a:prstDash val="solid"/>
          </a:ln>
        </p:spPr>
      </p:sp>
      <p:pic>
        <p:nvPicPr>
          <p:cNvPr id="11" name="Image 1" descr="Desktop icon"/>
          <p:cNvPicPr>
            <a:picLocks noChangeAspect="1"/>
          </p:cNvPicPr>
          <p:nvPr/>
        </p:nvPicPr>
        <p:blipFill>
          <a:blip r:embed="rId4"/>
          <a:stretch>
            <a:fillRect/>
          </a:stretch>
        </p:blipFill>
        <p:spPr>
          <a:xfrm>
            <a:off x="845820" y="2720340"/>
            <a:ext cx="228600" cy="228600"/>
          </a:xfrm>
          <a:prstGeom prst="rect">
            <a:avLst/>
          </a:prstGeom>
        </p:spPr>
      </p:pic>
      <p:sp>
        <p:nvSpPr>
          <p:cNvPr id="12" name="Text 7"/>
          <p:cNvSpPr txBox="1"/>
          <p:nvPr/>
        </p:nvSpPr>
        <p:spPr>
          <a:xfrm>
            <a:off x="1353312" y="2514600"/>
            <a:ext cx="4590288" cy="640080"/>
          </a:xfrm>
          <a:prstGeom prst="rect">
            <a:avLst/>
          </a:prstGeom>
          <a:noFill/>
          <a:ln/>
        </p:spPr>
        <p:txBody>
          <a:bodyPr wrap="square" lIns="0" tIns="0" rIns="0" bIns="0" rtlCol="0" anchor="ctr"/>
          <a:lstStyle/>
          <a:p>
            <a:pPr marL="0" indent="0">
              <a:spcAft>
                <a:spcPts val="300"/>
              </a:spcAft>
              <a:buNone/>
            </a:pPr>
            <a:r>
              <a:rPr lang="en-US" sz="1300" b="1" dirty="0">
                <a:solidFill>
                  <a:srgbClr val="0B1730"/>
                </a:solidFill>
                <a:latin typeface="Tahoma" pitchFamily="34" charset="0"/>
                <a:ea typeface="Tahoma" pitchFamily="34" charset="-122"/>
                <a:cs typeface="Tahoma" pitchFamily="34" charset="-120"/>
              </a:rPr>
              <a:t>Frontend</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React (builds the screens), Tailwind CSS (styling), Recharts (charts), Axios (talks to the server), jsPDF (makes PDF reports)</a:t>
            </a:r>
            <a:endParaRPr lang="en-US" sz="1200" dirty="0"/>
          </a:p>
        </p:txBody>
      </p:sp>
      <p:sp>
        <p:nvSpPr>
          <p:cNvPr id="13" name="AI and reading"/>
          <p:cNvSpPr/>
          <p:nvPr/>
        </p:nvSpPr>
        <p:spPr>
          <a:xfrm>
            <a:off x="548640" y="3383280"/>
            <a:ext cx="5577840" cy="914400"/>
          </a:xfrm>
          <a:prstGeom prst="roundRect">
            <a:avLst>
              <a:gd name="adj" fmla="val 12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4" name="Icon circle"/>
          <p:cNvSpPr/>
          <p:nvPr/>
        </p:nvSpPr>
        <p:spPr>
          <a:xfrm>
            <a:off x="731520" y="3611880"/>
            <a:ext cx="457200" cy="457200"/>
          </a:xfrm>
          <a:prstGeom prst="ellipse">
            <a:avLst/>
          </a:prstGeom>
          <a:solidFill>
            <a:srgbClr val="DCE8FE"/>
          </a:solidFill>
          <a:ln w="12700">
            <a:solidFill>
              <a:srgbClr val="DCE8FE"/>
            </a:solidFill>
            <a:prstDash val="solid"/>
          </a:ln>
        </p:spPr>
      </p:sp>
      <p:pic>
        <p:nvPicPr>
          <p:cNvPr id="15" name="Image 2" descr="Code icon"/>
          <p:cNvPicPr>
            <a:picLocks noChangeAspect="1"/>
          </p:cNvPicPr>
          <p:nvPr/>
        </p:nvPicPr>
        <p:blipFill>
          <a:blip r:embed="rId5"/>
          <a:stretch>
            <a:fillRect/>
          </a:stretch>
        </p:blipFill>
        <p:spPr>
          <a:xfrm>
            <a:off x="845820" y="3726180"/>
            <a:ext cx="228600" cy="228600"/>
          </a:xfrm>
          <a:prstGeom prst="rect">
            <a:avLst/>
          </a:prstGeom>
        </p:spPr>
      </p:pic>
      <p:sp>
        <p:nvSpPr>
          <p:cNvPr id="16" name="Text 10"/>
          <p:cNvSpPr txBox="1"/>
          <p:nvPr/>
        </p:nvSpPr>
        <p:spPr>
          <a:xfrm>
            <a:off x="1353312" y="3520440"/>
            <a:ext cx="4590288" cy="640080"/>
          </a:xfrm>
          <a:prstGeom prst="rect">
            <a:avLst/>
          </a:prstGeom>
          <a:noFill/>
          <a:ln/>
        </p:spPr>
        <p:txBody>
          <a:bodyPr wrap="square" lIns="0" tIns="0" rIns="0" bIns="0" rtlCol="0" anchor="ctr"/>
          <a:lstStyle/>
          <a:p>
            <a:pPr marL="0" indent="0">
              <a:spcAft>
                <a:spcPts val="300"/>
              </a:spcAft>
              <a:buNone/>
            </a:pPr>
            <a:r>
              <a:rPr lang="en-US" sz="1300" b="1" dirty="0">
                <a:solidFill>
                  <a:srgbClr val="0B1730"/>
                </a:solidFill>
                <a:latin typeface="Tahoma" pitchFamily="34" charset="0"/>
                <a:ea typeface="Tahoma" pitchFamily="34" charset="-122"/>
                <a:cs typeface="Tahoma" pitchFamily="34" charset="-120"/>
              </a:rPr>
              <a:t>AI and reading</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Google Gemini API (the AI), Apache PDFBox (reads PDFs), Apache Commons CSV (reads CSV files), Gmail email for the welcome mail</a:t>
            </a:r>
            <a:endParaRPr lang="en-US" sz="1200" dirty="0"/>
          </a:p>
        </p:txBody>
      </p:sp>
      <p:sp>
        <p:nvSpPr>
          <p:cNvPr id="17" name="Tools"/>
          <p:cNvSpPr/>
          <p:nvPr/>
        </p:nvSpPr>
        <p:spPr>
          <a:xfrm>
            <a:off x="548640" y="4389120"/>
            <a:ext cx="5577840" cy="914400"/>
          </a:xfrm>
          <a:prstGeom prst="roundRect">
            <a:avLst>
              <a:gd name="adj" fmla="val 12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8" name="Icon circle"/>
          <p:cNvSpPr/>
          <p:nvPr/>
        </p:nvSpPr>
        <p:spPr>
          <a:xfrm>
            <a:off x="731520" y="4617720"/>
            <a:ext cx="457200" cy="457200"/>
          </a:xfrm>
          <a:prstGeom prst="ellipse">
            <a:avLst/>
          </a:prstGeom>
          <a:solidFill>
            <a:srgbClr val="CFF1F7"/>
          </a:solidFill>
          <a:ln w="12700">
            <a:solidFill>
              <a:srgbClr val="CFF1F7"/>
            </a:solidFill>
            <a:prstDash val="solid"/>
          </a:ln>
        </p:spPr>
      </p:sp>
      <p:pic>
        <p:nvPicPr>
          <p:cNvPr id="19" name="Image 3" descr="Tools icon"/>
          <p:cNvPicPr>
            <a:picLocks noChangeAspect="1"/>
          </p:cNvPicPr>
          <p:nvPr/>
        </p:nvPicPr>
        <p:blipFill>
          <a:blip r:embed="rId6"/>
          <a:stretch>
            <a:fillRect/>
          </a:stretch>
        </p:blipFill>
        <p:spPr>
          <a:xfrm>
            <a:off x="845820" y="4732020"/>
            <a:ext cx="228600" cy="228600"/>
          </a:xfrm>
          <a:prstGeom prst="rect">
            <a:avLst/>
          </a:prstGeom>
        </p:spPr>
      </p:pic>
      <p:sp>
        <p:nvSpPr>
          <p:cNvPr id="20" name="Text 13"/>
          <p:cNvSpPr txBox="1"/>
          <p:nvPr/>
        </p:nvSpPr>
        <p:spPr>
          <a:xfrm>
            <a:off x="1353312" y="4526280"/>
            <a:ext cx="4590288" cy="640080"/>
          </a:xfrm>
          <a:prstGeom prst="rect">
            <a:avLst/>
          </a:prstGeom>
          <a:noFill/>
          <a:ln/>
        </p:spPr>
        <p:txBody>
          <a:bodyPr wrap="square" lIns="0" tIns="0" rIns="0" bIns="0" rtlCol="0" anchor="ctr"/>
          <a:lstStyle/>
          <a:p>
            <a:pPr marL="0" indent="0">
              <a:spcAft>
                <a:spcPts val="300"/>
              </a:spcAft>
              <a:buNone/>
            </a:pPr>
            <a:r>
              <a:rPr lang="en-US" sz="1300" b="1" dirty="0">
                <a:solidFill>
                  <a:srgbClr val="0B1730"/>
                </a:solidFill>
                <a:latin typeface="Tahoma" pitchFamily="34" charset="0"/>
                <a:ea typeface="Tahoma" pitchFamily="34" charset="-122"/>
                <a:cs typeface="Tahoma" pitchFamily="34" charset="-120"/>
              </a:rPr>
              <a:t>Tools</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IntelliJ IDEA, VS Code, Postman (tests the server), Git/GitHub (saves and shares the code)</a:t>
            </a:r>
            <a:endParaRPr lang="en-US" sz="1200" dirty="0"/>
          </a:p>
        </p:txBody>
      </p:sp>
      <p:sp>
        <p:nvSpPr>
          <p:cNvPr id="21" name="Hardware"/>
          <p:cNvSpPr/>
          <p:nvPr/>
        </p:nvSpPr>
        <p:spPr>
          <a:xfrm>
            <a:off x="548640" y="5394960"/>
            <a:ext cx="5577840" cy="914400"/>
          </a:xfrm>
          <a:prstGeom prst="roundRect">
            <a:avLst>
              <a:gd name="adj" fmla="val 12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2" name="Icon circle"/>
          <p:cNvSpPr/>
          <p:nvPr/>
        </p:nvSpPr>
        <p:spPr>
          <a:xfrm>
            <a:off x="731520" y="5623560"/>
            <a:ext cx="457200" cy="457200"/>
          </a:xfrm>
          <a:prstGeom prst="ellipse">
            <a:avLst/>
          </a:prstGeom>
          <a:solidFill>
            <a:srgbClr val="DCE8FE"/>
          </a:solidFill>
          <a:ln w="12700">
            <a:solidFill>
              <a:srgbClr val="DCE8FE"/>
            </a:solidFill>
            <a:prstDash val="solid"/>
          </a:ln>
        </p:spPr>
      </p:sp>
      <p:pic>
        <p:nvPicPr>
          <p:cNvPr id="23" name="Image 4" descr="Microchip icon"/>
          <p:cNvPicPr>
            <a:picLocks noChangeAspect="1"/>
          </p:cNvPicPr>
          <p:nvPr/>
        </p:nvPicPr>
        <p:blipFill>
          <a:blip r:embed="rId7"/>
          <a:stretch>
            <a:fillRect/>
          </a:stretch>
        </p:blipFill>
        <p:spPr>
          <a:xfrm>
            <a:off x="845820" y="5737860"/>
            <a:ext cx="228600" cy="228600"/>
          </a:xfrm>
          <a:prstGeom prst="rect">
            <a:avLst/>
          </a:prstGeom>
        </p:spPr>
      </p:pic>
      <p:sp>
        <p:nvSpPr>
          <p:cNvPr id="24" name="Text 16"/>
          <p:cNvSpPr txBox="1"/>
          <p:nvPr/>
        </p:nvSpPr>
        <p:spPr>
          <a:xfrm>
            <a:off x="1353312" y="5532120"/>
            <a:ext cx="4590288" cy="640080"/>
          </a:xfrm>
          <a:prstGeom prst="rect">
            <a:avLst/>
          </a:prstGeom>
          <a:noFill/>
          <a:ln/>
        </p:spPr>
        <p:txBody>
          <a:bodyPr wrap="square" lIns="0" tIns="0" rIns="0" bIns="0" rtlCol="0" anchor="ctr"/>
          <a:lstStyle/>
          <a:p>
            <a:pPr marL="0" indent="0">
              <a:spcAft>
                <a:spcPts val="300"/>
              </a:spcAft>
              <a:buNone/>
            </a:pPr>
            <a:r>
              <a:rPr lang="en-US" sz="1300" b="1" dirty="0">
                <a:solidFill>
                  <a:srgbClr val="0B1730"/>
                </a:solidFill>
                <a:latin typeface="Tahoma" pitchFamily="34" charset="0"/>
                <a:ea typeface="Tahoma" pitchFamily="34" charset="-122"/>
                <a:cs typeface="Tahoma" pitchFamily="34" charset="-120"/>
              </a:rPr>
              <a:t>Hardware</a:t>
            </a:r>
            <a:endParaRPr lang="en-US" sz="1200" dirty="0"/>
          </a:p>
          <a:p>
            <a:pPr marL="0" indent="0">
              <a:buNone/>
            </a:pPr>
            <a:r>
              <a:rPr lang="en-US" sz="1200" dirty="0">
                <a:solidFill>
                  <a:srgbClr val="53627A"/>
                </a:solidFill>
                <a:latin typeface="Tahoma" pitchFamily="34" charset="0"/>
                <a:ea typeface="Tahoma" pitchFamily="34" charset="-122"/>
                <a:cs typeface="Tahoma" pitchFamily="34" charset="-120"/>
              </a:rPr>
              <a:t>Standard PC or laptop, 4 GB RAM, internet connection</a:t>
            </a:r>
            <a:endParaRPr lang="en-US" sz="1200" dirty="0"/>
          </a:p>
        </p:txBody>
      </p:sp>
      <p:sp>
        <p:nvSpPr>
          <p:cNvPr id="25" name="Text 17"/>
          <p:cNvSpPr txBox="1"/>
          <p:nvPr/>
        </p:nvSpPr>
        <p:spPr>
          <a:xfrm>
            <a:off x="6446520" y="1335024"/>
            <a:ext cx="5196535" cy="256032"/>
          </a:xfrm>
          <a:prstGeom prst="rect">
            <a:avLst/>
          </a:prstGeom>
          <a:noFill/>
          <a:ln/>
        </p:spPr>
        <p:txBody>
          <a:bodyPr wrap="square" lIns="0" tIns="0" rIns="0" bIns="0" rtlCol="0" anchor="t"/>
          <a:lstStyle/>
          <a:p>
            <a:pPr marL="0" indent="0">
              <a:buNone/>
            </a:pPr>
            <a:r>
              <a:rPr lang="en-US" sz="1200" b="1" kern="0" spc="300" dirty="0">
                <a:solidFill>
                  <a:srgbClr val="0E7490"/>
                </a:solidFill>
                <a:latin typeface="Tahoma" pitchFamily="34" charset="0"/>
                <a:ea typeface="Tahoma" pitchFamily="34" charset="-122"/>
                <a:cs typeface="Tahoma" pitchFamily="34" charset="-120"/>
              </a:rPr>
              <a:t>BUILD TIMELINE</a:t>
            </a:r>
            <a:endParaRPr lang="en-US" sz="1200" dirty="0"/>
          </a:p>
        </p:txBody>
      </p:sp>
      <p:sp>
        <p:nvSpPr>
          <p:cNvPr id="26" name="Timeline line"/>
          <p:cNvSpPr/>
          <p:nvPr/>
        </p:nvSpPr>
        <p:spPr>
          <a:xfrm>
            <a:off x="6629400" y="1874520"/>
            <a:ext cx="0" cy="3291840"/>
          </a:xfrm>
          <a:prstGeom prst="line">
            <a:avLst/>
          </a:prstGeom>
          <a:noFill/>
          <a:ln w="19050">
            <a:solidFill>
              <a:srgbClr val="9FB0C8"/>
            </a:solidFill>
            <a:prstDash val="solid"/>
          </a:ln>
        </p:spPr>
      </p:sp>
      <p:sp>
        <p:nvSpPr>
          <p:cNvPr id="27" name="Timeline dot"/>
          <p:cNvSpPr/>
          <p:nvPr/>
        </p:nvSpPr>
        <p:spPr>
          <a:xfrm>
            <a:off x="6510528" y="1828800"/>
            <a:ext cx="237744" cy="237744"/>
          </a:xfrm>
          <a:prstGeom prst="ellipse">
            <a:avLst/>
          </a:prstGeom>
          <a:solidFill>
            <a:srgbClr val="0E7490"/>
          </a:solidFill>
          <a:ln w="25400">
            <a:solidFill>
              <a:srgbClr val="FFFFFF"/>
            </a:solidFill>
            <a:prstDash val="solid"/>
          </a:ln>
        </p:spPr>
      </p:sp>
      <p:sp>
        <p:nvSpPr>
          <p:cNvPr id="28" name="Timeline Weeks 1-2"/>
          <p:cNvSpPr/>
          <p:nvPr/>
        </p:nvSpPr>
        <p:spPr>
          <a:xfrm>
            <a:off x="6903720" y="1664208"/>
            <a:ext cx="4739335" cy="566928"/>
          </a:xfrm>
          <a:prstGeom prst="roundRect">
            <a:avLst>
              <a:gd name="adj" fmla="val 19355"/>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9" name="Text 21"/>
          <p:cNvSpPr txBox="1"/>
          <p:nvPr/>
        </p:nvSpPr>
        <p:spPr>
          <a:xfrm>
            <a:off x="7086600" y="1664208"/>
            <a:ext cx="4373575" cy="566928"/>
          </a:xfrm>
          <a:prstGeom prst="rect">
            <a:avLst/>
          </a:prstGeom>
          <a:noFill/>
          <a:ln/>
        </p:spPr>
        <p:txBody>
          <a:bodyPr wrap="square" lIns="0" tIns="0" rIns="0" bIns="0" rtlCol="0" anchor="ctr"/>
          <a:lstStyle/>
          <a:p>
            <a:pPr marL="0" indent="0">
              <a:buNone/>
            </a:pPr>
            <a:r>
              <a:rPr lang="en-US" sz="1200" b="1" dirty="0">
                <a:solidFill>
                  <a:srgbClr val="0E7490"/>
                </a:solidFill>
                <a:latin typeface="Tahoma" pitchFamily="34" charset="0"/>
                <a:ea typeface="Tahoma" pitchFamily="34" charset="-122"/>
                <a:cs typeface="Tahoma" pitchFamily="34" charset="-120"/>
              </a:rPr>
              <a:t>Weeks 1-2</a:t>
            </a:r>
            <a:endParaRPr lang="en-US" sz="1200" dirty="0"/>
          </a:p>
          <a:p>
            <a:pPr marL="0" indent="0">
              <a:buNone/>
            </a:pPr>
            <a:r>
              <a:rPr lang="en-US" sz="1150" dirty="0">
                <a:solidFill>
                  <a:srgbClr val="0B1730"/>
                </a:solidFill>
                <a:latin typeface="Tahoma" pitchFamily="34" charset="0"/>
                <a:ea typeface="Tahoma" pitchFamily="34" charset="-122"/>
                <a:cs typeface="Tahoma" pitchFamily="34" charset="-120"/>
              </a:rPr>
              <a:t>Backend, login and upload</a:t>
            </a:r>
            <a:endParaRPr lang="en-US" sz="1200" dirty="0"/>
          </a:p>
        </p:txBody>
      </p:sp>
      <p:sp>
        <p:nvSpPr>
          <p:cNvPr id="30" name="Timeline dot"/>
          <p:cNvSpPr/>
          <p:nvPr/>
        </p:nvSpPr>
        <p:spPr>
          <a:xfrm>
            <a:off x="6510528" y="2487168"/>
            <a:ext cx="237744" cy="237744"/>
          </a:xfrm>
          <a:prstGeom prst="ellipse">
            <a:avLst/>
          </a:prstGeom>
          <a:solidFill>
            <a:srgbClr val="0E7490"/>
          </a:solidFill>
          <a:ln w="25400">
            <a:solidFill>
              <a:srgbClr val="FFFFFF"/>
            </a:solidFill>
            <a:prstDash val="solid"/>
          </a:ln>
        </p:spPr>
      </p:sp>
      <p:sp>
        <p:nvSpPr>
          <p:cNvPr id="31" name="Timeline Weeks 3-4"/>
          <p:cNvSpPr/>
          <p:nvPr/>
        </p:nvSpPr>
        <p:spPr>
          <a:xfrm>
            <a:off x="6903720" y="2322576"/>
            <a:ext cx="4739335" cy="566928"/>
          </a:xfrm>
          <a:prstGeom prst="roundRect">
            <a:avLst>
              <a:gd name="adj" fmla="val 19355"/>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2" name="Text 24"/>
          <p:cNvSpPr txBox="1"/>
          <p:nvPr/>
        </p:nvSpPr>
        <p:spPr>
          <a:xfrm>
            <a:off x="7086600" y="2322576"/>
            <a:ext cx="4373575" cy="566928"/>
          </a:xfrm>
          <a:prstGeom prst="rect">
            <a:avLst/>
          </a:prstGeom>
          <a:noFill/>
          <a:ln/>
        </p:spPr>
        <p:txBody>
          <a:bodyPr wrap="square" lIns="0" tIns="0" rIns="0" bIns="0" rtlCol="0" anchor="ctr"/>
          <a:lstStyle/>
          <a:p>
            <a:pPr marL="0" indent="0">
              <a:buNone/>
            </a:pPr>
            <a:r>
              <a:rPr lang="en-US" sz="1200" b="1" dirty="0">
                <a:solidFill>
                  <a:srgbClr val="0E7490"/>
                </a:solidFill>
                <a:latin typeface="Tahoma" pitchFamily="34" charset="0"/>
                <a:ea typeface="Tahoma" pitchFamily="34" charset="-122"/>
                <a:cs typeface="Tahoma" pitchFamily="34" charset="-120"/>
              </a:rPr>
              <a:t>Weeks 3-4</a:t>
            </a:r>
            <a:endParaRPr lang="en-US" sz="1200" dirty="0"/>
          </a:p>
          <a:p>
            <a:pPr marL="0" indent="0">
              <a:buNone/>
            </a:pPr>
            <a:r>
              <a:rPr lang="en-US" sz="1150" dirty="0">
                <a:solidFill>
                  <a:srgbClr val="0B1730"/>
                </a:solidFill>
                <a:latin typeface="Tahoma" pitchFamily="34" charset="0"/>
                <a:ea typeface="Tahoma" pitchFamily="34" charset="-122"/>
                <a:cs typeface="Tahoma" pitchFamily="34" charset="-120"/>
              </a:rPr>
              <a:t>AI sorting, charts, budgets</a:t>
            </a:r>
            <a:endParaRPr lang="en-US" sz="1200" dirty="0"/>
          </a:p>
        </p:txBody>
      </p:sp>
      <p:sp>
        <p:nvSpPr>
          <p:cNvPr id="33" name="Timeline dot"/>
          <p:cNvSpPr/>
          <p:nvPr/>
        </p:nvSpPr>
        <p:spPr>
          <a:xfrm>
            <a:off x="6510528" y="3145536"/>
            <a:ext cx="237744" cy="237744"/>
          </a:xfrm>
          <a:prstGeom prst="ellipse">
            <a:avLst/>
          </a:prstGeom>
          <a:solidFill>
            <a:srgbClr val="0E7490"/>
          </a:solidFill>
          <a:ln w="25400">
            <a:solidFill>
              <a:srgbClr val="FFFFFF"/>
            </a:solidFill>
            <a:prstDash val="solid"/>
          </a:ln>
        </p:spPr>
      </p:sp>
      <p:sp>
        <p:nvSpPr>
          <p:cNvPr id="34" name="Timeline Weeks 5-6"/>
          <p:cNvSpPr/>
          <p:nvPr/>
        </p:nvSpPr>
        <p:spPr>
          <a:xfrm>
            <a:off x="6903720" y="2980944"/>
            <a:ext cx="4739335" cy="566928"/>
          </a:xfrm>
          <a:prstGeom prst="roundRect">
            <a:avLst>
              <a:gd name="adj" fmla="val 19355"/>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5" name="Text 27"/>
          <p:cNvSpPr txBox="1"/>
          <p:nvPr/>
        </p:nvSpPr>
        <p:spPr>
          <a:xfrm>
            <a:off x="7086600" y="2980944"/>
            <a:ext cx="4373575" cy="566928"/>
          </a:xfrm>
          <a:prstGeom prst="rect">
            <a:avLst/>
          </a:prstGeom>
          <a:noFill/>
          <a:ln/>
        </p:spPr>
        <p:txBody>
          <a:bodyPr wrap="square" lIns="0" tIns="0" rIns="0" bIns="0" rtlCol="0" anchor="ctr"/>
          <a:lstStyle/>
          <a:p>
            <a:pPr marL="0" indent="0">
              <a:buNone/>
            </a:pPr>
            <a:r>
              <a:rPr lang="en-US" sz="1200" b="1" dirty="0">
                <a:solidFill>
                  <a:srgbClr val="0E7490"/>
                </a:solidFill>
                <a:latin typeface="Tahoma" pitchFamily="34" charset="0"/>
                <a:ea typeface="Tahoma" pitchFamily="34" charset="-122"/>
                <a:cs typeface="Tahoma" pitchFamily="34" charset="-120"/>
              </a:rPr>
              <a:t>Weeks 5-6</a:t>
            </a:r>
            <a:endParaRPr lang="en-US" sz="1200" dirty="0"/>
          </a:p>
          <a:p>
            <a:pPr marL="0" indent="0">
              <a:buNone/>
            </a:pPr>
            <a:r>
              <a:rPr lang="en-US" sz="1150" dirty="0">
                <a:solidFill>
                  <a:srgbClr val="0B1730"/>
                </a:solidFill>
                <a:latin typeface="Tahoma" pitchFamily="34" charset="0"/>
                <a:ea typeface="Tahoma" pitchFamily="34" charset="-122"/>
                <a:cs typeface="Tahoma" pitchFamily="34" charset="-120"/>
              </a:rPr>
              <a:t>Insights, AI tips, full redesign, edit/delete</a:t>
            </a:r>
            <a:endParaRPr lang="en-US" sz="1200" dirty="0"/>
          </a:p>
        </p:txBody>
      </p:sp>
      <p:sp>
        <p:nvSpPr>
          <p:cNvPr id="36" name="Timeline dot"/>
          <p:cNvSpPr/>
          <p:nvPr/>
        </p:nvSpPr>
        <p:spPr>
          <a:xfrm>
            <a:off x="6510528" y="3803904"/>
            <a:ext cx="237744" cy="237744"/>
          </a:xfrm>
          <a:prstGeom prst="ellipse">
            <a:avLst/>
          </a:prstGeom>
          <a:solidFill>
            <a:srgbClr val="0E7490"/>
          </a:solidFill>
          <a:ln w="25400">
            <a:solidFill>
              <a:srgbClr val="FFFFFF"/>
            </a:solidFill>
            <a:prstDash val="solid"/>
          </a:ln>
        </p:spPr>
      </p:sp>
      <p:sp>
        <p:nvSpPr>
          <p:cNvPr id="37" name="Timeline Week 7"/>
          <p:cNvSpPr/>
          <p:nvPr/>
        </p:nvSpPr>
        <p:spPr>
          <a:xfrm>
            <a:off x="6903720" y="3639312"/>
            <a:ext cx="4739335" cy="566928"/>
          </a:xfrm>
          <a:prstGeom prst="roundRect">
            <a:avLst>
              <a:gd name="adj" fmla="val 19355"/>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38" name="Text 30"/>
          <p:cNvSpPr txBox="1"/>
          <p:nvPr/>
        </p:nvSpPr>
        <p:spPr>
          <a:xfrm>
            <a:off x="7086600" y="3639312"/>
            <a:ext cx="4373575" cy="566928"/>
          </a:xfrm>
          <a:prstGeom prst="rect">
            <a:avLst/>
          </a:prstGeom>
          <a:noFill/>
          <a:ln/>
        </p:spPr>
        <p:txBody>
          <a:bodyPr wrap="square" lIns="0" tIns="0" rIns="0" bIns="0" rtlCol="0" anchor="ctr"/>
          <a:lstStyle/>
          <a:p>
            <a:pPr marL="0" indent="0">
              <a:buNone/>
            </a:pPr>
            <a:r>
              <a:rPr lang="en-US" sz="1200" b="1" dirty="0">
                <a:solidFill>
                  <a:srgbClr val="0E7490"/>
                </a:solidFill>
                <a:latin typeface="Tahoma" pitchFamily="34" charset="0"/>
                <a:ea typeface="Tahoma" pitchFamily="34" charset="-122"/>
                <a:cs typeface="Tahoma" pitchFamily="34" charset="-120"/>
              </a:rPr>
              <a:t>Week 7</a:t>
            </a:r>
            <a:endParaRPr lang="en-US" sz="1200" dirty="0"/>
          </a:p>
          <a:p>
            <a:pPr marL="0" indent="0">
              <a:buNone/>
            </a:pPr>
            <a:r>
              <a:rPr lang="en-US" sz="1150" dirty="0">
                <a:solidFill>
                  <a:srgbClr val="0B1730"/>
                </a:solidFill>
                <a:latin typeface="Tahoma" pitchFamily="34" charset="0"/>
                <a:ea typeface="Tahoma" pitchFamily="34" charset="-122"/>
                <a:cs typeface="Tahoma" pitchFamily="34" charset="-120"/>
              </a:rPr>
              <a:t>Dark mode, navigation, 0th review (07/09/2026)</a:t>
            </a:r>
            <a:endParaRPr lang="en-US" sz="1200" dirty="0"/>
          </a:p>
        </p:txBody>
      </p:sp>
      <p:sp>
        <p:nvSpPr>
          <p:cNvPr id="39" name="Timeline dot"/>
          <p:cNvSpPr/>
          <p:nvPr/>
        </p:nvSpPr>
        <p:spPr>
          <a:xfrm>
            <a:off x="6510528" y="4773168"/>
            <a:ext cx="237744" cy="237744"/>
          </a:xfrm>
          <a:prstGeom prst="ellipse">
            <a:avLst/>
          </a:prstGeom>
          <a:solidFill>
            <a:srgbClr val="0A9468"/>
          </a:solidFill>
          <a:ln w="25400">
            <a:solidFill>
              <a:srgbClr val="FFFFFF"/>
            </a:solidFill>
            <a:prstDash val="solid"/>
          </a:ln>
        </p:spPr>
      </p:sp>
      <p:sp>
        <p:nvSpPr>
          <p:cNvPr id="40" name="Timeline After 0th review"/>
          <p:cNvSpPr/>
          <p:nvPr/>
        </p:nvSpPr>
        <p:spPr>
          <a:xfrm>
            <a:off x="6903720" y="4297680"/>
            <a:ext cx="4739335" cy="1188720"/>
          </a:xfrm>
          <a:prstGeom prst="roundRect">
            <a:avLst>
              <a:gd name="adj" fmla="val 9231"/>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41" name="Text 33"/>
          <p:cNvSpPr txBox="1"/>
          <p:nvPr/>
        </p:nvSpPr>
        <p:spPr>
          <a:xfrm>
            <a:off x="7086600" y="4297680"/>
            <a:ext cx="4373575" cy="1188720"/>
          </a:xfrm>
          <a:prstGeom prst="rect">
            <a:avLst/>
          </a:prstGeom>
          <a:noFill/>
          <a:ln/>
        </p:spPr>
        <p:txBody>
          <a:bodyPr wrap="square" lIns="0" tIns="0" rIns="0" bIns="0" rtlCol="0" anchor="ctr"/>
          <a:lstStyle/>
          <a:p>
            <a:pPr marL="0" indent="0">
              <a:buNone/>
            </a:pPr>
            <a:r>
              <a:rPr lang="en-US" sz="1200" b="1" dirty="0">
                <a:solidFill>
                  <a:srgbClr val="0A9468"/>
                </a:solidFill>
                <a:latin typeface="Tahoma" pitchFamily="34" charset="0"/>
                <a:ea typeface="Tahoma" pitchFamily="34" charset="-122"/>
                <a:cs typeface="Tahoma" pitchFamily="34" charset="-120"/>
              </a:rPr>
              <a:t>After 0th review</a:t>
            </a:r>
            <a:endParaRPr lang="en-US" sz="1200" dirty="0"/>
          </a:p>
          <a:p>
            <a:pPr marL="0" indent="0">
              <a:buNone/>
            </a:pPr>
            <a:r>
              <a:rPr lang="en-US" sz="1150" dirty="0">
                <a:solidFill>
                  <a:srgbClr val="0B1730"/>
                </a:solidFill>
                <a:latin typeface="Tahoma" pitchFamily="34" charset="0"/>
                <a:ea typeface="Tahoma" pitchFamily="34" charset="-122"/>
                <a:cs typeface="Tahoma" pitchFamily="34" charset="-120"/>
              </a:rPr>
              <a:t>Password PDFs, duplicate check, learned rules, Ask Montra, savings goals, forecast, cash split, PDF reports, welcome email, renamed to MoneyTrack AI, UI polish</a:t>
            </a:r>
            <a:endParaRPr lang="en-US" sz="1200" dirty="0"/>
          </a:p>
        </p:txBody>
      </p:sp>
      <p:sp>
        <p:nvSpPr>
          <p:cNvPr id="42" name="Method"/>
          <p:cNvSpPr/>
          <p:nvPr/>
        </p:nvSpPr>
        <p:spPr>
          <a:xfrm>
            <a:off x="6446520" y="5669280"/>
            <a:ext cx="5196535" cy="685800"/>
          </a:xfrm>
          <a:prstGeom prst="roundRect">
            <a:avLst>
              <a:gd name="adj" fmla="val 16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43" name="Text 35"/>
          <p:cNvSpPr txBox="1"/>
          <p:nvPr/>
        </p:nvSpPr>
        <p:spPr>
          <a:xfrm>
            <a:off x="6675120" y="5669280"/>
            <a:ext cx="4739335" cy="685800"/>
          </a:xfrm>
          <a:prstGeom prst="rect">
            <a:avLst/>
          </a:prstGeom>
          <a:noFill/>
          <a:ln/>
        </p:spPr>
        <p:txBody>
          <a:bodyPr wrap="square" lIns="0" tIns="0" rIns="0" bIns="0" rtlCol="0" anchor="ctr"/>
          <a:lstStyle/>
          <a:p>
            <a:pPr marL="0" indent="0">
              <a:buNone/>
            </a:pPr>
            <a:r>
              <a:rPr lang="en-US" sz="1100" b="1" dirty="0">
                <a:solidFill>
                  <a:srgbClr val="0E7490"/>
                </a:solidFill>
                <a:latin typeface="Tahoma" pitchFamily="34" charset="0"/>
                <a:ea typeface="Tahoma" pitchFamily="34" charset="-122"/>
                <a:cs typeface="Tahoma" pitchFamily="34" charset="-120"/>
              </a:rPr>
              <a:t>How we worked: </a:t>
            </a:r>
            <a:r>
              <a:rPr lang="en-US" sz="1100" dirty="0">
                <a:solidFill>
                  <a:srgbClr val="0B1730"/>
                </a:solidFill>
                <a:latin typeface="Tahoma" pitchFamily="34" charset="0"/>
                <a:ea typeface="Tahoma" pitchFamily="34" charset="-122"/>
                <a:cs typeface="Tahoma" pitchFamily="34" charset="-120"/>
              </a:rPr>
              <a:t>one module at a time, test each (unit tests and Postman), then test in the browser.</a:t>
            </a:r>
            <a:endParaRPr lang="en-US" sz="1100" dirty="0"/>
          </a:p>
        </p:txBody>
      </p:sp>
      <p:sp>
        <p:nvSpPr>
          <p:cNvPr id="4"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a:spLocks noGrp="1"/>
          </p:cNvSpPr>
          <p:nvPr>
            <p:ph type="title" idx="102" hasCustomPrompt="1"/>
          </p:nvPr>
        </p:nvSpPr>
        <p:spPr>
          <a:xfrm>
            <a:off x="1783080" y="256032"/>
            <a:ext cx="8778240" cy="566928"/>
          </a:xfrm>
          <a:prstGeom prst="rect">
            <a:avLst/>
          </a:prstGeom>
          <a:noFill/>
          <a:ln/>
        </p:spPr>
        <p:txBody>
          <a:bodyPr wrap="square" lIns="0" tIns="0" rIns="0" bIns="0" rtlCol="0" anchor="ctr"/>
          <a:lstStyle/>
          <a:p>
            <a:pPr marL="0" indent="0" algn="l">
              <a:buNone/>
            </a:pPr>
            <a:r>
              <a:rPr lang="en-US" sz="2800" b="1" dirty="0">
                <a:solidFill>
                  <a:srgbClr val="0B1730"/>
                </a:solidFill>
                <a:latin typeface="Tahoma" pitchFamily="34" charset="0"/>
                <a:ea typeface="Tahoma" pitchFamily="34" charset="-122"/>
                <a:cs typeface="Tahoma" pitchFamily="34" charset="-120"/>
              </a:rPr>
              <a:t>Outcomes, Future Work and References</a:t>
            </a:r>
            <a:endParaRPr lang="en-US" sz="2800" dirty="0"/>
          </a:p>
        </p:txBody>
      </p:sp>
      <p:sp>
        <p:nvSpPr>
          <p:cNvPr id="3" name="Text 2"/>
          <p:cNvSpPr>
            <a:spLocks noGrp="1"/>
          </p:cNvSpPr>
          <p:nvPr>
            <p:ph type="body" idx="103" hasCustomPrompt="1"/>
          </p:nvPr>
        </p:nvSpPr>
        <p:spPr>
          <a:xfrm>
            <a:off x="1783080" y="841248"/>
            <a:ext cx="8778240" cy="274320"/>
          </a:xfrm>
          <a:prstGeom prst="rect">
            <a:avLst/>
          </a:prstGeom>
          <a:noFill/>
          <a:ln/>
        </p:spPr>
        <p:txBody>
          <a:bodyPr wrap="square" lIns="0" tIns="0" rIns="0" bIns="0" rtlCol="0" anchor="t"/>
          <a:lstStyle/>
          <a:p>
            <a:pPr marL="0" indent="0" algn="l">
              <a:buNone/>
            </a:pPr>
            <a:r>
              <a:rPr lang="en-US" sz="1200" b="1" kern="0" spc="300" dirty="0">
                <a:solidFill>
                  <a:srgbClr val="0E7490"/>
                </a:solidFill>
                <a:latin typeface="Tahoma" pitchFamily="34" charset="0"/>
                <a:ea typeface="Tahoma" pitchFamily="34" charset="-122"/>
                <a:cs typeface="Tahoma" pitchFamily="34" charset="-120"/>
              </a:rPr>
              <a:t>WHAT WE DELIVERED AND WHERE IT GOES NEXT</a:t>
            </a:r>
            <a:endParaRPr lang="en-US" sz="1200" dirty="0"/>
          </a:p>
        </p:txBody>
      </p:sp>
      <p:sp>
        <p:nvSpPr>
          <p:cNvPr id="5" name="OUTCOMES (DELIVERED)"/>
          <p:cNvSpPr/>
          <p:nvPr/>
        </p:nvSpPr>
        <p:spPr>
          <a:xfrm>
            <a:off x="548640" y="1371600"/>
            <a:ext cx="3291840" cy="4983480"/>
          </a:xfrm>
          <a:prstGeom prst="roundRect">
            <a:avLst>
              <a:gd name="adj" fmla="val 3333"/>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6" name="Icon circle"/>
          <p:cNvSpPr/>
          <p:nvPr/>
        </p:nvSpPr>
        <p:spPr>
          <a:xfrm>
            <a:off x="777240" y="1572768"/>
            <a:ext cx="457200" cy="457200"/>
          </a:xfrm>
          <a:prstGeom prst="ellipse">
            <a:avLst/>
          </a:prstGeom>
          <a:solidFill>
            <a:srgbClr val="D5F5E8"/>
          </a:solidFill>
          <a:ln w="12700">
            <a:solidFill>
              <a:srgbClr val="D5F5E8"/>
            </a:solidFill>
            <a:prstDash val="solid"/>
          </a:ln>
        </p:spPr>
      </p:sp>
      <p:pic>
        <p:nvPicPr>
          <p:cNvPr id="7" name="Image 0" descr="CheckCircle icon"/>
          <p:cNvPicPr>
            <a:picLocks noChangeAspect="1"/>
          </p:cNvPicPr>
          <p:nvPr/>
        </p:nvPicPr>
        <p:blipFill>
          <a:blip r:embed="rId3"/>
          <a:stretch>
            <a:fillRect/>
          </a:stretch>
        </p:blipFill>
        <p:spPr>
          <a:xfrm>
            <a:off x="891540" y="1687068"/>
            <a:ext cx="228600" cy="228600"/>
          </a:xfrm>
          <a:prstGeom prst="rect">
            <a:avLst/>
          </a:prstGeom>
        </p:spPr>
      </p:pic>
      <p:sp>
        <p:nvSpPr>
          <p:cNvPr id="8" name="Text 4"/>
          <p:cNvSpPr txBox="1"/>
          <p:nvPr/>
        </p:nvSpPr>
        <p:spPr>
          <a:xfrm>
            <a:off x="1371600" y="1572768"/>
            <a:ext cx="2331720" cy="457200"/>
          </a:xfrm>
          <a:prstGeom prst="rect">
            <a:avLst/>
          </a:prstGeom>
          <a:noFill/>
          <a:ln/>
        </p:spPr>
        <p:txBody>
          <a:bodyPr wrap="square" lIns="0" tIns="0" rIns="0" bIns="0" rtlCol="0" anchor="ctr"/>
          <a:lstStyle/>
          <a:p>
            <a:pPr marL="0" indent="0">
              <a:buNone/>
            </a:pPr>
            <a:r>
              <a:rPr lang="en-US" sz="1200" b="1" kern="0" spc="200" dirty="0">
                <a:solidFill>
                  <a:srgbClr val="0A9468"/>
                </a:solidFill>
                <a:latin typeface="Tahoma" pitchFamily="34" charset="0"/>
                <a:ea typeface="Tahoma" pitchFamily="34" charset="-122"/>
                <a:cs typeface="Tahoma" pitchFamily="34" charset="-120"/>
              </a:rPr>
              <a:t>OUTCOMES (DELIVERED)</a:t>
            </a:r>
            <a:endParaRPr lang="en-US" sz="1200" dirty="0"/>
          </a:p>
        </p:txBody>
      </p:sp>
      <p:sp>
        <p:nvSpPr>
          <p:cNvPr id="9" name="Text 5"/>
          <p:cNvSpPr txBox="1"/>
          <p:nvPr/>
        </p:nvSpPr>
        <p:spPr>
          <a:xfrm>
            <a:off x="822960" y="2286000"/>
            <a:ext cx="2788920" cy="39319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0B1730"/>
                </a:solidFill>
                <a:latin typeface="Tahoma" pitchFamily="34" charset="0"/>
                <a:ea typeface="Tahoma" pitchFamily="34" charset="-122"/>
                <a:cs typeface="Tahoma" pitchFamily="34" charset="-120"/>
              </a:rPr>
              <a:t>A working full-stack app (screens and server)</a:t>
            </a:r>
            <a:endParaRPr lang="en-US" sz="1600" dirty="0"/>
          </a:p>
          <a:p>
            <a:pPr marL="342900" indent="-342900">
              <a:spcAft>
                <a:spcPts val="1200"/>
              </a:spcAft>
              <a:buSzPct val="100000"/>
              <a:buChar char="•"/>
            </a:pPr>
            <a:r>
              <a:rPr lang="en-US" sz="1600" dirty="0">
                <a:solidFill>
                  <a:srgbClr val="0B1730"/>
                </a:solidFill>
                <a:latin typeface="Tahoma" pitchFamily="34" charset="0"/>
                <a:ea typeface="Tahoma" pitchFamily="34" charset="-122"/>
                <a:cs typeface="Tahoma" pitchFamily="34" charset="-120"/>
              </a:rPr>
              <a:t>Real-time dashboard</a:t>
            </a:r>
            <a:endParaRPr lang="en-US" sz="1600" dirty="0"/>
          </a:p>
          <a:p>
            <a:pPr marL="342900" indent="-342900">
              <a:spcAft>
                <a:spcPts val="1200"/>
              </a:spcAft>
              <a:buSzPct val="100000"/>
              <a:buChar char="•"/>
            </a:pPr>
            <a:r>
              <a:rPr lang="en-US" sz="1600" dirty="0">
                <a:solidFill>
                  <a:srgbClr val="0B1730"/>
                </a:solidFill>
                <a:latin typeface="Tahoma" pitchFamily="34" charset="0"/>
                <a:ea typeface="Tahoma" pitchFamily="34" charset="-122"/>
                <a:cs typeface="Tahoma" pitchFamily="34" charset="-120"/>
              </a:rPr>
              <a:t>Budget alerts and AI tips</a:t>
            </a:r>
            <a:endParaRPr lang="en-US" sz="1600" dirty="0"/>
          </a:p>
          <a:p>
            <a:pPr marL="342900" indent="-342900">
              <a:spcAft>
                <a:spcPts val="1200"/>
              </a:spcAft>
              <a:buSzPct val="100000"/>
              <a:buChar char="•"/>
            </a:pPr>
            <a:r>
              <a:rPr lang="en-US" sz="1600" dirty="0">
                <a:solidFill>
                  <a:srgbClr val="0B1730"/>
                </a:solidFill>
                <a:latin typeface="Tahoma" pitchFamily="34" charset="0"/>
                <a:ea typeface="Tahoma" pitchFamily="34" charset="-122"/>
                <a:cs typeface="Tahoma" pitchFamily="34" charset="-120"/>
              </a:rPr>
              <a:t>Privacy-aware use of AI</a:t>
            </a:r>
            <a:endParaRPr lang="en-US" sz="1600" dirty="0"/>
          </a:p>
          <a:p>
            <a:pPr marL="342900" indent="-342900">
              <a:spcAft>
                <a:spcPts val="1200"/>
              </a:spcAft>
              <a:buSzPct val="100000"/>
              <a:buChar char="•"/>
            </a:pPr>
            <a:r>
              <a:rPr lang="en-US" sz="1600" dirty="0">
                <a:solidFill>
                  <a:srgbClr val="0B1730"/>
                </a:solidFill>
                <a:latin typeface="Tahoma" pitchFamily="34" charset="0"/>
                <a:ea typeface="Tahoma" pitchFamily="34" charset="-122"/>
                <a:cs typeface="Tahoma" pitchFamily="34" charset="-120"/>
              </a:rPr>
              <a:t>Portfolio-ready project</a:t>
            </a:r>
            <a:endParaRPr lang="en-US" sz="1600" dirty="0"/>
          </a:p>
        </p:txBody>
      </p:sp>
      <p:sp>
        <p:nvSpPr>
          <p:cNvPr id="10" name="FUTURE WORK"/>
          <p:cNvSpPr/>
          <p:nvPr/>
        </p:nvSpPr>
        <p:spPr>
          <a:xfrm>
            <a:off x="4069080" y="1371600"/>
            <a:ext cx="4114800" cy="4983480"/>
          </a:xfrm>
          <a:prstGeom prst="roundRect">
            <a:avLst>
              <a:gd name="adj" fmla="val 266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1" name="Icon circle"/>
          <p:cNvSpPr/>
          <p:nvPr/>
        </p:nvSpPr>
        <p:spPr>
          <a:xfrm>
            <a:off x="4297680" y="1572768"/>
            <a:ext cx="457200" cy="457200"/>
          </a:xfrm>
          <a:prstGeom prst="ellipse">
            <a:avLst/>
          </a:prstGeom>
          <a:solidFill>
            <a:srgbClr val="DCE8FE"/>
          </a:solidFill>
          <a:ln w="12700">
            <a:solidFill>
              <a:srgbClr val="DCE8FE"/>
            </a:solidFill>
            <a:prstDash val="solid"/>
          </a:ln>
        </p:spPr>
      </p:sp>
      <p:pic>
        <p:nvPicPr>
          <p:cNvPr id="12" name="Image 1" descr="Route icon"/>
          <p:cNvPicPr>
            <a:picLocks noChangeAspect="1"/>
          </p:cNvPicPr>
          <p:nvPr/>
        </p:nvPicPr>
        <p:blipFill>
          <a:blip r:embed="rId4"/>
          <a:stretch>
            <a:fillRect/>
          </a:stretch>
        </p:blipFill>
        <p:spPr>
          <a:xfrm>
            <a:off x="4411980" y="1687068"/>
            <a:ext cx="228600" cy="228600"/>
          </a:xfrm>
          <a:prstGeom prst="rect">
            <a:avLst/>
          </a:prstGeom>
        </p:spPr>
      </p:pic>
      <p:sp>
        <p:nvSpPr>
          <p:cNvPr id="13" name="Text 8"/>
          <p:cNvSpPr txBox="1"/>
          <p:nvPr/>
        </p:nvSpPr>
        <p:spPr>
          <a:xfrm>
            <a:off x="4892040" y="1572768"/>
            <a:ext cx="3154680" cy="457200"/>
          </a:xfrm>
          <a:prstGeom prst="rect">
            <a:avLst/>
          </a:prstGeom>
          <a:noFill/>
          <a:ln/>
        </p:spPr>
        <p:txBody>
          <a:bodyPr wrap="square" lIns="0" tIns="0" rIns="0" bIns="0" rtlCol="0" anchor="ctr"/>
          <a:lstStyle/>
          <a:p>
            <a:pPr marL="0" indent="0">
              <a:buNone/>
            </a:pPr>
            <a:r>
              <a:rPr lang="en-US" sz="1200" b="1" kern="0" spc="200" dirty="0">
                <a:solidFill>
                  <a:srgbClr val="2563EB"/>
                </a:solidFill>
                <a:latin typeface="Tahoma" pitchFamily="34" charset="0"/>
                <a:ea typeface="Tahoma" pitchFamily="34" charset="-122"/>
                <a:cs typeface="Tahoma" pitchFamily="34" charset="-120"/>
              </a:rPr>
              <a:t>FUTURE WORK</a:t>
            </a:r>
            <a:endParaRPr lang="en-US" sz="1200" dirty="0"/>
          </a:p>
        </p:txBody>
      </p:sp>
      <p:sp>
        <p:nvSpPr>
          <p:cNvPr id="14" name="Text 9"/>
          <p:cNvSpPr txBox="1"/>
          <p:nvPr/>
        </p:nvSpPr>
        <p:spPr>
          <a:xfrm>
            <a:off x="4343400" y="2286000"/>
            <a:ext cx="3611880" cy="3931920"/>
          </a:xfrm>
          <a:prstGeom prst="rect">
            <a:avLst/>
          </a:prstGeom>
          <a:noFill/>
          <a:ln/>
        </p:spPr>
        <p:txBody>
          <a:bodyPr wrap="square" lIns="0" tIns="0" rIns="0" bIns="0" rtlCol="0" anchor="t"/>
          <a:lstStyle/>
          <a:p>
            <a:pPr marL="342900" indent="-342900">
              <a:spcAft>
                <a:spcPts val="1200"/>
              </a:spcAft>
              <a:buSzPct val="100000"/>
              <a:buChar char="•"/>
            </a:pPr>
            <a:r>
              <a:rPr lang="en-US" sz="1400" dirty="0">
                <a:solidFill>
                  <a:srgbClr val="0B1730"/>
                </a:solidFill>
                <a:latin typeface="Tahoma" pitchFamily="34" charset="0"/>
                <a:ea typeface="Tahoma" pitchFamily="34" charset="-122"/>
                <a:cs typeface="Tahoma" pitchFamily="34" charset="-120"/>
              </a:rPr>
              <a:t>Deployment online (free hosting)</a:t>
            </a:r>
            <a:endParaRPr lang="en-US" sz="1400" dirty="0"/>
          </a:p>
          <a:p>
            <a:pPr marL="342900" indent="-342900">
              <a:spcAft>
                <a:spcPts val="1200"/>
              </a:spcAft>
              <a:buSzPct val="100000"/>
              <a:buChar char="•"/>
            </a:pPr>
            <a:r>
              <a:rPr lang="en-US" sz="1400" dirty="0">
                <a:solidFill>
                  <a:srgbClr val="0B1730"/>
                </a:solidFill>
                <a:latin typeface="Tahoma" pitchFamily="34" charset="0"/>
                <a:ea typeface="Tahoma" pitchFamily="34" charset="-122"/>
                <a:cs typeface="Tahoma" pitchFamily="34" charset="-120"/>
              </a:rPr>
              <a:t>More banks, formats and currencies</a:t>
            </a:r>
            <a:endParaRPr lang="en-US" sz="1400" dirty="0"/>
          </a:p>
          <a:p>
            <a:pPr marL="342900" indent="-342900">
              <a:spcAft>
                <a:spcPts val="1200"/>
              </a:spcAft>
              <a:buSzPct val="100000"/>
              <a:buChar char="•"/>
            </a:pPr>
            <a:r>
              <a:rPr lang="en-US" sz="1400" dirty="0">
                <a:solidFill>
                  <a:srgbClr val="0B1730"/>
                </a:solidFill>
                <a:latin typeface="Tahoma" pitchFamily="34" charset="0"/>
                <a:ea typeface="Tahoma" pitchFamily="34" charset="-122"/>
                <a:cs typeface="Tahoma" pitchFamily="34" charset="-120"/>
              </a:rPr>
              <a:t>Combine statements from several banks</a:t>
            </a:r>
            <a:endParaRPr lang="en-US" sz="1400" dirty="0"/>
          </a:p>
          <a:p>
            <a:pPr marL="342900" indent="-342900">
              <a:spcAft>
                <a:spcPts val="1200"/>
              </a:spcAft>
              <a:buSzPct val="100000"/>
              <a:buChar char="•"/>
            </a:pPr>
            <a:r>
              <a:rPr lang="en-US" sz="1400" dirty="0">
                <a:solidFill>
                  <a:srgbClr val="0B1730"/>
                </a:solidFill>
                <a:latin typeface="Tahoma" pitchFamily="34" charset="0"/>
                <a:ea typeface="Tahoma" pitchFamily="34" charset="-122"/>
                <a:cs typeface="Tahoma" pitchFamily="34" charset="-120"/>
              </a:rPr>
              <a:t>Custom category rules (e.g. "Swiggy over Rs 500 = Weekend Dining")</a:t>
            </a:r>
            <a:endParaRPr lang="en-US" sz="1400" dirty="0"/>
          </a:p>
          <a:p>
            <a:pPr marL="342900" indent="-342900">
              <a:spcAft>
                <a:spcPts val="1200"/>
              </a:spcAft>
              <a:buSzPct val="100000"/>
              <a:buChar char="•"/>
            </a:pPr>
            <a:r>
              <a:rPr lang="en-US" sz="1400" dirty="0">
                <a:solidFill>
                  <a:srgbClr val="0B1730"/>
                </a:solidFill>
                <a:latin typeface="Tahoma" pitchFamily="34" charset="0"/>
                <a:ea typeface="Tahoma" pitchFamily="34" charset="-122"/>
                <a:cs typeface="Tahoma" pitchFamily="34" charset="-120"/>
              </a:rPr>
              <a:t>Excel export</a:t>
            </a:r>
            <a:endParaRPr lang="en-US" sz="1400" dirty="0"/>
          </a:p>
          <a:p>
            <a:pPr marL="342900" indent="-342900">
              <a:spcAft>
                <a:spcPts val="1200"/>
              </a:spcAft>
              <a:buSzPct val="100000"/>
              <a:buChar char="•"/>
            </a:pPr>
            <a:r>
              <a:rPr lang="en-US" sz="1400" dirty="0">
                <a:solidFill>
                  <a:srgbClr val="0B1730"/>
                </a:solidFill>
                <a:latin typeface="Tahoma" pitchFamily="34" charset="0"/>
                <a:ea typeface="Tahoma" pitchFamily="34" charset="-122"/>
                <a:cs typeface="Tahoma" pitchFamily="34" charset="-120"/>
              </a:rPr>
              <a:t>Budget alert emails</a:t>
            </a:r>
            <a:endParaRPr lang="en-US" sz="1400" dirty="0"/>
          </a:p>
          <a:p>
            <a:pPr marL="342900" indent="-342900">
              <a:spcAft>
                <a:spcPts val="1200"/>
              </a:spcAft>
              <a:buSzPct val="100000"/>
              <a:buChar char="•"/>
            </a:pPr>
            <a:r>
              <a:rPr lang="en-US" sz="1400" dirty="0">
                <a:solidFill>
                  <a:srgbClr val="0B1730"/>
                </a:solidFill>
                <a:latin typeface="Tahoma" pitchFamily="34" charset="0"/>
                <a:ea typeface="Tahoma" pitchFamily="34" charset="-122"/>
                <a:cs typeface="Tahoma" pitchFamily="34" charset="-120"/>
              </a:rPr>
              <a:t>Mobile app</a:t>
            </a:r>
            <a:endParaRPr lang="en-US" sz="1400" dirty="0"/>
          </a:p>
          <a:p>
            <a:pPr marL="342900" indent="-342900">
              <a:spcAft>
                <a:spcPts val="1200"/>
              </a:spcAft>
              <a:buSzPct val="100000"/>
              <a:buChar char="•"/>
            </a:pPr>
            <a:r>
              <a:rPr lang="en-US" sz="1400" dirty="0">
                <a:solidFill>
                  <a:srgbClr val="0B1730"/>
                </a:solidFill>
                <a:latin typeface="Tahoma" pitchFamily="34" charset="0"/>
                <a:ea typeface="Tahoma" pitchFamily="34" charset="-122"/>
                <a:cs typeface="Tahoma" pitchFamily="34" charset="-120"/>
              </a:rPr>
              <a:t>Direct bank connection (bank API sync)</a:t>
            </a:r>
            <a:endParaRPr lang="en-US" sz="1400" dirty="0"/>
          </a:p>
        </p:txBody>
      </p:sp>
      <p:sp>
        <p:nvSpPr>
          <p:cNvPr id="15" name="REFERENCES"/>
          <p:cNvSpPr/>
          <p:nvPr/>
        </p:nvSpPr>
        <p:spPr>
          <a:xfrm>
            <a:off x="8412480" y="1371600"/>
            <a:ext cx="3230575" cy="4983480"/>
          </a:xfrm>
          <a:prstGeom prst="roundRect">
            <a:avLst>
              <a:gd name="adj" fmla="val 3397"/>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6" name="Icon circle"/>
          <p:cNvSpPr/>
          <p:nvPr/>
        </p:nvSpPr>
        <p:spPr>
          <a:xfrm>
            <a:off x="8641080" y="1572768"/>
            <a:ext cx="457200" cy="457200"/>
          </a:xfrm>
          <a:prstGeom prst="ellipse">
            <a:avLst/>
          </a:prstGeom>
          <a:solidFill>
            <a:srgbClr val="CFF1F7"/>
          </a:solidFill>
          <a:ln w="12700">
            <a:solidFill>
              <a:srgbClr val="CFF1F7"/>
            </a:solidFill>
            <a:prstDash val="solid"/>
          </a:ln>
        </p:spPr>
      </p:sp>
      <p:pic>
        <p:nvPicPr>
          <p:cNvPr id="17" name="Image 2" descr="Book icon"/>
          <p:cNvPicPr>
            <a:picLocks noChangeAspect="1"/>
          </p:cNvPicPr>
          <p:nvPr/>
        </p:nvPicPr>
        <p:blipFill>
          <a:blip r:embed="rId5"/>
          <a:stretch>
            <a:fillRect/>
          </a:stretch>
        </p:blipFill>
        <p:spPr>
          <a:xfrm>
            <a:off x="8755380" y="1687068"/>
            <a:ext cx="228600" cy="228600"/>
          </a:xfrm>
          <a:prstGeom prst="rect">
            <a:avLst/>
          </a:prstGeom>
        </p:spPr>
      </p:pic>
      <p:sp>
        <p:nvSpPr>
          <p:cNvPr id="18" name="Text 12"/>
          <p:cNvSpPr txBox="1"/>
          <p:nvPr/>
        </p:nvSpPr>
        <p:spPr>
          <a:xfrm>
            <a:off x="9235440" y="1572768"/>
            <a:ext cx="2270455" cy="457200"/>
          </a:xfrm>
          <a:prstGeom prst="rect">
            <a:avLst/>
          </a:prstGeom>
          <a:noFill/>
          <a:ln/>
        </p:spPr>
        <p:txBody>
          <a:bodyPr wrap="square" lIns="0" tIns="0" rIns="0" bIns="0" rtlCol="0" anchor="ctr"/>
          <a:lstStyle/>
          <a:p>
            <a:pPr marL="0" indent="0">
              <a:buNone/>
            </a:pPr>
            <a:r>
              <a:rPr lang="en-US" sz="1200" b="1" kern="0" spc="200" dirty="0">
                <a:solidFill>
                  <a:srgbClr val="0E7490"/>
                </a:solidFill>
                <a:latin typeface="Tahoma" pitchFamily="34" charset="0"/>
                <a:ea typeface="Tahoma" pitchFamily="34" charset="-122"/>
                <a:cs typeface="Tahoma" pitchFamily="34" charset="-120"/>
              </a:rPr>
              <a:t>REFERENCES</a:t>
            </a:r>
            <a:endParaRPr lang="en-US" sz="1200" dirty="0"/>
          </a:p>
        </p:txBody>
      </p:sp>
      <p:sp>
        <p:nvSpPr>
          <p:cNvPr id="19" name="Text 13"/>
          <p:cNvSpPr txBox="1"/>
          <p:nvPr/>
        </p:nvSpPr>
        <p:spPr>
          <a:xfrm>
            <a:off x="8686800" y="2286000"/>
            <a:ext cx="2727655" cy="3931920"/>
          </a:xfrm>
          <a:prstGeom prst="rect">
            <a:avLst/>
          </a:prstGeom>
          <a:noFill/>
          <a:ln/>
        </p:spPr>
        <p:txBody>
          <a:bodyPr wrap="square" lIns="0" tIns="0" rIns="0" bIns="0" rtlCol="0" anchor="t"/>
          <a:lstStyle/>
          <a:p>
            <a:pPr marL="0" indent="0">
              <a:spcAft>
                <a:spcPts val="1000"/>
              </a:spcAft>
              <a:buNone/>
            </a:pPr>
            <a:r>
              <a:rPr lang="en-US" sz="1150" dirty="0">
                <a:solidFill>
                  <a:srgbClr val="53627A"/>
                </a:solidFill>
                <a:latin typeface="Tahoma" pitchFamily="34" charset="0"/>
                <a:ea typeface="Tahoma" pitchFamily="34" charset="-122"/>
                <a:cs typeface="Tahoma" pitchFamily="34" charset="-120"/>
              </a:rPr>
              <a:t>[1] P. Sahu et al., "AI Expense Tracker", IJRASET, vol. 13, no. V, May 2025.</a:t>
            </a:r>
            <a:endParaRPr lang="en-US" sz="1150" dirty="0"/>
          </a:p>
          <a:p>
            <a:pPr marL="0" indent="0">
              <a:spcAft>
                <a:spcPts val="1000"/>
              </a:spcAft>
              <a:buNone/>
            </a:pPr>
            <a:r>
              <a:rPr lang="en-US" sz="1150" dirty="0">
                <a:solidFill>
                  <a:srgbClr val="53627A"/>
                </a:solidFill>
                <a:latin typeface="Tahoma" pitchFamily="34" charset="0"/>
                <a:ea typeface="Tahoma" pitchFamily="34" charset="-122"/>
                <a:cs typeface="Tahoma" pitchFamily="34" charset="-120"/>
              </a:rPr>
              <a:t>[2] P. Animuthu Abishek et al., "Expense Tracker with In-Built AI", IJSRED, vol. 8, no. 2, Mar-Apr 2025.</a:t>
            </a:r>
            <a:endParaRPr lang="en-US" sz="1150" dirty="0"/>
          </a:p>
          <a:p>
            <a:pPr marL="0" indent="0">
              <a:spcAft>
                <a:spcPts val="1000"/>
              </a:spcAft>
              <a:buNone/>
            </a:pPr>
            <a:r>
              <a:rPr lang="en-US" sz="1150" dirty="0">
                <a:solidFill>
                  <a:srgbClr val="53627A"/>
                </a:solidFill>
                <a:latin typeface="Tahoma" pitchFamily="34" charset="0"/>
                <a:ea typeface="Tahoma" pitchFamily="34" charset="-122"/>
                <a:cs typeface="Tahoma" pitchFamily="34" charset="-120"/>
              </a:rPr>
              <a:t>[3] Spring Boot Documentation, docs.spring.io.</a:t>
            </a:r>
            <a:endParaRPr lang="en-US" sz="1150" dirty="0"/>
          </a:p>
          <a:p>
            <a:pPr marL="0" indent="0">
              <a:spcAft>
                <a:spcPts val="1000"/>
              </a:spcAft>
              <a:buNone/>
            </a:pPr>
            <a:r>
              <a:rPr lang="en-US" sz="1150" dirty="0">
                <a:solidFill>
                  <a:srgbClr val="53627A"/>
                </a:solidFill>
                <a:latin typeface="Tahoma" pitchFamily="34" charset="0"/>
                <a:ea typeface="Tahoma" pitchFamily="34" charset="-122"/>
                <a:cs typeface="Tahoma" pitchFamily="34" charset="-120"/>
              </a:rPr>
              <a:t>[4] React Documentation, react.dev.</a:t>
            </a:r>
            <a:endParaRPr lang="en-US" sz="1150" dirty="0"/>
          </a:p>
          <a:p>
            <a:pPr marL="0" indent="0">
              <a:spcAft>
                <a:spcPts val="1000"/>
              </a:spcAft>
              <a:buNone/>
            </a:pPr>
            <a:r>
              <a:rPr lang="en-US" sz="1150" dirty="0">
                <a:solidFill>
                  <a:srgbClr val="53627A"/>
                </a:solidFill>
                <a:latin typeface="Tahoma" pitchFamily="34" charset="0"/>
                <a:ea typeface="Tahoma" pitchFamily="34" charset="-122"/>
                <a:cs typeface="Tahoma" pitchFamily="34" charset="-120"/>
              </a:rPr>
              <a:t>[5] Gemini API Documentation, ai.google.dev.</a:t>
            </a:r>
            <a:endParaRPr lang="en-US" sz="1150" dirty="0"/>
          </a:p>
        </p:txBody>
      </p:sp>
      <p:sp>
        <p:nvSpPr>
          <p:cNvPr id="25"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0"/>
          <p:cNvSpPr txBox="1"/>
          <p:nvPr/>
        </p:nvSpPr>
        <p:spPr>
          <a:xfrm>
            <a:off x="1783080" y="457200"/>
            <a:ext cx="8686800" cy="365760"/>
          </a:xfrm>
          <a:prstGeom prst="rect">
            <a:avLst/>
          </a:prstGeom>
          <a:noFill/>
          <a:ln/>
        </p:spPr>
        <p:txBody>
          <a:bodyPr wrap="square" lIns="0" tIns="0" rIns="0" bIns="0" rtlCol="0" anchor="ctr"/>
          <a:lstStyle/>
          <a:p>
            <a:pPr marL="0" indent="0">
              <a:buNone/>
            </a:pPr>
            <a:r>
              <a:rPr lang="en-US" sz="1400" b="1" kern="0" spc="300" dirty="0">
                <a:solidFill>
                  <a:srgbClr val="0E7490"/>
                </a:solidFill>
                <a:latin typeface="Tahoma" pitchFamily="34" charset="0"/>
                <a:ea typeface="Tahoma" pitchFamily="34" charset="-122"/>
                <a:cs typeface="Tahoma" pitchFamily="34" charset="-120"/>
              </a:rPr>
              <a:t>CSE 2 • MONEYTRACK AI • FINAL REVIEW</a:t>
            </a:r>
            <a:endParaRPr lang="en-US" sz="1400" dirty="0"/>
          </a:p>
        </p:txBody>
      </p:sp>
      <p:pic>
        <p:nvPicPr>
          <p:cNvPr id="4" name="Image 0" descr="MoneyTrack AI logo"/>
          <p:cNvPicPr>
            <a:picLocks noChangeAspect="1"/>
          </p:cNvPicPr>
          <p:nvPr/>
        </p:nvPicPr>
        <p:blipFill>
          <a:blip r:embed="rId3"/>
          <a:stretch>
            <a:fillRect/>
          </a:stretch>
        </p:blipFill>
        <p:spPr>
          <a:xfrm>
            <a:off x="3291840" y="1325880"/>
            <a:ext cx="1097280" cy="1097280"/>
          </a:xfrm>
          <a:prstGeom prst="rect">
            <a:avLst/>
          </a:prstGeom>
        </p:spPr>
      </p:pic>
      <p:sp>
        <p:nvSpPr>
          <p:cNvPr id="5" name="Text 1"/>
          <p:cNvSpPr txBox="1"/>
          <p:nvPr/>
        </p:nvSpPr>
        <p:spPr>
          <a:xfrm>
            <a:off x="4572000" y="1280160"/>
            <a:ext cx="5486400" cy="1188720"/>
          </a:xfrm>
          <a:prstGeom prst="rect">
            <a:avLst/>
          </a:prstGeom>
          <a:noFill/>
          <a:ln/>
        </p:spPr>
        <p:txBody>
          <a:bodyPr wrap="square" lIns="0" tIns="0" rIns="0" bIns="0" rtlCol="0" anchor="ctr"/>
          <a:lstStyle/>
          <a:p>
            <a:pPr marL="0" indent="0">
              <a:buNone/>
            </a:pPr>
            <a:r>
              <a:rPr lang="en-US" sz="5600" b="1" dirty="0">
                <a:solidFill>
                  <a:srgbClr val="0B1730"/>
                </a:solidFill>
                <a:latin typeface="Tahoma" pitchFamily="34" charset="0"/>
                <a:ea typeface="Tahoma" pitchFamily="34" charset="-122"/>
                <a:cs typeface="Tahoma" pitchFamily="34" charset="-120"/>
              </a:rPr>
              <a:t>Thank You.</a:t>
            </a:r>
            <a:endParaRPr lang="en-US" sz="5600" dirty="0"/>
          </a:p>
        </p:txBody>
      </p:sp>
      <p:sp>
        <p:nvSpPr>
          <p:cNvPr id="6" name="Text 2"/>
          <p:cNvSpPr txBox="1"/>
          <p:nvPr/>
        </p:nvSpPr>
        <p:spPr>
          <a:xfrm>
            <a:off x="548640" y="2560320"/>
            <a:ext cx="11094415" cy="457200"/>
          </a:xfrm>
          <a:prstGeom prst="rect">
            <a:avLst/>
          </a:prstGeom>
          <a:noFill/>
          <a:ln/>
        </p:spPr>
        <p:txBody>
          <a:bodyPr wrap="square" lIns="0" tIns="0" rIns="0" bIns="0" rtlCol="0" anchor="ctr"/>
          <a:lstStyle/>
          <a:p>
            <a:pPr marL="0" indent="0" algn="ctr">
              <a:buNone/>
            </a:pPr>
            <a:r>
              <a:rPr lang="en-US" sz="2000" i="1" dirty="0">
                <a:solidFill>
                  <a:srgbClr val="53627A"/>
                </a:solidFill>
                <a:latin typeface="Tahoma" pitchFamily="34" charset="0"/>
                <a:ea typeface="Tahoma" pitchFamily="34" charset="-122"/>
                <a:cs typeface="Tahoma" pitchFamily="34" charset="-120"/>
              </a:rPr>
              <a:t>Questions and feedback are welcome.</a:t>
            </a:r>
            <a:endParaRPr lang="en-US" sz="2000" dirty="0"/>
          </a:p>
        </p:txBody>
      </p:sp>
      <p:sp>
        <p:nvSpPr>
          <p:cNvPr id="7" name="Team panel"/>
          <p:cNvSpPr/>
          <p:nvPr/>
        </p:nvSpPr>
        <p:spPr>
          <a:xfrm>
            <a:off x="548640" y="3200400"/>
            <a:ext cx="5486400" cy="2331720"/>
          </a:xfrm>
          <a:prstGeom prst="roundRect">
            <a:avLst>
              <a:gd name="adj" fmla="val 4706"/>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8" name="Icon circle"/>
          <p:cNvSpPr/>
          <p:nvPr/>
        </p:nvSpPr>
        <p:spPr>
          <a:xfrm>
            <a:off x="822960" y="3401568"/>
            <a:ext cx="457200" cy="457200"/>
          </a:xfrm>
          <a:prstGeom prst="ellipse">
            <a:avLst/>
          </a:prstGeom>
          <a:solidFill>
            <a:srgbClr val="DCE8FE"/>
          </a:solidFill>
          <a:ln w="12700">
            <a:solidFill>
              <a:srgbClr val="DCE8FE"/>
            </a:solidFill>
            <a:prstDash val="solid"/>
          </a:ln>
        </p:spPr>
      </p:sp>
      <p:pic>
        <p:nvPicPr>
          <p:cNvPr id="9" name="Image 1" descr="Users icon"/>
          <p:cNvPicPr>
            <a:picLocks noChangeAspect="1"/>
          </p:cNvPicPr>
          <p:nvPr/>
        </p:nvPicPr>
        <p:blipFill>
          <a:blip r:embed="rId4"/>
          <a:stretch>
            <a:fillRect/>
          </a:stretch>
        </p:blipFill>
        <p:spPr>
          <a:xfrm>
            <a:off x="937260" y="3515868"/>
            <a:ext cx="228600" cy="228600"/>
          </a:xfrm>
          <a:prstGeom prst="rect">
            <a:avLst/>
          </a:prstGeom>
        </p:spPr>
      </p:pic>
      <p:sp>
        <p:nvSpPr>
          <p:cNvPr id="10" name="Text 5"/>
          <p:cNvSpPr txBox="1"/>
          <p:nvPr/>
        </p:nvSpPr>
        <p:spPr>
          <a:xfrm>
            <a:off x="1417320" y="3401568"/>
            <a:ext cx="2743200" cy="457200"/>
          </a:xfrm>
          <a:prstGeom prst="rect">
            <a:avLst/>
          </a:prstGeom>
          <a:noFill/>
          <a:ln/>
        </p:spPr>
        <p:txBody>
          <a:bodyPr wrap="square" lIns="0" tIns="0" rIns="0" bIns="0" rtlCol="0" anchor="ctr"/>
          <a:lstStyle/>
          <a:p>
            <a:pPr marL="0" indent="0">
              <a:buNone/>
            </a:pPr>
            <a:r>
              <a:rPr lang="en-US" sz="1400" b="1" kern="0" spc="300" dirty="0">
                <a:solidFill>
                  <a:srgbClr val="2563EB"/>
                </a:solidFill>
                <a:latin typeface="Tahoma" pitchFamily="34" charset="0"/>
                <a:ea typeface="Tahoma" pitchFamily="34" charset="-122"/>
                <a:cs typeface="Tahoma" pitchFamily="34" charset="-120"/>
              </a:rPr>
              <a:t>TEAM</a:t>
            </a:r>
            <a:endParaRPr lang="en-US" sz="1400" dirty="0"/>
          </a:p>
        </p:txBody>
      </p:sp>
      <p:sp>
        <p:nvSpPr>
          <p:cNvPr id="11" name="Text 6"/>
          <p:cNvSpPr txBox="1"/>
          <p:nvPr/>
        </p:nvSpPr>
        <p:spPr>
          <a:xfrm>
            <a:off x="868680" y="4069080"/>
            <a:ext cx="2926080" cy="365760"/>
          </a:xfrm>
          <a:prstGeom prst="rect">
            <a:avLst/>
          </a:prstGeom>
          <a:noFill/>
          <a:ln/>
        </p:spPr>
        <p:txBody>
          <a:bodyPr wrap="square" lIns="0" tIns="0" rIns="0" bIns="0" rtlCol="0" anchor="ctr"/>
          <a:lstStyle/>
          <a:p>
            <a:pPr marL="0" indent="0">
              <a:buNone/>
            </a:pPr>
            <a:r>
              <a:rPr lang="en-US" sz="1700" b="1" dirty="0">
                <a:solidFill>
                  <a:srgbClr val="0B1730"/>
                </a:solidFill>
                <a:latin typeface="Tahoma" pitchFamily="34" charset="0"/>
                <a:ea typeface="Tahoma" pitchFamily="34" charset="-122"/>
                <a:cs typeface="Tahoma" pitchFamily="34" charset="-120"/>
              </a:rPr>
              <a:t>Akhilesh A</a:t>
            </a:r>
            <a:endParaRPr lang="en-US" sz="1700" dirty="0"/>
          </a:p>
        </p:txBody>
      </p:sp>
      <p:sp>
        <p:nvSpPr>
          <p:cNvPr id="12" name="Text 7"/>
          <p:cNvSpPr txBox="1"/>
          <p:nvPr/>
        </p:nvSpPr>
        <p:spPr>
          <a:xfrm>
            <a:off x="3657600" y="4069080"/>
            <a:ext cx="2057400" cy="365760"/>
          </a:xfrm>
          <a:prstGeom prst="rect">
            <a:avLst/>
          </a:prstGeom>
          <a:noFill/>
          <a:ln/>
        </p:spPr>
        <p:txBody>
          <a:bodyPr wrap="square" lIns="0" tIns="0" rIns="0" bIns="0" rtlCol="0" anchor="ctr"/>
          <a:lstStyle/>
          <a:p>
            <a:pPr marL="0" indent="0" algn="r">
              <a:buNone/>
            </a:pPr>
            <a:r>
              <a:rPr lang="en-US" sz="1500" dirty="0">
                <a:solidFill>
                  <a:srgbClr val="53627A"/>
                </a:solidFill>
                <a:latin typeface="Tahoma" pitchFamily="34" charset="0"/>
                <a:ea typeface="Tahoma" pitchFamily="34" charset="-122"/>
                <a:cs typeface="Tahoma" pitchFamily="34" charset="-120"/>
              </a:rPr>
              <a:t>241140110</a:t>
            </a:r>
            <a:endParaRPr lang="en-US" sz="1500" dirty="0"/>
          </a:p>
        </p:txBody>
      </p:sp>
      <p:sp>
        <p:nvSpPr>
          <p:cNvPr id="13" name="Text 8"/>
          <p:cNvSpPr txBox="1"/>
          <p:nvPr/>
        </p:nvSpPr>
        <p:spPr>
          <a:xfrm>
            <a:off x="868680" y="4526280"/>
            <a:ext cx="2926080" cy="365760"/>
          </a:xfrm>
          <a:prstGeom prst="rect">
            <a:avLst/>
          </a:prstGeom>
          <a:noFill/>
          <a:ln/>
        </p:spPr>
        <p:txBody>
          <a:bodyPr wrap="square" lIns="0" tIns="0" rIns="0" bIns="0" rtlCol="0" anchor="ctr"/>
          <a:lstStyle/>
          <a:p>
            <a:pPr marL="0" indent="0">
              <a:buNone/>
            </a:pPr>
            <a:r>
              <a:rPr lang="en-US" sz="1700" b="1" dirty="0">
                <a:solidFill>
                  <a:srgbClr val="0B1730"/>
                </a:solidFill>
                <a:latin typeface="Tahoma" pitchFamily="34" charset="0"/>
                <a:ea typeface="Tahoma" pitchFamily="34" charset="-122"/>
                <a:cs typeface="Tahoma" pitchFamily="34" charset="-120"/>
              </a:rPr>
              <a:t>Gokul Sajith</a:t>
            </a:r>
            <a:endParaRPr lang="en-US" sz="1700" dirty="0"/>
          </a:p>
        </p:txBody>
      </p:sp>
      <p:sp>
        <p:nvSpPr>
          <p:cNvPr id="14" name="Text 9"/>
          <p:cNvSpPr txBox="1"/>
          <p:nvPr/>
        </p:nvSpPr>
        <p:spPr>
          <a:xfrm>
            <a:off x="3657600" y="4526280"/>
            <a:ext cx="2057400" cy="365760"/>
          </a:xfrm>
          <a:prstGeom prst="rect">
            <a:avLst/>
          </a:prstGeom>
          <a:noFill/>
          <a:ln/>
        </p:spPr>
        <p:txBody>
          <a:bodyPr wrap="square" lIns="0" tIns="0" rIns="0" bIns="0" rtlCol="0" anchor="ctr"/>
          <a:lstStyle/>
          <a:p>
            <a:pPr marL="0" indent="0" algn="r">
              <a:buNone/>
            </a:pPr>
            <a:r>
              <a:rPr lang="en-US" sz="1500" dirty="0">
                <a:solidFill>
                  <a:srgbClr val="53627A"/>
                </a:solidFill>
                <a:latin typeface="Tahoma" pitchFamily="34" charset="0"/>
                <a:ea typeface="Tahoma" pitchFamily="34" charset="-122"/>
                <a:cs typeface="Tahoma" pitchFamily="34" charset="-120"/>
              </a:rPr>
              <a:t>241140129</a:t>
            </a:r>
            <a:endParaRPr lang="en-US" sz="1500" dirty="0"/>
          </a:p>
        </p:txBody>
      </p:sp>
      <p:sp>
        <p:nvSpPr>
          <p:cNvPr id="15" name="Text 10"/>
          <p:cNvSpPr txBox="1"/>
          <p:nvPr/>
        </p:nvSpPr>
        <p:spPr>
          <a:xfrm>
            <a:off x="868680" y="4983480"/>
            <a:ext cx="2926080" cy="365760"/>
          </a:xfrm>
          <a:prstGeom prst="rect">
            <a:avLst/>
          </a:prstGeom>
          <a:noFill/>
          <a:ln/>
        </p:spPr>
        <p:txBody>
          <a:bodyPr wrap="square" lIns="0" tIns="0" rIns="0" bIns="0" rtlCol="0" anchor="ctr"/>
          <a:lstStyle/>
          <a:p>
            <a:pPr marL="0" indent="0">
              <a:buNone/>
            </a:pPr>
            <a:r>
              <a:rPr lang="en-US" sz="1700" b="1" dirty="0">
                <a:solidFill>
                  <a:srgbClr val="0B1730"/>
                </a:solidFill>
                <a:latin typeface="Tahoma" pitchFamily="34" charset="0"/>
                <a:ea typeface="Tahoma" pitchFamily="34" charset="-122"/>
                <a:cs typeface="Tahoma" pitchFamily="34" charset="-120"/>
              </a:rPr>
              <a:t>Vishnu Vijay</a:t>
            </a:r>
            <a:endParaRPr lang="en-US" sz="1700" dirty="0"/>
          </a:p>
        </p:txBody>
      </p:sp>
      <p:sp>
        <p:nvSpPr>
          <p:cNvPr id="16" name="Text 11"/>
          <p:cNvSpPr txBox="1"/>
          <p:nvPr/>
        </p:nvSpPr>
        <p:spPr>
          <a:xfrm>
            <a:off x="3657600" y="4983480"/>
            <a:ext cx="2057400" cy="365760"/>
          </a:xfrm>
          <a:prstGeom prst="rect">
            <a:avLst/>
          </a:prstGeom>
          <a:noFill/>
          <a:ln/>
        </p:spPr>
        <p:txBody>
          <a:bodyPr wrap="square" lIns="0" tIns="0" rIns="0" bIns="0" rtlCol="0" anchor="ctr"/>
          <a:lstStyle/>
          <a:p>
            <a:pPr marL="0" indent="0" algn="r">
              <a:buNone/>
            </a:pPr>
            <a:r>
              <a:rPr lang="en-US" sz="1500" dirty="0">
                <a:solidFill>
                  <a:srgbClr val="53627A"/>
                </a:solidFill>
                <a:latin typeface="Tahoma" pitchFamily="34" charset="0"/>
                <a:ea typeface="Tahoma" pitchFamily="34" charset="-122"/>
                <a:cs typeface="Tahoma" pitchFamily="34" charset="-120"/>
              </a:rPr>
              <a:t>241140120</a:t>
            </a:r>
            <a:endParaRPr lang="en-US" sz="1500" dirty="0"/>
          </a:p>
        </p:txBody>
      </p:sp>
      <p:sp>
        <p:nvSpPr>
          <p:cNvPr id="17" name="Guide panel"/>
          <p:cNvSpPr/>
          <p:nvPr/>
        </p:nvSpPr>
        <p:spPr>
          <a:xfrm>
            <a:off x="6156655" y="3200400"/>
            <a:ext cx="5486400" cy="2331720"/>
          </a:xfrm>
          <a:prstGeom prst="roundRect">
            <a:avLst>
              <a:gd name="adj" fmla="val 4706"/>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18" name="Icon circle"/>
          <p:cNvSpPr/>
          <p:nvPr/>
        </p:nvSpPr>
        <p:spPr>
          <a:xfrm>
            <a:off x="6430975" y="3401568"/>
            <a:ext cx="457200" cy="457200"/>
          </a:xfrm>
          <a:prstGeom prst="ellipse">
            <a:avLst/>
          </a:prstGeom>
          <a:solidFill>
            <a:srgbClr val="CFF1F7"/>
          </a:solidFill>
          <a:ln w="12700">
            <a:solidFill>
              <a:srgbClr val="CFF1F7"/>
            </a:solidFill>
            <a:prstDash val="solid"/>
          </a:ln>
        </p:spPr>
      </p:sp>
      <p:pic>
        <p:nvPicPr>
          <p:cNvPr id="19" name="Image 2" descr="ChalkboardTeacher icon"/>
          <p:cNvPicPr>
            <a:picLocks noChangeAspect="1"/>
          </p:cNvPicPr>
          <p:nvPr/>
        </p:nvPicPr>
        <p:blipFill>
          <a:blip r:embed="rId5"/>
          <a:stretch>
            <a:fillRect/>
          </a:stretch>
        </p:blipFill>
        <p:spPr>
          <a:xfrm>
            <a:off x="6545275" y="3515868"/>
            <a:ext cx="228600" cy="228600"/>
          </a:xfrm>
          <a:prstGeom prst="rect">
            <a:avLst/>
          </a:prstGeom>
        </p:spPr>
      </p:pic>
      <p:sp>
        <p:nvSpPr>
          <p:cNvPr id="20" name="Text 14"/>
          <p:cNvSpPr txBox="1"/>
          <p:nvPr/>
        </p:nvSpPr>
        <p:spPr>
          <a:xfrm>
            <a:off x="7025335" y="3401568"/>
            <a:ext cx="2743200" cy="457200"/>
          </a:xfrm>
          <a:prstGeom prst="rect">
            <a:avLst/>
          </a:prstGeom>
          <a:noFill/>
          <a:ln/>
        </p:spPr>
        <p:txBody>
          <a:bodyPr wrap="square" lIns="0" tIns="0" rIns="0" bIns="0" rtlCol="0" anchor="ctr"/>
          <a:lstStyle/>
          <a:p>
            <a:pPr marL="0" indent="0">
              <a:buNone/>
            </a:pPr>
            <a:r>
              <a:rPr lang="en-US" sz="1400" b="1" kern="0" spc="300" dirty="0">
                <a:solidFill>
                  <a:srgbClr val="0E7490"/>
                </a:solidFill>
                <a:latin typeface="Tahoma" pitchFamily="34" charset="0"/>
                <a:ea typeface="Tahoma" pitchFamily="34" charset="-122"/>
                <a:cs typeface="Tahoma" pitchFamily="34" charset="-120"/>
              </a:rPr>
              <a:t>GUIDE</a:t>
            </a:r>
            <a:endParaRPr lang="en-US" sz="1400" dirty="0"/>
          </a:p>
        </p:txBody>
      </p:sp>
      <p:sp>
        <p:nvSpPr>
          <p:cNvPr id="21" name="Text 15"/>
          <p:cNvSpPr txBox="1"/>
          <p:nvPr/>
        </p:nvSpPr>
        <p:spPr>
          <a:xfrm>
            <a:off x="6476695" y="4069080"/>
            <a:ext cx="4846320" cy="411480"/>
          </a:xfrm>
          <a:prstGeom prst="rect">
            <a:avLst/>
          </a:prstGeom>
          <a:noFill/>
          <a:ln/>
        </p:spPr>
        <p:txBody>
          <a:bodyPr wrap="square" lIns="0" tIns="0" rIns="0" bIns="0" rtlCol="0" anchor="ctr"/>
          <a:lstStyle/>
          <a:p>
            <a:pPr marL="0" indent="0">
              <a:buNone/>
            </a:pPr>
            <a:r>
              <a:rPr lang="en-US" sz="1900" b="1" dirty="0">
                <a:solidFill>
                  <a:srgbClr val="0B1730"/>
                </a:solidFill>
                <a:latin typeface="Tahoma" pitchFamily="34" charset="0"/>
                <a:ea typeface="Tahoma" pitchFamily="34" charset="-122"/>
                <a:cs typeface="Tahoma" pitchFamily="34" charset="-120"/>
              </a:rPr>
              <a:t>Ms. Kripa Radhakrishnan</a:t>
            </a:r>
            <a:endParaRPr lang="en-US" sz="1900" dirty="0"/>
          </a:p>
        </p:txBody>
      </p:sp>
      <p:sp>
        <p:nvSpPr>
          <p:cNvPr id="22" name="Text 16"/>
          <p:cNvSpPr txBox="1"/>
          <p:nvPr/>
        </p:nvSpPr>
        <p:spPr>
          <a:xfrm>
            <a:off x="6476695" y="4526280"/>
            <a:ext cx="4846320" cy="365760"/>
          </a:xfrm>
          <a:prstGeom prst="rect">
            <a:avLst/>
          </a:prstGeom>
          <a:noFill/>
          <a:ln/>
        </p:spPr>
        <p:txBody>
          <a:bodyPr wrap="square" lIns="0" tIns="0" rIns="0" bIns="0" rtlCol="0" anchor="ctr"/>
          <a:lstStyle/>
          <a:p>
            <a:pPr marL="0" indent="0">
              <a:buNone/>
            </a:pPr>
            <a:r>
              <a:rPr lang="en-US" sz="1400" dirty="0">
                <a:solidFill>
                  <a:srgbClr val="53627A"/>
                </a:solidFill>
                <a:latin typeface="Tahoma" pitchFamily="34" charset="0"/>
                <a:ea typeface="Tahoma" pitchFamily="34" charset="-122"/>
                <a:cs typeface="Tahoma" pitchFamily="34" charset="-120"/>
              </a:rPr>
              <a:t>Assistant Professor - Department of CSE</a:t>
            </a:r>
            <a:endParaRPr lang="en-US" sz="1400" dirty="0"/>
          </a:p>
        </p:txBody>
      </p:sp>
      <p:sp>
        <p:nvSpPr>
          <p:cNvPr id="23" name="GitHub strip"/>
          <p:cNvSpPr/>
          <p:nvPr/>
        </p:nvSpPr>
        <p:spPr>
          <a:xfrm>
            <a:off x="548640" y="5669280"/>
            <a:ext cx="11094415" cy="685800"/>
          </a:xfrm>
          <a:prstGeom prst="roundRect">
            <a:avLst>
              <a:gd name="adj" fmla="val 16000"/>
            </a:avLst>
          </a:prstGeom>
          <a:solidFill>
            <a:srgbClr val="FFFFFF"/>
          </a:solidFill>
          <a:ln w="9525">
            <a:solidFill>
              <a:srgbClr val="D9E3F0"/>
            </a:solidFill>
            <a:prstDash val="solid"/>
          </a:ln>
          <a:effectLst>
            <a:outerShdw blurRad="101600" dist="25400" dir="5400000" algn="bl" rotWithShape="0">
              <a:srgbClr val="1E3A5F">
                <a:alpha val="10000"/>
              </a:srgbClr>
            </a:outerShdw>
          </a:effectLst>
        </p:spPr>
      </p:sp>
      <p:sp>
        <p:nvSpPr>
          <p:cNvPr id="24" name="Icon circle"/>
          <p:cNvSpPr/>
          <p:nvPr/>
        </p:nvSpPr>
        <p:spPr>
          <a:xfrm>
            <a:off x="777240" y="5774436"/>
            <a:ext cx="475488" cy="475488"/>
          </a:xfrm>
          <a:prstGeom prst="ellipse">
            <a:avLst/>
          </a:prstGeom>
          <a:solidFill>
            <a:srgbClr val="DCE8FE"/>
          </a:solidFill>
          <a:ln w="12700">
            <a:solidFill>
              <a:srgbClr val="DCE8FE"/>
            </a:solidFill>
            <a:prstDash val="solid"/>
          </a:ln>
        </p:spPr>
      </p:sp>
      <p:pic>
        <p:nvPicPr>
          <p:cNvPr id="25" name="Image 3" descr="Github icon"/>
          <p:cNvPicPr>
            <a:picLocks noChangeAspect="1"/>
          </p:cNvPicPr>
          <p:nvPr/>
        </p:nvPicPr>
        <p:blipFill>
          <a:blip r:embed="rId6"/>
          <a:stretch>
            <a:fillRect/>
          </a:stretch>
        </p:blipFill>
        <p:spPr>
          <a:xfrm>
            <a:off x="896112" y="5893308"/>
            <a:ext cx="237744" cy="237744"/>
          </a:xfrm>
          <a:prstGeom prst="rect">
            <a:avLst/>
          </a:prstGeom>
        </p:spPr>
      </p:pic>
      <p:sp>
        <p:nvSpPr>
          <p:cNvPr id="26" name="Text 19"/>
          <p:cNvSpPr txBox="1"/>
          <p:nvPr/>
        </p:nvSpPr>
        <p:spPr>
          <a:xfrm>
            <a:off x="1463040" y="5669280"/>
            <a:ext cx="9997135" cy="685800"/>
          </a:xfrm>
          <a:prstGeom prst="rect">
            <a:avLst/>
          </a:prstGeom>
          <a:noFill/>
          <a:ln/>
        </p:spPr>
        <p:txBody>
          <a:bodyPr wrap="square" lIns="0" tIns="0" rIns="0" bIns="0" rtlCol="0" anchor="ctr"/>
          <a:lstStyle/>
          <a:p>
            <a:pPr marL="0" indent="0">
              <a:buNone/>
            </a:pPr>
            <a:r>
              <a:rPr lang="en-US" sz="1600" b="1" dirty="0">
                <a:solidFill>
                  <a:srgbClr val="53627A"/>
                </a:solidFill>
                <a:latin typeface="Tahoma" pitchFamily="34" charset="0"/>
                <a:ea typeface="Tahoma" pitchFamily="34" charset="-122"/>
                <a:cs typeface="Tahoma" pitchFamily="34" charset="-120"/>
              </a:rPr>
              <a:t>GitHub:  </a:t>
            </a:r>
            <a:r>
              <a:rPr lang="en-US" sz="1600" b="1" dirty="0">
                <a:solidFill>
                  <a:srgbClr val="2563EB"/>
                </a:solidFill>
                <a:latin typeface="Tahoma" pitchFamily="34" charset="0"/>
                <a:ea typeface="Tahoma" pitchFamily="34" charset="-122"/>
                <a:cs typeface="Tahoma" pitchFamily="34" charset="-120"/>
                <a:hlinkClick r:id="rId7" action="ppaction://hlinkfile"/>
              </a:rPr>
              <a:t>github.com/vvj-kanz10/expense-tracker</a:t>
            </a:r>
            <a:endParaRPr lang="en-US" sz="1600" dirty="0"/>
          </a:p>
        </p:txBody>
      </p:sp>
      <p:sp>
        <p:nvSpPr>
          <p:cNvPr id="2" name="Slide Number Placeholder 0"/>
          <p:cNvSpPr>
            <a:spLocks noGrp="1"/>
          </p:cNvSpPr>
          <p:nvPr>
            <p:ph type="sldNum" sz="quarter" idx="4294967295"/>
          </p:nvPr>
        </p:nvSpPr>
        <p:spPr>
          <a:xfrm>
            <a:off x="10725912" y="384048"/>
            <a:ext cx="914400" cy="365760"/>
          </a:xfrm>
          <a:prstGeom prst="rect">
            <a:avLst/>
          </a:prstGeom>
          <a:extLst>
            <a:ext uri="{C572A759-6A51-4108-AA02-DFA0A04FC94B}">
              <ma14:wrappingTextBoxFlag xmlns="" xmlns:ma14="http://schemas.microsoft.com/office/mac/drawingml/2011/main" val="0"/>
            </a:ext>
          </a:extLst>
        </p:spPr>
        <p:txBody>
          <a:bodyPr/>
          <a:lstStyle>
            <a:lvl1pPr>
              <a:defRPr sz="1600">
                <a:solidFill>
                  <a:srgbClr val="53627A"/>
                </a:solidFill>
                <a:latin typeface="Tahoma"/>
                <a:ea typeface="Tahoma"/>
                <a:cs typeface="Tahoma"/>
              </a:defRPr>
            </a:lvl1pPr>
          </a:lstStyle>
          <a:p>
            <a:pPr algn="r"/>
            <a:fld id="{F7021451-1387-4CA6-816F-3879F97B5CBC}" type="slidenum">
              <a:rPr lang="en-US" b="1"/>
              <a:t>14</a:t>
            </a:fld>
            <a:endParaRPr lang="en-US"/>
          </a:p>
        </p:txBody>
      </p:sp>
    </p:spTree>
  </p:cSld>
  <p:clrMapOvr>
    <a:masterClrMapping/>
  </p:clrMapOvr>
</p:sld>
</file>

<file path=ppt/theme/theme1.xml><?xml version="1.0" encoding="utf-8"?>
<a:theme xmlns:a="http://schemas.openxmlformats.org/drawingml/2006/main" name="MoneyTrack Light">
  <a:themeElements>
    <a:clrScheme name="MoneyTrack Light">
      <a:dk1>
        <a:srgbClr val="0B1730"/>
      </a:dk1>
      <a:lt1>
        <a:srgbClr val="FFFFFF"/>
      </a:lt1>
      <a:dk2>
        <a:srgbClr val="53627A"/>
      </a:dk2>
      <a:lt2>
        <a:srgbClr val="F3F7FC"/>
      </a:lt2>
      <a:accent1>
        <a:srgbClr val="0E7490"/>
      </a:accent1>
      <a:accent2>
        <a:srgbClr val="2563EB"/>
      </a:accent2>
      <a:accent3>
        <a:srgbClr val="12B886"/>
      </a:accent3>
      <a:accent4>
        <a:srgbClr val="C2365A"/>
      </a:accent4>
      <a:accent5>
        <a:srgbClr val="B45309"/>
      </a:accent5>
      <a:accent6>
        <a:srgbClr val="7C3AED"/>
      </a:accent6>
      <a:hlink>
        <a:srgbClr val="2563EB"/>
      </a:hlink>
      <a:folHlink>
        <a:srgbClr val="7C3AED"/>
      </a:folHlink>
    </a:clrScheme>
    <a:fontScheme name="MoneyTrack Light">
      <a:majorFont>
        <a:latin typeface="Tahom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ahoma"/>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108</TotalTime>
  <Words>3099</Words>
  <Application>Microsoft Office PowerPoint</Application>
  <PresentationFormat>Widescreen</PresentationFormat>
  <Paragraphs>384</Paragraphs>
  <Slides>14</Slides>
  <Notes>14</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Arial</vt:lpstr>
      <vt:lpstr>Tahoma</vt:lpstr>
      <vt:lpstr>MoneyTrack Light</vt:lpstr>
      <vt:lpstr>PowerPoint Presentation</vt:lpstr>
      <vt:lpstr>Abstract, Purpose and Objectives</vt:lpstr>
      <vt:lpstr>Existing Tools and Their Gaps</vt:lpstr>
      <vt:lpstr>How We Are Different</vt:lpstr>
      <vt:lpstr>System Architecture</vt:lpstr>
      <vt:lpstr>How It Works, Start to Finish</vt:lpstr>
      <vt:lpstr>Techniques We Used</vt:lpstr>
      <vt:lpstr>Dashboard and Analytics</vt:lpstr>
      <vt:lpstr>AI Features</vt:lpstr>
      <vt:lpstr>Money Planning Tools</vt:lpstr>
      <vt:lpstr>Privacy and Security</vt:lpstr>
      <vt:lpstr>Technology and How We Built It</vt:lpstr>
      <vt:lpstr>Outcomes, Future Work and References</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MoneyTrack AI - Final Review</dc:title>
  <dc:subject>PptxGenJS Presentation</dc:subject>
  <dc:creator>Akhilesh A, Gokul Sajith, Vishnu Vijay</dc:creator>
  <cp:lastModifiedBy>Vishnu Vijay</cp:lastModifiedBy>
  <cp:revision>10</cp:revision>
  <dcterms:created xsi:type="dcterms:W3CDTF">2026-10-19T08:26:42Z</dcterms:created>
  <dcterms:modified xsi:type="dcterms:W3CDTF">2026-10-25T08:25:47Z</dcterms:modified>
</cp:coreProperties>
</file>